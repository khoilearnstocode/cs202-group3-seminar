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8288000" cy="10287000"/>
  <p:notesSz cx="6858000" cy="9144000"/>
  <p:embeddedFontLst>
    <p:embeddedFont>
      <p:font typeface="Aileron Bold" panose="020B0604020202020204" charset="0"/>
      <p:regular r:id="rId39"/>
    </p:embeddedFont>
    <p:embeddedFont>
      <p:font typeface="Aileron Ultra-Bold" panose="020B0604020202020204" charset="0"/>
      <p:regular r:id="rId40"/>
    </p:embeddedFont>
    <p:embeddedFont>
      <p:font typeface="Akzidenz-Grotesk" panose="020B0604020202020204" charset="0"/>
      <p:regular r:id="rId41"/>
    </p:embeddedFont>
    <p:embeddedFont>
      <p:font typeface="Akzidenz-Grotesk Bold" panose="020B0604020202020204" charset="0"/>
      <p:regular r:id="rId42"/>
    </p:embeddedFont>
    <p:embeddedFont>
      <p:font typeface="Akzidenz-Grotesk Heavy" panose="020B0604020202020204" charset="0"/>
      <p:regular r:id="rId43"/>
    </p:embeddedFont>
    <p:embeddedFont>
      <p:font typeface="Almarai Bold" panose="020B0604020202020204" charset="-78"/>
      <p:regular r:id="rId44"/>
    </p:embeddedFont>
    <p:embeddedFont>
      <p:font typeface="Barlow Condensed Heavy" panose="020B0604020202020204" charset="0"/>
      <p:regular r:id="rId45"/>
    </p:embeddedFont>
    <p:embeddedFont>
      <p:font typeface="Canva Sans" panose="020B0604020202020204" charset="0"/>
      <p:regular r:id="rId46"/>
    </p:embeddedFont>
    <p:embeddedFont>
      <p:font typeface="Montserrat Italics" panose="020B0604020202020204" charset="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DD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8" d="100"/>
          <a:sy n="48" d="100"/>
        </p:scale>
        <p:origin x="2002"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svg"/><Relationship Id="rId7" Type="http://schemas.openxmlformats.org/officeDocument/2006/relationships/image" Target="../media/image13.svg"/><Relationship Id="rId12"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5.png"/><Relationship Id="rId5" Type="http://schemas.openxmlformats.org/officeDocument/2006/relationships/image" Target="../media/image11.svg"/><Relationship Id="rId10" Type="http://schemas.openxmlformats.org/officeDocument/2006/relationships/image" Target="../media/image14.png"/><Relationship Id="rId4" Type="http://schemas.openxmlformats.org/officeDocument/2006/relationships/image" Target="../media/image10.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7.png"/><Relationship Id="rId3" Type="http://schemas.openxmlformats.org/officeDocument/2006/relationships/image" Target="../media/image5.svg"/><Relationship Id="rId7" Type="http://schemas.openxmlformats.org/officeDocument/2006/relationships/image" Target="../media/image12.png"/><Relationship Id="rId12"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image" Target="../media/image14.png"/><Relationship Id="rId5" Type="http://schemas.openxmlformats.org/officeDocument/2006/relationships/image" Target="../media/image10.png"/><Relationship Id="rId10" Type="http://schemas.openxmlformats.org/officeDocument/2006/relationships/image" Target="../media/image9.svg"/><Relationship Id="rId4" Type="http://schemas.openxmlformats.org/officeDocument/2006/relationships/image" Target="../media/image16.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9.svg"/><Relationship Id="rId7" Type="http://schemas.openxmlformats.org/officeDocument/2006/relationships/image" Target="../media/image19.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8.jpe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9.jpeg"/><Relationship Id="rId7" Type="http://schemas.openxmlformats.org/officeDocument/2006/relationships/image" Target="../media/image4.png"/><Relationship Id="rId2" Type="http://schemas.openxmlformats.org/officeDocument/2006/relationships/image" Target="../media/image28.jpeg"/><Relationship Id="rId1" Type="http://schemas.openxmlformats.org/officeDocument/2006/relationships/slideLayout" Target="../slideLayouts/slideLayout7.xml"/><Relationship Id="rId6" Type="http://schemas.openxmlformats.org/officeDocument/2006/relationships/image" Target="../media/image3.svg"/><Relationship Id="rId11" Type="http://schemas.openxmlformats.org/officeDocument/2006/relationships/image" Target="../media/image33.png"/><Relationship Id="rId5" Type="http://schemas.openxmlformats.org/officeDocument/2006/relationships/image" Target="../media/image2.png"/><Relationship Id="rId10" Type="http://schemas.openxmlformats.org/officeDocument/2006/relationships/image" Target="../media/image32.png"/><Relationship Id="rId4" Type="http://schemas.openxmlformats.org/officeDocument/2006/relationships/image" Target="../media/image30.jpe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sv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7.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svg"/><Relationship Id="rId4" Type="http://schemas.openxmlformats.org/officeDocument/2006/relationships/image" Target="../media/image44.png"/></Relationships>
</file>

<file path=ppt/slides/_rels/slide15.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5.svg"/><Relationship Id="rId4" Type="http://schemas.openxmlformats.org/officeDocument/2006/relationships/image" Target="../media/image44.png"/></Relationships>
</file>

<file path=ppt/slides/_rels/slide16.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51.jpeg"/><Relationship Id="rId5" Type="http://schemas.openxmlformats.org/officeDocument/2006/relationships/image" Target="../media/image38.png"/><Relationship Id="rId4" Type="http://schemas.openxmlformats.org/officeDocument/2006/relationships/image" Target="../media/image50.jpeg"/></Relationships>
</file>

<file path=ppt/slides/_rels/slide1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8.png"/><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53.png"/></Relationships>
</file>

<file path=ppt/slides/_rels/slide1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4" Type="http://schemas.openxmlformats.org/officeDocument/2006/relationships/image" Target="../media/image64.png"/></Relationships>
</file>

<file path=ppt/slides/_rels/slide2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hyperlink" Target="https://refactoring.guru/design-patterns/iterator" TargetMode="External"/><Relationship Id="rId2" Type="http://schemas.openxmlformats.org/officeDocument/2006/relationships/hyperlink" Target="https://github.com/khoiLearnsToCode/CS202-Group3-Seminar.git" TargetMode="External"/><Relationship Id="rId1" Type="http://schemas.openxmlformats.org/officeDocument/2006/relationships/slideLayout" Target="../slideLayouts/slideLayout7.xml"/><Relationship Id="rId4" Type="http://schemas.openxmlformats.org/officeDocument/2006/relationships/hyperlink" Target="https://refactoring.guru/design-patterns/iterator/cpp/exampl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DDDF">
                <a:alpha val="0"/>
              </a:srgbClr>
            </a:gs>
            <a:gs pos="100000">
              <a:srgbClr val="8BE7E8">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1098615" y="3307946"/>
            <a:ext cx="11071218" cy="5950354"/>
            <a:chOff x="-1270" y="0"/>
            <a:chExt cx="5373370" cy="2887980"/>
          </a:xfrm>
        </p:grpSpPr>
        <p:sp>
          <p:nvSpPr>
            <p:cNvPr id="3" name="Freeform 3"/>
            <p:cNvSpPr/>
            <p:nvPr/>
          </p:nvSpPr>
          <p:spPr>
            <a:xfrm>
              <a:off x="0" y="0"/>
              <a:ext cx="5373370" cy="2887980"/>
            </a:xfrm>
            <a:custGeom>
              <a:avLst/>
              <a:gdLst/>
              <a:ahLst/>
              <a:cxnLst/>
              <a:rect l="l" t="t" r="r" b="b"/>
              <a:pathLst>
                <a:path w="5373370" h="2887980">
                  <a:moveTo>
                    <a:pt x="5373370" y="621030"/>
                  </a:moveTo>
                  <a:cubicBezTo>
                    <a:pt x="5373370" y="963930"/>
                    <a:pt x="5095240" y="1242060"/>
                    <a:pt x="4752340" y="1242060"/>
                  </a:cubicBezTo>
                  <a:lnTo>
                    <a:pt x="3628390" y="1242060"/>
                  </a:lnTo>
                  <a:cubicBezTo>
                    <a:pt x="3602990" y="1242060"/>
                    <a:pt x="3582670" y="1263650"/>
                    <a:pt x="3582670" y="1289050"/>
                  </a:cubicBezTo>
                  <a:cubicBezTo>
                    <a:pt x="3582670" y="1380490"/>
                    <a:pt x="3562350" y="1466850"/>
                    <a:pt x="3528060" y="1545590"/>
                  </a:cubicBezTo>
                  <a:cubicBezTo>
                    <a:pt x="3506470" y="1592580"/>
                    <a:pt x="3540760" y="1645920"/>
                    <a:pt x="3592830" y="1645920"/>
                  </a:cubicBezTo>
                  <a:cubicBezTo>
                    <a:pt x="3935730" y="1645920"/>
                    <a:pt x="4213860" y="1924050"/>
                    <a:pt x="4213860" y="2266950"/>
                  </a:cubicBezTo>
                  <a:cubicBezTo>
                    <a:pt x="4213860" y="2609850"/>
                    <a:pt x="3935730" y="2887980"/>
                    <a:pt x="3592830" y="2887980"/>
                  </a:cubicBezTo>
                  <a:lnTo>
                    <a:pt x="1252220" y="2887980"/>
                  </a:lnTo>
                  <a:cubicBezTo>
                    <a:pt x="909320" y="2887980"/>
                    <a:pt x="631190" y="2609850"/>
                    <a:pt x="631190" y="2266950"/>
                  </a:cubicBezTo>
                  <a:cubicBezTo>
                    <a:pt x="631190" y="2175510"/>
                    <a:pt x="651510" y="2089150"/>
                    <a:pt x="685800" y="2010410"/>
                  </a:cubicBezTo>
                  <a:cubicBezTo>
                    <a:pt x="707390" y="1963420"/>
                    <a:pt x="673100" y="1910080"/>
                    <a:pt x="621030" y="1910080"/>
                  </a:cubicBezTo>
                  <a:cubicBezTo>
                    <a:pt x="278130" y="1910080"/>
                    <a:pt x="0" y="1631950"/>
                    <a:pt x="0" y="1289050"/>
                  </a:cubicBezTo>
                  <a:cubicBezTo>
                    <a:pt x="0" y="946150"/>
                    <a:pt x="278130" y="668020"/>
                    <a:pt x="621030" y="668020"/>
                  </a:cubicBezTo>
                  <a:lnTo>
                    <a:pt x="1744980" y="668020"/>
                  </a:lnTo>
                  <a:cubicBezTo>
                    <a:pt x="1770380" y="668020"/>
                    <a:pt x="1790700" y="647700"/>
                    <a:pt x="1790700" y="622300"/>
                  </a:cubicBezTo>
                  <a:lnTo>
                    <a:pt x="1790700" y="621030"/>
                  </a:lnTo>
                  <a:cubicBezTo>
                    <a:pt x="1790700" y="278130"/>
                    <a:pt x="2068830" y="0"/>
                    <a:pt x="2411730" y="0"/>
                  </a:cubicBezTo>
                  <a:lnTo>
                    <a:pt x="4751070" y="0"/>
                  </a:lnTo>
                  <a:cubicBezTo>
                    <a:pt x="5095240" y="0"/>
                    <a:pt x="5373370" y="278130"/>
                    <a:pt x="5373370" y="621030"/>
                  </a:cubicBezTo>
                  <a:close/>
                </a:path>
              </a:pathLst>
            </a:custGeom>
            <a:blipFill>
              <a:blip r:embed="rId2"/>
              <a:stretch>
                <a:fillRect t="-8143" b="-8143"/>
              </a:stretch>
            </a:blipFill>
          </p:spPr>
          <p:txBody>
            <a:bodyPr/>
            <a:lstStyle/>
            <a:p>
              <a:endParaRPr lang="en-US"/>
            </a:p>
          </p:txBody>
        </p:sp>
      </p:grpSp>
      <p:grpSp>
        <p:nvGrpSpPr>
          <p:cNvPr id="4" name="Group 4"/>
          <p:cNvGrpSpPr/>
          <p:nvPr/>
        </p:nvGrpSpPr>
        <p:grpSpPr>
          <a:xfrm>
            <a:off x="-1136521" y="3307946"/>
            <a:ext cx="2594369" cy="4588246"/>
            <a:chOff x="0" y="0"/>
            <a:chExt cx="683291" cy="1208427"/>
          </a:xfrm>
        </p:grpSpPr>
        <p:sp>
          <p:nvSpPr>
            <p:cNvPr id="5" name="Freeform 5"/>
            <p:cNvSpPr/>
            <p:nvPr/>
          </p:nvSpPr>
          <p:spPr>
            <a:xfrm>
              <a:off x="0" y="0"/>
              <a:ext cx="683291" cy="1208427"/>
            </a:xfrm>
            <a:custGeom>
              <a:avLst/>
              <a:gdLst/>
              <a:ahLst/>
              <a:cxnLst/>
              <a:rect l="l" t="t" r="r" b="b"/>
              <a:pathLst>
                <a:path w="683291" h="1208427">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txBody>
            <a:bodyPr/>
            <a:lstStyle/>
            <a:p>
              <a:endParaRPr lang="en-US"/>
            </a:p>
          </p:txBody>
        </p:sp>
        <p:sp>
          <p:nvSpPr>
            <p:cNvPr id="6" name="TextBox 6"/>
            <p:cNvSpPr txBox="1"/>
            <p:nvPr/>
          </p:nvSpPr>
          <p:spPr>
            <a:xfrm>
              <a:off x="0" y="-47625"/>
              <a:ext cx="683291" cy="1256052"/>
            </a:xfrm>
            <a:prstGeom prst="rect">
              <a:avLst/>
            </a:prstGeom>
          </p:spPr>
          <p:txBody>
            <a:bodyPr lIns="50800" tIns="50800" rIns="50800" bIns="50800" rtlCol="0" anchor="ctr"/>
            <a:lstStyle/>
            <a:p>
              <a:pPr algn="ctr">
                <a:lnSpc>
                  <a:spcPts val="2800"/>
                </a:lnSpc>
              </a:pPr>
              <a:endParaRPr/>
            </a:p>
          </p:txBody>
        </p:sp>
      </p:grpSp>
      <p:sp>
        <p:nvSpPr>
          <p:cNvPr id="7" name="Freeform 7"/>
          <p:cNvSpPr/>
          <p:nvPr/>
        </p:nvSpPr>
        <p:spPr>
          <a:xfrm>
            <a:off x="1028700" y="-252231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a:off x="11958605" y="3307946"/>
            <a:ext cx="1025128" cy="1025128"/>
          </a:xfrm>
          <a:custGeom>
            <a:avLst/>
            <a:gdLst/>
            <a:ahLst/>
            <a:cxnLst/>
            <a:rect l="l" t="t" r="r" b="b"/>
            <a:pathLst>
              <a:path w="1025128" h="1025128">
                <a:moveTo>
                  <a:pt x="0" y="0"/>
                </a:moveTo>
                <a:lnTo>
                  <a:pt x="1025127" y="0"/>
                </a:lnTo>
                <a:lnTo>
                  <a:pt x="1025127" y="1025127"/>
                </a:lnTo>
                <a:lnTo>
                  <a:pt x="0" y="102512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Freeform 9"/>
          <p:cNvSpPr/>
          <p:nvPr/>
        </p:nvSpPr>
        <p:spPr>
          <a:xfrm>
            <a:off x="7843805" y="824861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12769424" y="2436835"/>
            <a:ext cx="806841" cy="564789"/>
          </a:xfrm>
          <a:custGeom>
            <a:avLst/>
            <a:gdLst/>
            <a:ahLst/>
            <a:cxnLst/>
            <a:rect l="l" t="t" r="r" b="b"/>
            <a:pathLst>
              <a:path w="806841" h="564789">
                <a:moveTo>
                  <a:pt x="0" y="0"/>
                </a:moveTo>
                <a:lnTo>
                  <a:pt x="806840" y="0"/>
                </a:lnTo>
                <a:lnTo>
                  <a:pt x="806840" y="564788"/>
                </a:lnTo>
                <a:lnTo>
                  <a:pt x="0" y="56478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1" name="Freeform 11"/>
          <p:cNvSpPr/>
          <p:nvPr/>
        </p:nvSpPr>
        <p:spPr>
          <a:xfrm>
            <a:off x="2412807" y="8799767"/>
            <a:ext cx="1483489" cy="458533"/>
          </a:xfrm>
          <a:custGeom>
            <a:avLst/>
            <a:gdLst/>
            <a:ahLst/>
            <a:cxnLst/>
            <a:rect l="l" t="t" r="r" b="b"/>
            <a:pathLst>
              <a:path w="1483489" h="458533">
                <a:moveTo>
                  <a:pt x="0" y="0"/>
                </a:moveTo>
                <a:lnTo>
                  <a:pt x="1483489" y="0"/>
                </a:lnTo>
                <a:lnTo>
                  <a:pt x="1483489" y="458533"/>
                </a:lnTo>
                <a:lnTo>
                  <a:pt x="0" y="45853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2" name="TextBox 12"/>
          <p:cNvSpPr txBox="1"/>
          <p:nvPr/>
        </p:nvSpPr>
        <p:spPr>
          <a:xfrm>
            <a:off x="2412807" y="3028963"/>
            <a:ext cx="9911225" cy="1663551"/>
          </a:xfrm>
          <a:prstGeom prst="rect">
            <a:avLst/>
          </a:prstGeom>
        </p:spPr>
        <p:txBody>
          <a:bodyPr lIns="0" tIns="0" rIns="0" bIns="0" rtlCol="0" anchor="t">
            <a:spAutoFit/>
          </a:bodyPr>
          <a:lstStyle/>
          <a:p>
            <a:pPr algn="l">
              <a:lnSpc>
                <a:spcPts val="12564"/>
              </a:lnSpc>
            </a:pPr>
            <a:r>
              <a:rPr lang="en-US" sz="12198" b="1">
                <a:solidFill>
                  <a:srgbClr val="0E2F5F"/>
                </a:solidFill>
                <a:latin typeface="Barlow Condensed Heavy"/>
                <a:ea typeface="Barlow Condensed Heavy"/>
                <a:cs typeface="Barlow Condensed Heavy"/>
                <a:sym typeface="Barlow Condensed Heavy"/>
              </a:rPr>
              <a:t>DESIGN PATTERN</a:t>
            </a:r>
          </a:p>
          <a:p>
            <a:pPr algn="l">
              <a:lnSpc>
                <a:spcPts val="12564"/>
              </a:lnSpc>
            </a:pPr>
            <a:r>
              <a:rPr lang="en-US" sz="12198" b="1">
                <a:solidFill>
                  <a:srgbClr val="0E2F5F"/>
                </a:solidFill>
                <a:latin typeface="Barlow Condensed Heavy"/>
                <a:ea typeface="Barlow Condensed Heavy"/>
                <a:cs typeface="Barlow Condensed Heavy"/>
                <a:sym typeface="Barlow Condensed Heavy"/>
              </a:rPr>
              <a:t>ITERATOR</a:t>
            </a:r>
          </a:p>
        </p:txBody>
      </p:sp>
      <p:sp>
        <p:nvSpPr>
          <p:cNvPr id="13" name="TextBox 13"/>
          <p:cNvSpPr txBox="1"/>
          <p:nvPr/>
        </p:nvSpPr>
        <p:spPr>
          <a:xfrm>
            <a:off x="2412807" y="6504405"/>
            <a:ext cx="7999534" cy="742315"/>
          </a:xfrm>
          <a:prstGeom prst="rect">
            <a:avLst/>
          </a:prstGeom>
        </p:spPr>
        <p:txBody>
          <a:bodyPr lIns="0" tIns="0" rIns="0" bIns="0" rtlCol="0" anchor="t">
            <a:spAutoFit/>
          </a:bodyPr>
          <a:lstStyle/>
          <a:p>
            <a:pPr algn="l">
              <a:lnSpc>
                <a:spcPts val="5240"/>
              </a:lnSpc>
            </a:pPr>
            <a:r>
              <a:rPr lang="en-US" sz="4000" b="1">
                <a:solidFill>
                  <a:srgbClr val="021828"/>
                </a:solidFill>
                <a:latin typeface="Akzidenz-Grotesk Heavy"/>
                <a:ea typeface="Akzidenz-Grotesk Heavy"/>
                <a:cs typeface="Akzidenz-Grotesk Heavy"/>
                <a:sym typeface="Akzidenz-Grotesk Heavy"/>
              </a:rPr>
              <a:t>24A02 - Group 11 - 3rd pattern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DDDF">
                <a:alpha val="0"/>
              </a:srgbClr>
            </a:gs>
            <a:gs pos="100000">
              <a:srgbClr val="8BE7E8">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4764367" y="7339585"/>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028700" y="4392170"/>
            <a:ext cx="5650143" cy="5894830"/>
            <a:chOff x="0" y="0"/>
            <a:chExt cx="1488104" cy="1552548"/>
          </a:xfrm>
        </p:grpSpPr>
        <p:sp>
          <p:nvSpPr>
            <p:cNvPr id="4" name="Freeform 4"/>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txBody>
            <a:bodyPr/>
            <a:lstStyle/>
            <a:p>
              <a:endParaRPr lang="en-US"/>
            </a:p>
          </p:txBody>
        </p:sp>
        <p:sp>
          <p:nvSpPr>
            <p:cNvPr id="5" name="TextBox 5"/>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5443116" y="1293604"/>
            <a:ext cx="1858734" cy="1858734"/>
            <a:chOff x="0" y="0"/>
            <a:chExt cx="2478312" cy="2478312"/>
          </a:xfrm>
        </p:grpSpPr>
        <p:grpSp>
          <p:nvGrpSpPr>
            <p:cNvPr id="7" name="Group 7"/>
            <p:cNvGrpSpPr/>
            <p:nvPr/>
          </p:nvGrpSpPr>
          <p:grpSpPr>
            <a:xfrm>
              <a:off x="0" y="0"/>
              <a:ext cx="2478312" cy="2478312"/>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txBody>
              <a:bodyPr/>
              <a:lstStyle/>
              <a:p>
                <a:endParaRPr lang="en-US"/>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0" name="Freeform 10"/>
            <p:cNvSpPr/>
            <p:nvPr/>
          </p:nvSpPr>
          <p:spPr>
            <a:xfrm>
              <a:off x="839131" y="641105"/>
              <a:ext cx="800051" cy="1196102"/>
            </a:xfrm>
            <a:custGeom>
              <a:avLst/>
              <a:gdLst/>
              <a:ahLst/>
              <a:cxnLst/>
              <a:rect l="l" t="t" r="r" b="b"/>
              <a:pathLst>
                <a:path w="800051" h="1196102">
                  <a:moveTo>
                    <a:pt x="0" y="0"/>
                  </a:moveTo>
                  <a:lnTo>
                    <a:pt x="800051" y="0"/>
                  </a:lnTo>
                  <a:lnTo>
                    <a:pt x="800051" y="1196102"/>
                  </a:lnTo>
                  <a:lnTo>
                    <a:pt x="0" y="11961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11" name="Freeform 11"/>
          <p:cNvSpPr/>
          <p:nvPr/>
        </p:nvSpPr>
        <p:spPr>
          <a:xfrm>
            <a:off x="7556735" y="8651488"/>
            <a:ext cx="2763919" cy="882511"/>
          </a:xfrm>
          <a:custGeom>
            <a:avLst/>
            <a:gdLst/>
            <a:ahLst/>
            <a:cxnLst/>
            <a:rect l="l" t="t" r="r" b="b"/>
            <a:pathLst>
              <a:path w="2763919" h="882511">
                <a:moveTo>
                  <a:pt x="0" y="0"/>
                </a:moveTo>
                <a:lnTo>
                  <a:pt x="2763918" y="0"/>
                </a:lnTo>
                <a:lnTo>
                  <a:pt x="2763918" y="882511"/>
                </a:lnTo>
                <a:lnTo>
                  <a:pt x="0" y="88251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2" name="Freeform 12"/>
          <p:cNvSpPr/>
          <p:nvPr/>
        </p:nvSpPr>
        <p:spPr>
          <a:xfrm>
            <a:off x="10731524" y="8863477"/>
            <a:ext cx="1483489" cy="458533"/>
          </a:xfrm>
          <a:custGeom>
            <a:avLst/>
            <a:gdLst/>
            <a:ahLst/>
            <a:cxnLst/>
            <a:rect l="l" t="t" r="r" b="b"/>
            <a:pathLst>
              <a:path w="1483489" h="458533">
                <a:moveTo>
                  <a:pt x="0" y="0"/>
                </a:moveTo>
                <a:lnTo>
                  <a:pt x="1483490" y="0"/>
                </a:lnTo>
                <a:lnTo>
                  <a:pt x="1483490" y="458533"/>
                </a:lnTo>
                <a:lnTo>
                  <a:pt x="0" y="4585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3" name="Freeform 13"/>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p:cNvSpPr/>
          <p:nvPr/>
        </p:nvSpPr>
        <p:spPr>
          <a:xfrm rot="-1711585">
            <a:off x="15160281" y="1751432"/>
            <a:ext cx="2367168" cy="2367168"/>
          </a:xfrm>
          <a:custGeom>
            <a:avLst/>
            <a:gdLst/>
            <a:ahLst/>
            <a:cxnLst/>
            <a:rect l="l" t="t" r="r" b="b"/>
            <a:pathLst>
              <a:path w="2367168" h="2367168">
                <a:moveTo>
                  <a:pt x="0" y="0"/>
                </a:moveTo>
                <a:lnTo>
                  <a:pt x="2367167" y="0"/>
                </a:lnTo>
                <a:lnTo>
                  <a:pt x="2367167" y="2367168"/>
                </a:lnTo>
                <a:lnTo>
                  <a:pt x="0" y="2367168"/>
                </a:lnTo>
                <a:lnTo>
                  <a:pt x="0" y="0"/>
                </a:lnTo>
                <a:close/>
              </a:path>
            </a:pathLst>
          </a:custGeom>
          <a:blipFill>
            <a:blip r:embed="rId10"/>
            <a:stretch>
              <a:fillRect/>
            </a:stretch>
          </a:blipFill>
        </p:spPr>
        <p:txBody>
          <a:bodyPr/>
          <a:lstStyle/>
          <a:p>
            <a:endParaRPr lang="en-US"/>
          </a:p>
        </p:txBody>
      </p:sp>
      <p:sp>
        <p:nvSpPr>
          <p:cNvPr id="15" name="Freeform 15"/>
          <p:cNvSpPr/>
          <p:nvPr/>
        </p:nvSpPr>
        <p:spPr>
          <a:xfrm rot="1542516">
            <a:off x="11916476" y="8210228"/>
            <a:ext cx="2647541" cy="2647541"/>
          </a:xfrm>
          <a:custGeom>
            <a:avLst/>
            <a:gdLst/>
            <a:ahLst/>
            <a:cxnLst/>
            <a:rect l="l" t="t" r="r" b="b"/>
            <a:pathLst>
              <a:path w="2647541" h="2647541">
                <a:moveTo>
                  <a:pt x="0" y="0"/>
                </a:moveTo>
                <a:lnTo>
                  <a:pt x="2647540" y="0"/>
                </a:lnTo>
                <a:lnTo>
                  <a:pt x="2647540" y="2647541"/>
                </a:lnTo>
                <a:lnTo>
                  <a:pt x="0" y="2647541"/>
                </a:lnTo>
                <a:lnTo>
                  <a:pt x="0" y="0"/>
                </a:lnTo>
                <a:close/>
              </a:path>
            </a:pathLst>
          </a:custGeom>
          <a:blipFill>
            <a:blip r:embed="rId11"/>
            <a:stretch>
              <a:fillRect/>
            </a:stretch>
          </a:blipFill>
        </p:spPr>
        <p:txBody>
          <a:bodyPr/>
          <a:lstStyle/>
          <a:p>
            <a:endParaRPr lang="en-US"/>
          </a:p>
        </p:txBody>
      </p:sp>
      <p:sp>
        <p:nvSpPr>
          <p:cNvPr id="16" name="TextBox 16"/>
          <p:cNvSpPr txBox="1"/>
          <p:nvPr/>
        </p:nvSpPr>
        <p:spPr>
          <a:xfrm>
            <a:off x="7558327" y="4335020"/>
            <a:ext cx="7829884" cy="3948429"/>
          </a:xfrm>
          <a:prstGeom prst="rect">
            <a:avLst/>
          </a:prstGeom>
        </p:spPr>
        <p:txBody>
          <a:bodyPr lIns="0" tIns="0" rIns="0" bIns="0" rtlCol="0" anchor="t">
            <a:spAutoFit/>
          </a:bodyPr>
          <a:lstStyle/>
          <a:p>
            <a:pPr algn="just">
              <a:lnSpc>
                <a:spcPts val="3920"/>
              </a:lnSpc>
            </a:pPr>
            <a:r>
              <a:rPr lang="en-US" sz="2800" b="1">
                <a:solidFill>
                  <a:srgbClr val="021828"/>
                </a:solidFill>
                <a:latin typeface="Aileron Bold"/>
                <a:ea typeface="Aileron Bold"/>
                <a:cs typeface="Aileron Bold"/>
                <a:sym typeface="Aileron Bold"/>
              </a:rPr>
              <a:t>Imagine you have a collection of your favorite songs (around 1000 songs). </a:t>
            </a:r>
          </a:p>
          <a:p>
            <a:pPr algn="just">
              <a:lnSpc>
                <a:spcPts val="3920"/>
              </a:lnSpc>
            </a:pPr>
            <a:r>
              <a:rPr lang="en-US" sz="2800" b="1">
                <a:solidFill>
                  <a:srgbClr val="021828"/>
                </a:solidFill>
                <a:latin typeface="Aileron Bold"/>
                <a:ea typeface="Aileron Bold"/>
                <a:cs typeface="Aileron Bold"/>
                <a:sym typeface="Aileron Bold"/>
              </a:rPr>
              <a:t>On one day, you want to listen in Alphabetic order. </a:t>
            </a:r>
          </a:p>
          <a:p>
            <a:pPr algn="just">
              <a:lnSpc>
                <a:spcPts val="3920"/>
              </a:lnSpc>
            </a:pPr>
            <a:r>
              <a:rPr lang="en-US" sz="2800" b="1">
                <a:solidFill>
                  <a:srgbClr val="021828"/>
                </a:solidFill>
                <a:latin typeface="Aileron Bold"/>
                <a:ea typeface="Aileron Bold"/>
                <a:cs typeface="Aileron Bold"/>
                <a:sym typeface="Aileron Bold"/>
              </a:rPr>
              <a:t>On the next day, you want to listen in popularity order.</a:t>
            </a:r>
          </a:p>
          <a:p>
            <a:pPr algn="just">
              <a:lnSpc>
                <a:spcPts val="3920"/>
              </a:lnSpc>
            </a:pPr>
            <a:r>
              <a:rPr lang="en-US" sz="2800" b="1">
                <a:solidFill>
                  <a:srgbClr val="021828"/>
                </a:solidFill>
                <a:latin typeface="Aileron Bold"/>
                <a:ea typeface="Aileron Bold"/>
                <a:cs typeface="Aileron Bold"/>
                <a:sym typeface="Aileron Bold"/>
              </a:rPr>
              <a:t>On the other day, you want to listen in songs’ length order.</a:t>
            </a:r>
          </a:p>
        </p:txBody>
      </p:sp>
      <p:sp>
        <p:nvSpPr>
          <p:cNvPr id="17" name="TextBox 17"/>
          <p:cNvSpPr txBox="1"/>
          <p:nvPr/>
        </p:nvSpPr>
        <p:spPr>
          <a:xfrm>
            <a:off x="7558327" y="3127043"/>
            <a:ext cx="4904983" cy="1152779"/>
          </a:xfrm>
          <a:prstGeom prst="rect">
            <a:avLst/>
          </a:prstGeom>
        </p:spPr>
        <p:txBody>
          <a:bodyPr lIns="0" tIns="0" rIns="0" bIns="0" rtlCol="0" anchor="t">
            <a:spAutoFit/>
          </a:bodyPr>
          <a:lstStyle/>
          <a:p>
            <a:pPr algn="l">
              <a:lnSpc>
                <a:spcPts val="8127"/>
              </a:lnSpc>
            </a:pPr>
            <a:r>
              <a:rPr lang="en-US" sz="6399" b="1">
                <a:solidFill>
                  <a:srgbClr val="0E2F5F"/>
                </a:solidFill>
                <a:latin typeface="Akzidenz-Grotesk Heavy"/>
                <a:ea typeface="Akzidenz-Grotesk Heavy"/>
                <a:cs typeface="Akzidenz-Grotesk Heavy"/>
                <a:sym typeface="Akzidenz-Grotesk Heavy"/>
              </a:rPr>
              <a:t>Problem</a:t>
            </a:r>
          </a:p>
        </p:txBody>
      </p:sp>
      <p:grpSp>
        <p:nvGrpSpPr>
          <p:cNvPr id="18" name="Group 18"/>
          <p:cNvGrpSpPr/>
          <p:nvPr/>
        </p:nvGrpSpPr>
        <p:grpSpPr>
          <a:xfrm>
            <a:off x="1290784" y="2478571"/>
            <a:ext cx="3895157" cy="3895157"/>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2"/>
              <a:stretch>
                <a:fillRect/>
              </a:stretch>
            </a:blipFill>
          </p:spPr>
          <p:txBody>
            <a:bodyPr/>
            <a:lstStyle/>
            <a:p>
              <a:endParaRPr lang="en-US"/>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DDDF">
                <a:alpha val="0"/>
              </a:srgbClr>
            </a:gs>
            <a:gs pos="100000">
              <a:srgbClr val="8BE7E8">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4764367" y="7339585"/>
            <a:ext cx="5050544" cy="5050544"/>
          </a:xfrm>
          <a:custGeom>
            <a:avLst/>
            <a:gdLst/>
            <a:ahLst/>
            <a:cxnLst/>
            <a:rect l="l" t="t" r="r" b="b"/>
            <a:pathLst>
              <a:path w="5050544" h="5050544">
                <a:moveTo>
                  <a:pt x="0" y="0"/>
                </a:moveTo>
                <a:lnTo>
                  <a:pt x="5050544" y="0"/>
                </a:lnTo>
                <a:lnTo>
                  <a:pt x="5050544" y="5050544"/>
                </a:lnTo>
                <a:lnTo>
                  <a:pt x="0" y="50505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028700" y="4392170"/>
            <a:ext cx="5650143" cy="5894830"/>
            <a:chOff x="0" y="0"/>
            <a:chExt cx="1488104" cy="1552548"/>
          </a:xfrm>
        </p:grpSpPr>
        <p:sp>
          <p:nvSpPr>
            <p:cNvPr id="4" name="Freeform 4"/>
            <p:cNvSpPr/>
            <p:nvPr/>
          </p:nvSpPr>
          <p:spPr>
            <a:xfrm>
              <a:off x="0" y="0"/>
              <a:ext cx="1488104" cy="1552548"/>
            </a:xfrm>
            <a:custGeom>
              <a:avLst/>
              <a:gdLst/>
              <a:ahLst/>
              <a:cxnLst/>
              <a:rect l="l" t="t" r="r" b="b"/>
              <a:pathLst>
                <a:path w="1488104" h="1552548">
                  <a:moveTo>
                    <a:pt x="0" y="0"/>
                  </a:moveTo>
                  <a:lnTo>
                    <a:pt x="1488104" y="0"/>
                  </a:lnTo>
                  <a:lnTo>
                    <a:pt x="1488104" y="1552548"/>
                  </a:lnTo>
                  <a:lnTo>
                    <a:pt x="0" y="1552548"/>
                  </a:lnTo>
                  <a:close/>
                </a:path>
              </a:pathLst>
            </a:custGeom>
            <a:solidFill>
              <a:srgbClr val="E1EDFC"/>
            </a:solidFill>
          </p:spPr>
          <p:txBody>
            <a:bodyPr/>
            <a:lstStyle/>
            <a:p>
              <a:endParaRPr lang="en-US"/>
            </a:p>
          </p:txBody>
        </p:sp>
        <p:sp>
          <p:nvSpPr>
            <p:cNvPr id="5" name="TextBox 5"/>
            <p:cNvSpPr txBox="1"/>
            <p:nvPr/>
          </p:nvSpPr>
          <p:spPr>
            <a:xfrm>
              <a:off x="0" y="-47625"/>
              <a:ext cx="1488104" cy="1600173"/>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1290784" y="2478405"/>
            <a:ext cx="3895157" cy="389515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US"/>
            </a:p>
          </p:txBody>
        </p:sp>
      </p:grpSp>
      <p:grpSp>
        <p:nvGrpSpPr>
          <p:cNvPr id="8" name="Group 8"/>
          <p:cNvGrpSpPr/>
          <p:nvPr/>
        </p:nvGrpSpPr>
        <p:grpSpPr>
          <a:xfrm>
            <a:off x="17145000" y="1293604"/>
            <a:ext cx="1858734" cy="1858734"/>
            <a:chOff x="0" y="0"/>
            <a:chExt cx="2478312" cy="2478312"/>
          </a:xfrm>
        </p:grpSpPr>
        <p:grpSp>
          <p:nvGrpSpPr>
            <p:cNvPr id="9" name="Group 9"/>
            <p:cNvGrpSpPr/>
            <p:nvPr/>
          </p:nvGrpSpPr>
          <p:grpSpPr>
            <a:xfrm>
              <a:off x="0" y="0"/>
              <a:ext cx="2478312" cy="24783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txBody>
              <a:bodyPr/>
              <a:lstStyle/>
              <a:p>
                <a:endParaRPr lang="en-US"/>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2" name="Freeform 12"/>
            <p:cNvSpPr/>
            <p:nvPr/>
          </p:nvSpPr>
          <p:spPr>
            <a:xfrm>
              <a:off x="839131" y="641105"/>
              <a:ext cx="800051" cy="1196102"/>
            </a:xfrm>
            <a:custGeom>
              <a:avLst/>
              <a:gdLst/>
              <a:ahLst/>
              <a:cxnLst/>
              <a:rect l="l" t="t" r="r" b="b"/>
              <a:pathLst>
                <a:path w="800051" h="1196102">
                  <a:moveTo>
                    <a:pt x="0" y="0"/>
                  </a:moveTo>
                  <a:lnTo>
                    <a:pt x="800051" y="0"/>
                  </a:lnTo>
                  <a:lnTo>
                    <a:pt x="800051" y="1196102"/>
                  </a:lnTo>
                  <a:lnTo>
                    <a:pt x="0" y="119610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3" name="Freeform 13"/>
          <p:cNvSpPr/>
          <p:nvPr/>
        </p:nvSpPr>
        <p:spPr>
          <a:xfrm>
            <a:off x="7556735" y="8651488"/>
            <a:ext cx="2763919" cy="882511"/>
          </a:xfrm>
          <a:custGeom>
            <a:avLst/>
            <a:gdLst/>
            <a:ahLst/>
            <a:cxnLst/>
            <a:rect l="l" t="t" r="r" b="b"/>
            <a:pathLst>
              <a:path w="2763919" h="882511">
                <a:moveTo>
                  <a:pt x="0" y="0"/>
                </a:moveTo>
                <a:lnTo>
                  <a:pt x="2763918" y="0"/>
                </a:lnTo>
                <a:lnTo>
                  <a:pt x="2763918" y="882511"/>
                </a:lnTo>
                <a:lnTo>
                  <a:pt x="0" y="88251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4" name="Freeform 14"/>
          <p:cNvSpPr/>
          <p:nvPr/>
        </p:nvSpPr>
        <p:spPr>
          <a:xfrm>
            <a:off x="10731524" y="8863477"/>
            <a:ext cx="1483489" cy="458533"/>
          </a:xfrm>
          <a:custGeom>
            <a:avLst/>
            <a:gdLst/>
            <a:ahLst/>
            <a:cxnLst/>
            <a:rect l="l" t="t" r="r" b="b"/>
            <a:pathLst>
              <a:path w="1483489" h="458533">
                <a:moveTo>
                  <a:pt x="0" y="0"/>
                </a:moveTo>
                <a:lnTo>
                  <a:pt x="1483490" y="0"/>
                </a:lnTo>
                <a:lnTo>
                  <a:pt x="1483490" y="458533"/>
                </a:lnTo>
                <a:lnTo>
                  <a:pt x="0" y="45853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5" name="Freeform 15"/>
          <p:cNvSpPr/>
          <p:nvPr/>
        </p:nvSpPr>
        <p:spPr>
          <a:xfrm>
            <a:off x="16264511" y="5348601"/>
            <a:ext cx="1025128" cy="1025128"/>
          </a:xfrm>
          <a:custGeom>
            <a:avLst/>
            <a:gdLst/>
            <a:ahLst/>
            <a:cxnLst/>
            <a:rect l="l" t="t" r="r" b="b"/>
            <a:pathLst>
              <a:path w="1025128" h="1025128">
                <a:moveTo>
                  <a:pt x="0" y="0"/>
                </a:moveTo>
                <a:lnTo>
                  <a:pt x="1025128" y="0"/>
                </a:lnTo>
                <a:lnTo>
                  <a:pt x="1025128" y="1025127"/>
                </a:lnTo>
                <a:lnTo>
                  <a:pt x="0" y="10251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rot="-1711585">
            <a:off x="15160281" y="1751432"/>
            <a:ext cx="2367168" cy="2367168"/>
          </a:xfrm>
          <a:custGeom>
            <a:avLst/>
            <a:gdLst/>
            <a:ahLst/>
            <a:cxnLst/>
            <a:rect l="l" t="t" r="r" b="b"/>
            <a:pathLst>
              <a:path w="2367168" h="2367168">
                <a:moveTo>
                  <a:pt x="0" y="0"/>
                </a:moveTo>
                <a:lnTo>
                  <a:pt x="2367167" y="0"/>
                </a:lnTo>
                <a:lnTo>
                  <a:pt x="2367167" y="2367168"/>
                </a:lnTo>
                <a:lnTo>
                  <a:pt x="0" y="2367168"/>
                </a:lnTo>
                <a:lnTo>
                  <a:pt x="0" y="0"/>
                </a:lnTo>
                <a:close/>
              </a:path>
            </a:pathLst>
          </a:custGeom>
          <a:blipFill>
            <a:blip r:embed="rId11"/>
            <a:stretch>
              <a:fillRect/>
            </a:stretch>
          </a:blipFill>
        </p:spPr>
        <p:txBody>
          <a:bodyPr/>
          <a:lstStyle/>
          <a:p>
            <a:endParaRPr lang="en-US"/>
          </a:p>
        </p:txBody>
      </p:sp>
      <p:sp>
        <p:nvSpPr>
          <p:cNvPr id="17" name="Freeform 17"/>
          <p:cNvSpPr/>
          <p:nvPr/>
        </p:nvSpPr>
        <p:spPr>
          <a:xfrm rot="1542516">
            <a:off x="11916476" y="8210228"/>
            <a:ext cx="2647541" cy="2647541"/>
          </a:xfrm>
          <a:custGeom>
            <a:avLst/>
            <a:gdLst/>
            <a:ahLst/>
            <a:cxnLst/>
            <a:rect l="l" t="t" r="r" b="b"/>
            <a:pathLst>
              <a:path w="2647541" h="2647541">
                <a:moveTo>
                  <a:pt x="0" y="0"/>
                </a:moveTo>
                <a:lnTo>
                  <a:pt x="2647540" y="0"/>
                </a:lnTo>
                <a:lnTo>
                  <a:pt x="2647540" y="2647541"/>
                </a:lnTo>
                <a:lnTo>
                  <a:pt x="0" y="2647541"/>
                </a:lnTo>
                <a:lnTo>
                  <a:pt x="0" y="0"/>
                </a:lnTo>
                <a:close/>
              </a:path>
            </a:pathLst>
          </a:custGeom>
          <a:blipFill>
            <a:blip r:embed="rId12"/>
            <a:stretch>
              <a:fillRect/>
            </a:stretch>
          </a:blipFill>
        </p:spPr>
        <p:txBody>
          <a:bodyPr/>
          <a:lstStyle/>
          <a:p>
            <a:endParaRPr lang="en-US"/>
          </a:p>
        </p:txBody>
      </p:sp>
      <p:sp>
        <p:nvSpPr>
          <p:cNvPr id="18" name="Freeform 18"/>
          <p:cNvSpPr/>
          <p:nvPr/>
        </p:nvSpPr>
        <p:spPr>
          <a:xfrm>
            <a:off x="1881899" y="5921112"/>
            <a:ext cx="3943745" cy="3943745"/>
          </a:xfrm>
          <a:custGeom>
            <a:avLst/>
            <a:gdLst/>
            <a:ahLst/>
            <a:cxnLst/>
            <a:rect l="l" t="t" r="r" b="b"/>
            <a:pathLst>
              <a:path w="3943745" h="3943745">
                <a:moveTo>
                  <a:pt x="0" y="0"/>
                </a:moveTo>
                <a:lnTo>
                  <a:pt x="3943745" y="0"/>
                </a:lnTo>
                <a:lnTo>
                  <a:pt x="3943745" y="3943745"/>
                </a:lnTo>
                <a:lnTo>
                  <a:pt x="0" y="3943745"/>
                </a:lnTo>
                <a:lnTo>
                  <a:pt x="0" y="0"/>
                </a:lnTo>
                <a:close/>
              </a:path>
            </a:pathLst>
          </a:custGeom>
          <a:blipFill>
            <a:blip r:embed="rId13"/>
            <a:stretch>
              <a:fillRect/>
            </a:stretch>
          </a:blipFill>
        </p:spPr>
        <p:txBody>
          <a:bodyPr/>
          <a:lstStyle/>
          <a:p>
            <a:endParaRPr lang="en-US"/>
          </a:p>
        </p:txBody>
      </p:sp>
      <p:sp>
        <p:nvSpPr>
          <p:cNvPr id="19" name="TextBox 19"/>
          <p:cNvSpPr txBox="1"/>
          <p:nvPr/>
        </p:nvSpPr>
        <p:spPr>
          <a:xfrm>
            <a:off x="7558327" y="4877057"/>
            <a:ext cx="7829884" cy="2462529"/>
          </a:xfrm>
          <a:prstGeom prst="rect">
            <a:avLst/>
          </a:prstGeom>
        </p:spPr>
        <p:txBody>
          <a:bodyPr lIns="0" tIns="0" rIns="0" bIns="0" rtlCol="0" anchor="t">
            <a:spAutoFit/>
          </a:bodyPr>
          <a:lstStyle/>
          <a:p>
            <a:pPr algn="just">
              <a:lnSpc>
                <a:spcPts val="3920"/>
              </a:lnSpc>
            </a:pPr>
            <a:r>
              <a:rPr lang="en-US" sz="2800" b="1">
                <a:solidFill>
                  <a:srgbClr val="021828"/>
                </a:solidFill>
                <a:latin typeface="Aileron Bold"/>
                <a:ea typeface="Aileron Bold"/>
                <a:cs typeface="Aileron Bold"/>
                <a:sym typeface="Aileron Bold"/>
              </a:rPr>
              <a:t>On a boring day, you just want to spam the order button (toggle between Alphabetic order, popularity order, length order,…).</a:t>
            </a:r>
          </a:p>
          <a:p>
            <a:pPr algn="just">
              <a:lnSpc>
                <a:spcPts val="3920"/>
              </a:lnSpc>
            </a:pPr>
            <a:r>
              <a:rPr lang="en-US" sz="2800" b="1">
                <a:solidFill>
                  <a:srgbClr val="021828"/>
                </a:solidFill>
                <a:latin typeface="Aileron Bold"/>
                <a:ea typeface="Aileron Bold"/>
                <a:cs typeface="Aileron Bold"/>
                <a:sym typeface="Aileron Bold"/>
              </a:rPr>
              <a:t>How would the app developers solve this problem so that their app would’t crash?</a:t>
            </a:r>
          </a:p>
        </p:txBody>
      </p:sp>
      <p:sp>
        <p:nvSpPr>
          <p:cNvPr id="20" name="TextBox 20"/>
          <p:cNvSpPr txBox="1"/>
          <p:nvPr/>
        </p:nvSpPr>
        <p:spPr>
          <a:xfrm>
            <a:off x="7558327" y="3127043"/>
            <a:ext cx="4904983" cy="1152779"/>
          </a:xfrm>
          <a:prstGeom prst="rect">
            <a:avLst/>
          </a:prstGeom>
        </p:spPr>
        <p:txBody>
          <a:bodyPr lIns="0" tIns="0" rIns="0" bIns="0" rtlCol="0" anchor="t">
            <a:spAutoFit/>
          </a:bodyPr>
          <a:lstStyle/>
          <a:p>
            <a:pPr algn="l">
              <a:lnSpc>
                <a:spcPts val="8127"/>
              </a:lnSpc>
            </a:pPr>
            <a:r>
              <a:rPr lang="en-US" sz="6399" b="1">
                <a:solidFill>
                  <a:srgbClr val="0E2F5F"/>
                </a:solidFill>
                <a:latin typeface="Akzidenz-Grotesk Heavy"/>
                <a:ea typeface="Akzidenz-Grotesk Heavy"/>
                <a:cs typeface="Akzidenz-Grotesk Heavy"/>
                <a:sym typeface="Akzidenz-Grotesk Heavy"/>
              </a:rPr>
              <a:t>Problem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DDDF">
                <a:alpha val="0"/>
              </a:srgbClr>
            </a:gs>
            <a:gs pos="100000">
              <a:srgbClr val="8BE7E8">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12228554" y="5150699"/>
            <a:ext cx="1168457" cy="1168457"/>
            <a:chOff x="0" y="0"/>
            <a:chExt cx="274792" cy="274792"/>
          </a:xfrm>
        </p:grpSpPr>
        <p:sp>
          <p:nvSpPr>
            <p:cNvPr id="3" name="Freeform 3"/>
            <p:cNvSpPr/>
            <p:nvPr/>
          </p:nvSpPr>
          <p:spPr>
            <a:xfrm>
              <a:off x="0" y="0"/>
              <a:ext cx="274792" cy="274792"/>
            </a:xfrm>
            <a:custGeom>
              <a:avLst/>
              <a:gdLst/>
              <a:ahLst/>
              <a:cxnLst/>
              <a:rect l="l" t="t" r="r" b="b"/>
              <a:pathLst>
                <a:path w="274792" h="274792">
                  <a:moveTo>
                    <a:pt x="66258" y="0"/>
                  </a:moveTo>
                  <a:lnTo>
                    <a:pt x="208535" y="0"/>
                  </a:lnTo>
                  <a:cubicBezTo>
                    <a:pt x="226107" y="0"/>
                    <a:pt x="242960" y="6981"/>
                    <a:pt x="255386" y="19406"/>
                  </a:cubicBezTo>
                  <a:cubicBezTo>
                    <a:pt x="267811" y="31832"/>
                    <a:pt x="274792" y="48685"/>
                    <a:pt x="274792" y="66258"/>
                  </a:cubicBezTo>
                  <a:lnTo>
                    <a:pt x="274792" y="208535"/>
                  </a:lnTo>
                  <a:cubicBezTo>
                    <a:pt x="274792" y="226107"/>
                    <a:pt x="267811" y="242960"/>
                    <a:pt x="255386" y="255386"/>
                  </a:cubicBezTo>
                  <a:cubicBezTo>
                    <a:pt x="242960" y="267811"/>
                    <a:pt x="226107" y="274792"/>
                    <a:pt x="208535" y="274792"/>
                  </a:cubicBezTo>
                  <a:lnTo>
                    <a:pt x="66258" y="274792"/>
                  </a:lnTo>
                  <a:cubicBezTo>
                    <a:pt x="48685" y="274792"/>
                    <a:pt x="31832" y="267811"/>
                    <a:pt x="19406" y="255386"/>
                  </a:cubicBezTo>
                  <a:cubicBezTo>
                    <a:pt x="6981" y="242960"/>
                    <a:pt x="0" y="226107"/>
                    <a:pt x="0" y="208535"/>
                  </a:cubicBezTo>
                  <a:lnTo>
                    <a:pt x="0" y="66258"/>
                  </a:lnTo>
                  <a:cubicBezTo>
                    <a:pt x="0" y="48685"/>
                    <a:pt x="6981" y="31832"/>
                    <a:pt x="19406" y="19406"/>
                  </a:cubicBezTo>
                  <a:cubicBezTo>
                    <a:pt x="31832" y="6981"/>
                    <a:pt x="48685" y="0"/>
                    <a:pt x="66258" y="0"/>
                  </a:cubicBezTo>
                  <a:close/>
                </a:path>
              </a:pathLst>
            </a:custGeom>
            <a:solidFill>
              <a:srgbClr val="0E2F5F"/>
            </a:solidFill>
          </p:spPr>
          <p:txBody>
            <a:bodyPr/>
            <a:lstStyle/>
            <a:p>
              <a:endParaRPr lang="en-US"/>
            </a:p>
          </p:txBody>
        </p:sp>
        <p:sp>
          <p:nvSpPr>
            <p:cNvPr id="4" name="TextBox 4"/>
            <p:cNvSpPr txBox="1"/>
            <p:nvPr/>
          </p:nvSpPr>
          <p:spPr>
            <a:xfrm>
              <a:off x="0" y="-47625"/>
              <a:ext cx="274792" cy="322417"/>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12228554" y="6531969"/>
            <a:ext cx="1168457" cy="1168457"/>
            <a:chOff x="0" y="0"/>
            <a:chExt cx="274792" cy="274792"/>
          </a:xfrm>
        </p:grpSpPr>
        <p:sp>
          <p:nvSpPr>
            <p:cNvPr id="6" name="Freeform 6"/>
            <p:cNvSpPr/>
            <p:nvPr/>
          </p:nvSpPr>
          <p:spPr>
            <a:xfrm>
              <a:off x="0" y="0"/>
              <a:ext cx="274792" cy="274792"/>
            </a:xfrm>
            <a:custGeom>
              <a:avLst/>
              <a:gdLst/>
              <a:ahLst/>
              <a:cxnLst/>
              <a:rect l="l" t="t" r="r" b="b"/>
              <a:pathLst>
                <a:path w="274792" h="274792">
                  <a:moveTo>
                    <a:pt x="66258" y="0"/>
                  </a:moveTo>
                  <a:lnTo>
                    <a:pt x="208535" y="0"/>
                  </a:lnTo>
                  <a:cubicBezTo>
                    <a:pt x="226107" y="0"/>
                    <a:pt x="242960" y="6981"/>
                    <a:pt x="255386" y="19406"/>
                  </a:cubicBezTo>
                  <a:cubicBezTo>
                    <a:pt x="267811" y="31832"/>
                    <a:pt x="274792" y="48685"/>
                    <a:pt x="274792" y="66258"/>
                  </a:cubicBezTo>
                  <a:lnTo>
                    <a:pt x="274792" y="208535"/>
                  </a:lnTo>
                  <a:cubicBezTo>
                    <a:pt x="274792" y="226107"/>
                    <a:pt x="267811" y="242960"/>
                    <a:pt x="255386" y="255386"/>
                  </a:cubicBezTo>
                  <a:cubicBezTo>
                    <a:pt x="242960" y="267811"/>
                    <a:pt x="226107" y="274792"/>
                    <a:pt x="208535" y="274792"/>
                  </a:cubicBezTo>
                  <a:lnTo>
                    <a:pt x="66258" y="274792"/>
                  </a:lnTo>
                  <a:cubicBezTo>
                    <a:pt x="48685" y="274792"/>
                    <a:pt x="31832" y="267811"/>
                    <a:pt x="19406" y="255386"/>
                  </a:cubicBezTo>
                  <a:cubicBezTo>
                    <a:pt x="6981" y="242960"/>
                    <a:pt x="0" y="226107"/>
                    <a:pt x="0" y="208535"/>
                  </a:cubicBezTo>
                  <a:lnTo>
                    <a:pt x="0" y="66258"/>
                  </a:lnTo>
                  <a:cubicBezTo>
                    <a:pt x="0" y="48685"/>
                    <a:pt x="6981" y="31832"/>
                    <a:pt x="19406" y="19406"/>
                  </a:cubicBezTo>
                  <a:cubicBezTo>
                    <a:pt x="31832" y="6981"/>
                    <a:pt x="48685" y="0"/>
                    <a:pt x="66258" y="0"/>
                  </a:cubicBezTo>
                  <a:close/>
                </a:path>
              </a:pathLst>
            </a:custGeom>
            <a:solidFill>
              <a:srgbClr val="0E2F5F"/>
            </a:solidFill>
          </p:spPr>
          <p:txBody>
            <a:bodyPr/>
            <a:lstStyle/>
            <a:p>
              <a:endParaRPr lang="en-US"/>
            </a:p>
          </p:txBody>
        </p:sp>
        <p:sp>
          <p:nvSpPr>
            <p:cNvPr id="7" name="TextBox 7"/>
            <p:cNvSpPr txBox="1"/>
            <p:nvPr/>
          </p:nvSpPr>
          <p:spPr>
            <a:xfrm>
              <a:off x="0" y="-47625"/>
              <a:ext cx="274792" cy="322417"/>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a:off x="12228554" y="7913240"/>
            <a:ext cx="1168457" cy="1168457"/>
            <a:chOff x="0" y="0"/>
            <a:chExt cx="274792" cy="274792"/>
          </a:xfrm>
        </p:grpSpPr>
        <p:sp>
          <p:nvSpPr>
            <p:cNvPr id="9" name="Freeform 9"/>
            <p:cNvSpPr/>
            <p:nvPr/>
          </p:nvSpPr>
          <p:spPr>
            <a:xfrm>
              <a:off x="0" y="0"/>
              <a:ext cx="274792" cy="274792"/>
            </a:xfrm>
            <a:custGeom>
              <a:avLst/>
              <a:gdLst/>
              <a:ahLst/>
              <a:cxnLst/>
              <a:rect l="l" t="t" r="r" b="b"/>
              <a:pathLst>
                <a:path w="274792" h="274792">
                  <a:moveTo>
                    <a:pt x="66258" y="0"/>
                  </a:moveTo>
                  <a:lnTo>
                    <a:pt x="208535" y="0"/>
                  </a:lnTo>
                  <a:cubicBezTo>
                    <a:pt x="226107" y="0"/>
                    <a:pt x="242960" y="6981"/>
                    <a:pt x="255386" y="19406"/>
                  </a:cubicBezTo>
                  <a:cubicBezTo>
                    <a:pt x="267811" y="31832"/>
                    <a:pt x="274792" y="48685"/>
                    <a:pt x="274792" y="66258"/>
                  </a:cubicBezTo>
                  <a:lnTo>
                    <a:pt x="274792" y="208535"/>
                  </a:lnTo>
                  <a:cubicBezTo>
                    <a:pt x="274792" y="226107"/>
                    <a:pt x="267811" y="242960"/>
                    <a:pt x="255386" y="255386"/>
                  </a:cubicBezTo>
                  <a:cubicBezTo>
                    <a:pt x="242960" y="267811"/>
                    <a:pt x="226107" y="274792"/>
                    <a:pt x="208535" y="274792"/>
                  </a:cubicBezTo>
                  <a:lnTo>
                    <a:pt x="66258" y="274792"/>
                  </a:lnTo>
                  <a:cubicBezTo>
                    <a:pt x="48685" y="274792"/>
                    <a:pt x="31832" y="267811"/>
                    <a:pt x="19406" y="255386"/>
                  </a:cubicBezTo>
                  <a:cubicBezTo>
                    <a:pt x="6981" y="242960"/>
                    <a:pt x="0" y="226107"/>
                    <a:pt x="0" y="208535"/>
                  </a:cubicBezTo>
                  <a:lnTo>
                    <a:pt x="0" y="66258"/>
                  </a:lnTo>
                  <a:cubicBezTo>
                    <a:pt x="0" y="48685"/>
                    <a:pt x="6981" y="31832"/>
                    <a:pt x="19406" y="19406"/>
                  </a:cubicBezTo>
                  <a:cubicBezTo>
                    <a:pt x="31832" y="6981"/>
                    <a:pt x="48685" y="0"/>
                    <a:pt x="66258" y="0"/>
                  </a:cubicBezTo>
                  <a:close/>
                </a:path>
              </a:pathLst>
            </a:custGeom>
            <a:solidFill>
              <a:srgbClr val="0E2F5F"/>
            </a:solidFill>
          </p:spPr>
          <p:txBody>
            <a:bodyPr/>
            <a:lstStyle/>
            <a:p>
              <a:endParaRPr lang="en-US"/>
            </a:p>
          </p:txBody>
        </p:sp>
        <p:sp>
          <p:nvSpPr>
            <p:cNvPr id="10" name="TextBox 10"/>
            <p:cNvSpPr txBox="1"/>
            <p:nvPr/>
          </p:nvSpPr>
          <p:spPr>
            <a:xfrm>
              <a:off x="0" y="-47625"/>
              <a:ext cx="274792" cy="322417"/>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14848550" y="1944578"/>
            <a:ext cx="1226460" cy="379088"/>
          </a:xfrm>
          <a:custGeom>
            <a:avLst/>
            <a:gdLst/>
            <a:ahLst/>
            <a:cxnLst/>
            <a:rect l="l" t="t" r="r" b="b"/>
            <a:pathLst>
              <a:path w="1226460" h="379088">
                <a:moveTo>
                  <a:pt x="0" y="0"/>
                </a:moveTo>
                <a:lnTo>
                  <a:pt x="1226460" y="0"/>
                </a:lnTo>
                <a:lnTo>
                  <a:pt x="1226460" y="379087"/>
                </a:lnTo>
                <a:lnTo>
                  <a:pt x="0" y="3790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16298985" y="1028700"/>
            <a:ext cx="960315" cy="960315"/>
          </a:xfrm>
          <a:custGeom>
            <a:avLst/>
            <a:gdLst/>
            <a:ahLst/>
            <a:cxnLst/>
            <a:rect l="l" t="t" r="r" b="b"/>
            <a:pathLst>
              <a:path w="960315" h="960315">
                <a:moveTo>
                  <a:pt x="0" y="0"/>
                </a:moveTo>
                <a:lnTo>
                  <a:pt x="960315" y="0"/>
                </a:lnTo>
                <a:lnTo>
                  <a:pt x="960315" y="960315"/>
                </a:lnTo>
                <a:lnTo>
                  <a:pt x="0" y="96031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3" name="Group 13"/>
          <p:cNvGrpSpPr/>
          <p:nvPr/>
        </p:nvGrpSpPr>
        <p:grpSpPr>
          <a:xfrm>
            <a:off x="14094917" y="3043088"/>
            <a:ext cx="5368452" cy="6552136"/>
            <a:chOff x="0" y="0"/>
            <a:chExt cx="7157936" cy="8736181"/>
          </a:xfrm>
        </p:grpSpPr>
        <p:grpSp>
          <p:nvGrpSpPr>
            <p:cNvPr id="14" name="Group 14"/>
            <p:cNvGrpSpPr/>
            <p:nvPr/>
          </p:nvGrpSpPr>
          <p:grpSpPr>
            <a:xfrm>
              <a:off x="0" y="0"/>
              <a:ext cx="7157936" cy="8736181"/>
              <a:chOff x="0" y="0"/>
              <a:chExt cx="1272070" cy="1552548"/>
            </a:xfrm>
          </p:grpSpPr>
          <p:sp>
            <p:nvSpPr>
              <p:cNvPr id="15" name="Freeform 15"/>
              <p:cNvSpPr/>
              <p:nvPr/>
            </p:nvSpPr>
            <p:spPr>
              <a:xfrm>
                <a:off x="0" y="0"/>
                <a:ext cx="1272070" cy="1552548"/>
              </a:xfrm>
              <a:custGeom>
                <a:avLst/>
                <a:gdLst/>
                <a:ahLst/>
                <a:cxnLst/>
                <a:rect l="l" t="t" r="r" b="b"/>
                <a:pathLst>
                  <a:path w="1272070" h="1552548">
                    <a:moveTo>
                      <a:pt x="94572" y="0"/>
                    </a:moveTo>
                    <a:lnTo>
                      <a:pt x="1177498" y="0"/>
                    </a:lnTo>
                    <a:cubicBezTo>
                      <a:pt x="1229729" y="0"/>
                      <a:pt x="1272070" y="42341"/>
                      <a:pt x="1272070" y="94572"/>
                    </a:cubicBezTo>
                    <a:lnTo>
                      <a:pt x="1272070" y="1457976"/>
                    </a:lnTo>
                    <a:cubicBezTo>
                      <a:pt x="1272070" y="1483058"/>
                      <a:pt x="1262106" y="1507113"/>
                      <a:pt x="1244371" y="1524848"/>
                    </a:cubicBezTo>
                    <a:cubicBezTo>
                      <a:pt x="1226635" y="1542584"/>
                      <a:pt x="1202580" y="1552548"/>
                      <a:pt x="1177498" y="1552548"/>
                    </a:cubicBezTo>
                    <a:lnTo>
                      <a:pt x="94572" y="1552548"/>
                    </a:lnTo>
                    <a:cubicBezTo>
                      <a:pt x="69490" y="1552548"/>
                      <a:pt x="45435" y="1542584"/>
                      <a:pt x="27700" y="1524848"/>
                    </a:cubicBezTo>
                    <a:cubicBezTo>
                      <a:pt x="9964" y="1507113"/>
                      <a:pt x="0" y="1483058"/>
                      <a:pt x="0" y="1457976"/>
                    </a:cubicBezTo>
                    <a:lnTo>
                      <a:pt x="0" y="94572"/>
                    </a:lnTo>
                    <a:cubicBezTo>
                      <a:pt x="0" y="69490"/>
                      <a:pt x="9964" y="45435"/>
                      <a:pt x="27700" y="27700"/>
                    </a:cubicBezTo>
                    <a:cubicBezTo>
                      <a:pt x="45435" y="9964"/>
                      <a:pt x="69490" y="0"/>
                      <a:pt x="94572" y="0"/>
                    </a:cubicBezTo>
                    <a:close/>
                  </a:path>
                </a:pathLst>
              </a:custGeom>
              <a:solidFill>
                <a:srgbClr val="E1EDFC"/>
              </a:solidFill>
            </p:spPr>
            <p:txBody>
              <a:bodyPr/>
              <a:lstStyle/>
              <a:p>
                <a:endParaRPr lang="en-US"/>
              </a:p>
            </p:txBody>
          </p:sp>
          <p:sp>
            <p:nvSpPr>
              <p:cNvPr id="16" name="TextBox 16"/>
              <p:cNvSpPr txBox="1"/>
              <p:nvPr/>
            </p:nvSpPr>
            <p:spPr>
              <a:xfrm>
                <a:off x="0" y="-47625"/>
                <a:ext cx="1272070" cy="1600173"/>
              </a:xfrm>
              <a:prstGeom prst="rect">
                <a:avLst/>
              </a:prstGeom>
            </p:spPr>
            <p:txBody>
              <a:bodyPr lIns="50800" tIns="50800" rIns="50800" bIns="50800" rtlCol="0" anchor="ctr"/>
              <a:lstStyle/>
              <a:p>
                <a:pPr algn="ctr">
                  <a:lnSpc>
                    <a:spcPts val="2800"/>
                  </a:lnSpc>
                </a:pPr>
                <a:endParaRPr/>
              </a:p>
            </p:txBody>
          </p:sp>
        </p:grpSp>
        <p:grpSp>
          <p:nvGrpSpPr>
            <p:cNvPr id="17" name="Group 17"/>
            <p:cNvGrpSpPr>
              <a:grpSpLocks noChangeAspect="1"/>
            </p:cNvGrpSpPr>
            <p:nvPr/>
          </p:nvGrpSpPr>
          <p:grpSpPr>
            <a:xfrm>
              <a:off x="430611" y="380618"/>
              <a:ext cx="5860079" cy="7875052"/>
              <a:chOff x="0" y="0"/>
              <a:chExt cx="3663950" cy="4923790"/>
            </a:xfrm>
          </p:grpSpPr>
          <p:sp>
            <p:nvSpPr>
              <p:cNvPr id="18" name="Freeform 18"/>
              <p:cNvSpPr/>
              <p:nvPr/>
            </p:nvSpPr>
            <p:spPr>
              <a:xfrm>
                <a:off x="31750" y="31750"/>
                <a:ext cx="3600450" cy="4859020"/>
              </a:xfrm>
              <a:custGeom>
                <a:avLst/>
                <a:gdLst/>
                <a:ahLst/>
                <a:cxnLst/>
                <a:rect l="l" t="t" r="r" b="b"/>
                <a:pathLst>
                  <a:path w="3600450" h="485902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6"/>
                <a:stretch>
                  <a:fillRect l="-608" r="-608"/>
                </a:stretch>
              </a:blipFill>
            </p:spPr>
            <p:txBody>
              <a:bodyPr/>
              <a:lstStyle/>
              <a:p>
                <a:endParaRPr lang="en-US"/>
              </a:p>
            </p:txBody>
          </p:sp>
          <p:sp>
            <p:nvSpPr>
              <p:cNvPr id="19" name="Freeform 19"/>
              <p:cNvSpPr/>
              <p:nvPr/>
            </p:nvSpPr>
            <p:spPr>
              <a:xfrm>
                <a:off x="0" y="0"/>
                <a:ext cx="3663950" cy="4923790"/>
              </a:xfrm>
              <a:custGeom>
                <a:avLst/>
                <a:gdLst/>
                <a:ahLst/>
                <a:cxnLst/>
                <a:rect l="l" t="t" r="r" b="b"/>
                <a:pathLst>
                  <a:path w="3663950"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E2F5F"/>
              </a:solidFill>
            </p:spPr>
            <p:txBody>
              <a:bodyPr/>
              <a:lstStyle/>
              <a:p>
                <a:endParaRPr lang="en-US"/>
              </a:p>
            </p:txBody>
          </p:sp>
        </p:grpSp>
      </p:grpSp>
      <p:sp>
        <p:nvSpPr>
          <p:cNvPr id="20" name="Freeform 20"/>
          <p:cNvSpPr/>
          <p:nvPr/>
        </p:nvSpPr>
        <p:spPr>
          <a:xfrm>
            <a:off x="12228554" y="7919502"/>
            <a:ext cx="1168457" cy="1168457"/>
          </a:xfrm>
          <a:custGeom>
            <a:avLst/>
            <a:gdLst/>
            <a:ahLst/>
            <a:cxnLst/>
            <a:rect l="l" t="t" r="r" b="b"/>
            <a:pathLst>
              <a:path w="1168457" h="1168457">
                <a:moveTo>
                  <a:pt x="0" y="0"/>
                </a:moveTo>
                <a:lnTo>
                  <a:pt x="1168458" y="0"/>
                </a:lnTo>
                <a:lnTo>
                  <a:pt x="1168458" y="1168457"/>
                </a:lnTo>
                <a:lnTo>
                  <a:pt x="0" y="1168457"/>
                </a:lnTo>
                <a:lnTo>
                  <a:pt x="0" y="0"/>
                </a:lnTo>
                <a:close/>
              </a:path>
            </a:pathLst>
          </a:custGeom>
          <a:blipFill>
            <a:blip r:embed="rId7"/>
            <a:stretch>
              <a:fillRect/>
            </a:stretch>
          </a:blipFill>
        </p:spPr>
        <p:txBody>
          <a:bodyPr/>
          <a:lstStyle/>
          <a:p>
            <a:endParaRPr lang="en-US"/>
          </a:p>
        </p:txBody>
      </p:sp>
      <p:sp>
        <p:nvSpPr>
          <p:cNvPr id="21" name="Freeform 21"/>
          <p:cNvSpPr/>
          <p:nvPr/>
        </p:nvSpPr>
        <p:spPr>
          <a:xfrm>
            <a:off x="12228554" y="6531969"/>
            <a:ext cx="1168457" cy="1168457"/>
          </a:xfrm>
          <a:custGeom>
            <a:avLst/>
            <a:gdLst/>
            <a:ahLst/>
            <a:cxnLst/>
            <a:rect l="l" t="t" r="r" b="b"/>
            <a:pathLst>
              <a:path w="1168457" h="1168457">
                <a:moveTo>
                  <a:pt x="0" y="0"/>
                </a:moveTo>
                <a:lnTo>
                  <a:pt x="1168458" y="0"/>
                </a:lnTo>
                <a:lnTo>
                  <a:pt x="1168458" y="1168458"/>
                </a:lnTo>
                <a:lnTo>
                  <a:pt x="0" y="1168458"/>
                </a:lnTo>
                <a:lnTo>
                  <a:pt x="0" y="0"/>
                </a:lnTo>
                <a:close/>
              </a:path>
            </a:pathLst>
          </a:custGeom>
          <a:blipFill>
            <a:blip r:embed="rId8"/>
            <a:stretch>
              <a:fillRect/>
            </a:stretch>
          </a:blipFill>
        </p:spPr>
        <p:txBody>
          <a:bodyPr/>
          <a:lstStyle/>
          <a:p>
            <a:endParaRPr lang="en-US"/>
          </a:p>
        </p:txBody>
      </p:sp>
      <p:sp>
        <p:nvSpPr>
          <p:cNvPr id="22" name="Freeform 22"/>
          <p:cNvSpPr/>
          <p:nvPr/>
        </p:nvSpPr>
        <p:spPr>
          <a:xfrm>
            <a:off x="12234816" y="5150699"/>
            <a:ext cx="1162196" cy="1162196"/>
          </a:xfrm>
          <a:custGeom>
            <a:avLst/>
            <a:gdLst/>
            <a:ahLst/>
            <a:cxnLst/>
            <a:rect l="l" t="t" r="r" b="b"/>
            <a:pathLst>
              <a:path w="1162196" h="1162196">
                <a:moveTo>
                  <a:pt x="0" y="0"/>
                </a:moveTo>
                <a:lnTo>
                  <a:pt x="1162196" y="0"/>
                </a:lnTo>
                <a:lnTo>
                  <a:pt x="1162196" y="1162195"/>
                </a:lnTo>
                <a:lnTo>
                  <a:pt x="0" y="1162195"/>
                </a:lnTo>
                <a:lnTo>
                  <a:pt x="0" y="0"/>
                </a:lnTo>
                <a:close/>
              </a:path>
            </a:pathLst>
          </a:custGeom>
          <a:blipFill>
            <a:blip r:embed="rId9"/>
            <a:stretch>
              <a:fillRect/>
            </a:stretch>
          </a:blipFill>
        </p:spPr>
        <p:txBody>
          <a:bodyPr/>
          <a:lstStyle/>
          <a:p>
            <a:endParaRPr lang="en-US"/>
          </a:p>
        </p:txBody>
      </p:sp>
      <p:sp>
        <p:nvSpPr>
          <p:cNvPr id="23" name="TextBox 23"/>
          <p:cNvSpPr txBox="1"/>
          <p:nvPr/>
        </p:nvSpPr>
        <p:spPr>
          <a:xfrm>
            <a:off x="1028700" y="857250"/>
            <a:ext cx="7075535" cy="1080135"/>
          </a:xfrm>
          <a:prstGeom prst="rect">
            <a:avLst/>
          </a:prstGeom>
        </p:spPr>
        <p:txBody>
          <a:bodyPr lIns="0" tIns="0" rIns="0" bIns="0" rtlCol="0" anchor="t">
            <a:spAutoFit/>
          </a:bodyPr>
          <a:lstStyle/>
          <a:p>
            <a:pPr algn="l">
              <a:lnSpc>
                <a:spcPts val="7619"/>
              </a:lnSpc>
            </a:pPr>
            <a:r>
              <a:rPr lang="en-US" sz="5999" b="1">
                <a:solidFill>
                  <a:srgbClr val="0E2F5F"/>
                </a:solidFill>
                <a:latin typeface="Akzidenz-Grotesk Heavy"/>
                <a:ea typeface="Akzidenz-Grotesk Heavy"/>
                <a:cs typeface="Akzidenz-Grotesk Heavy"/>
                <a:sym typeface="Akzidenz-Grotesk Heavy"/>
              </a:rPr>
              <a:t>Naive solution</a:t>
            </a:r>
          </a:p>
        </p:txBody>
      </p:sp>
      <p:sp>
        <p:nvSpPr>
          <p:cNvPr id="24" name="TextBox 24"/>
          <p:cNvSpPr txBox="1"/>
          <p:nvPr/>
        </p:nvSpPr>
        <p:spPr>
          <a:xfrm>
            <a:off x="1028700" y="3518045"/>
            <a:ext cx="12368312" cy="1899284"/>
          </a:xfrm>
          <a:prstGeom prst="rect">
            <a:avLst/>
          </a:prstGeom>
        </p:spPr>
        <p:txBody>
          <a:bodyPr lIns="0" tIns="0" rIns="0" bIns="0" rtlCol="0" anchor="t">
            <a:spAutoFit/>
          </a:bodyPr>
          <a:lstStyle/>
          <a:p>
            <a:pPr algn="just">
              <a:lnSpc>
                <a:spcPts val="5040"/>
              </a:lnSpc>
            </a:pPr>
            <a:r>
              <a:rPr lang="en-US" sz="3600" b="1">
                <a:solidFill>
                  <a:srgbClr val="021828"/>
                </a:solidFill>
                <a:latin typeface="Aileron Bold"/>
                <a:ea typeface="Aileron Bold"/>
                <a:cs typeface="Aileron Bold"/>
                <a:sym typeface="Aileron Bold"/>
              </a:rPr>
              <a:t>Luckily, the music app developers are very good in DSA, so they implemented a very fast sorting algorithm and well-structured data structures.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898455"/>
            <a:ext cx="18288000" cy="5894830"/>
            <a:chOff x="0" y="0"/>
            <a:chExt cx="4816593" cy="1552548"/>
          </a:xfrm>
        </p:grpSpPr>
        <p:sp>
          <p:nvSpPr>
            <p:cNvPr id="3" name="Freeform 3"/>
            <p:cNvSpPr/>
            <p:nvPr/>
          </p:nvSpPr>
          <p:spPr>
            <a:xfrm>
              <a:off x="0" y="0"/>
              <a:ext cx="4816592" cy="1552548"/>
            </a:xfrm>
            <a:custGeom>
              <a:avLst/>
              <a:gdLst/>
              <a:ahLst/>
              <a:cxnLst/>
              <a:rect l="l" t="t" r="r" b="b"/>
              <a:pathLst>
                <a:path w="4816592" h="1552548">
                  <a:moveTo>
                    <a:pt x="0" y="0"/>
                  </a:moveTo>
                  <a:lnTo>
                    <a:pt x="4816592" y="0"/>
                  </a:lnTo>
                  <a:lnTo>
                    <a:pt x="4816592" y="1552548"/>
                  </a:lnTo>
                  <a:lnTo>
                    <a:pt x="0" y="1552548"/>
                  </a:lnTo>
                  <a:close/>
                </a:path>
              </a:pathLst>
            </a:custGeom>
            <a:solidFill>
              <a:srgbClr val="E1EDFC"/>
            </a:solidFill>
          </p:spPr>
          <p:txBody>
            <a:bodyPr/>
            <a:lstStyle/>
            <a:p>
              <a:endParaRPr lang="en-US"/>
            </a:p>
          </p:txBody>
        </p:sp>
        <p:sp>
          <p:nvSpPr>
            <p:cNvPr id="4" name="TextBox 4"/>
            <p:cNvSpPr txBox="1"/>
            <p:nvPr/>
          </p:nvSpPr>
          <p:spPr>
            <a:xfrm>
              <a:off x="0" y="-47625"/>
              <a:ext cx="4816593" cy="1600173"/>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4505581" y="3685992"/>
            <a:ext cx="1583878" cy="1108714"/>
          </a:xfrm>
          <a:custGeom>
            <a:avLst/>
            <a:gdLst/>
            <a:ahLst/>
            <a:cxnLst/>
            <a:rect l="l" t="t" r="r" b="b"/>
            <a:pathLst>
              <a:path w="1583878" h="1108714">
                <a:moveTo>
                  <a:pt x="0" y="0"/>
                </a:moveTo>
                <a:lnTo>
                  <a:pt x="1583878" y="0"/>
                </a:lnTo>
                <a:lnTo>
                  <a:pt x="1583878" y="1108714"/>
                </a:lnTo>
                <a:lnTo>
                  <a:pt x="0" y="110871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2198541" y="3660336"/>
            <a:ext cx="1583878" cy="1108714"/>
          </a:xfrm>
          <a:custGeom>
            <a:avLst/>
            <a:gdLst/>
            <a:ahLst/>
            <a:cxnLst/>
            <a:rect l="l" t="t" r="r" b="b"/>
            <a:pathLst>
              <a:path w="1583878" h="1108714">
                <a:moveTo>
                  <a:pt x="0" y="0"/>
                </a:moveTo>
                <a:lnTo>
                  <a:pt x="1583878" y="0"/>
                </a:lnTo>
                <a:lnTo>
                  <a:pt x="1583878" y="1108715"/>
                </a:lnTo>
                <a:lnTo>
                  <a:pt x="0" y="11087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2988653" y="3660336"/>
            <a:ext cx="11301259" cy="5569896"/>
          </a:xfrm>
          <a:custGeom>
            <a:avLst/>
            <a:gdLst/>
            <a:ahLst/>
            <a:cxnLst/>
            <a:rect l="l" t="t" r="r" b="b"/>
            <a:pathLst>
              <a:path w="11301259" h="5569896">
                <a:moveTo>
                  <a:pt x="0" y="0"/>
                </a:moveTo>
                <a:lnTo>
                  <a:pt x="11301259" y="0"/>
                </a:lnTo>
                <a:lnTo>
                  <a:pt x="11301259" y="5569896"/>
                </a:lnTo>
                <a:lnTo>
                  <a:pt x="0" y="5569896"/>
                </a:lnTo>
                <a:lnTo>
                  <a:pt x="0" y="0"/>
                </a:lnTo>
                <a:close/>
              </a:path>
            </a:pathLst>
          </a:custGeom>
          <a:blipFill>
            <a:blip r:embed="rId4"/>
            <a:stretch>
              <a:fillRect b="-14130"/>
            </a:stretch>
          </a:blipFill>
        </p:spPr>
        <p:txBody>
          <a:bodyPr/>
          <a:lstStyle/>
          <a:p>
            <a:endParaRPr lang="en-US"/>
          </a:p>
        </p:txBody>
      </p:sp>
      <p:sp>
        <p:nvSpPr>
          <p:cNvPr id="8" name="TextBox 8"/>
          <p:cNvSpPr txBox="1"/>
          <p:nvPr/>
        </p:nvSpPr>
        <p:spPr>
          <a:xfrm>
            <a:off x="5203111" y="857250"/>
            <a:ext cx="7881777" cy="1080135"/>
          </a:xfrm>
          <a:prstGeom prst="rect">
            <a:avLst/>
          </a:prstGeom>
        </p:spPr>
        <p:txBody>
          <a:bodyPr lIns="0" tIns="0" rIns="0" bIns="0" rtlCol="0" anchor="t">
            <a:spAutoFit/>
          </a:bodyPr>
          <a:lstStyle/>
          <a:p>
            <a:pPr marL="0" lvl="0" indent="0" algn="ctr">
              <a:lnSpc>
                <a:spcPts val="7619"/>
              </a:lnSpc>
              <a:spcBef>
                <a:spcPct val="0"/>
              </a:spcBef>
            </a:pPr>
            <a:r>
              <a:rPr lang="en-US" sz="5999" b="1">
                <a:solidFill>
                  <a:srgbClr val="0E2F5F"/>
                </a:solidFill>
                <a:latin typeface="Akzidenz-Grotesk Heavy"/>
                <a:ea typeface="Akzidenz-Grotesk Heavy"/>
                <a:cs typeface="Akzidenz-Grotesk Heavy"/>
                <a:sym typeface="Akzidenz-Grotesk Heavy"/>
              </a:rPr>
              <a:t>New problem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898455"/>
            <a:ext cx="18288000" cy="5894830"/>
            <a:chOff x="0" y="0"/>
            <a:chExt cx="4816593" cy="1552548"/>
          </a:xfrm>
        </p:grpSpPr>
        <p:sp>
          <p:nvSpPr>
            <p:cNvPr id="3" name="Freeform 3"/>
            <p:cNvSpPr/>
            <p:nvPr/>
          </p:nvSpPr>
          <p:spPr>
            <a:xfrm>
              <a:off x="0" y="0"/>
              <a:ext cx="4816592" cy="1552548"/>
            </a:xfrm>
            <a:custGeom>
              <a:avLst/>
              <a:gdLst/>
              <a:ahLst/>
              <a:cxnLst/>
              <a:rect l="l" t="t" r="r" b="b"/>
              <a:pathLst>
                <a:path w="4816592" h="1552548">
                  <a:moveTo>
                    <a:pt x="0" y="0"/>
                  </a:moveTo>
                  <a:lnTo>
                    <a:pt x="4816592" y="0"/>
                  </a:lnTo>
                  <a:lnTo>
                    <a:pt x="4816592" y="1552548"/>
                  </a:lnTo>
                  <a:lnTo>
                    <a:pt x="0" y="1552548"/>
                  </a:lnTo>
                  <a:close/>
                </a:path>
              </a:pathLst>
            </a:custGeom>
            <a:solidFill>
              <a:srgbClr val="E1EDFC"/>
            </a:solidFill>
          </p:spPr>
          <p:txBody>
            <a:bodyPr/>
            <a:lstStyle/>
            <a:p>
              <a:endParaRPr lang="en-US"/>
            </a:p>
          </p:txBody>
        </p:sp>
        <p:sp>
          <p:nvSpPr>
            <p:cNvPr id="4" name="TextBox 4"/>
            <p:cNvSpPr txBox="1"/>
            <p:nvPr/>
          </p:nvSpPr>
          <p:spPr>
            <a:xfrm>
              <a:off x="0" y="-47625"/>
              <a:ext cx="4816593" cy="1600173"/>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9441044" y="3060922"/>
            <a:ext cx="11301259" cy="5569896"/>
          </a:xfrm>
          <a:custGeom>
            <a:avLst/>
            <a:gdLst/>
            <a:ahLst/>
            <a:cxnLst/>
            <a:rect l="l" t="t" r="r" b="b"/>
            <a:pathLst>
              <a:path w="11301259" h="5569896">
                <a:moveTo>
                  <a:pt x="0" y="0"/>
                </a:moveTo>
                <a:lnTo>
                  <a:pt x="11301259" y="0"/>
                </a:lnTo>
                <a:lnTo>
                  <a:pt x="11301259" y="5569896"/>
                </a:lnTo>
                <a:lnTo>
                  <a:pt x="0" y="5569896"/>
                </a:lnTo>
                <a:lnTo>
                  <a:pt x="0" y="0"/>
                </a:lnTo>
                <a:close/>
              </a:path>
            </a:pathLst>
          </a:custGeom>
          <a:blipFill>
            <a:blip r:embed="rId2"/>
            <a:stretch>
              <a:fillRect b="-14130"/>
            </a:stretch>
          </a:blipFill>
        </p:spPr>
        <p:txBody>
          <a:bodyPr/>
          <a:lstStyle/>
          <a:p>
            <a:endParaRPr lang="en-US"/>
          </a:p>
        </p:txBody>
      </p:sp>
      <p:sp>
        <p:nvSpPr>
          <p:cNvPr id="6" name="Freeform 6"/>
          <p:cNvSpPr/>
          <p:nvPr/>
        </p:nvSpPr>
        <p:spPr>
          <a:xfrm>
            <a:off x="9441044" y="3067168"/>
            <a:ext cx="11301259" cy="5563650"/>
          </a:xfrm>
          <a:custGeom>
            <a:avLst/>
            <a:gdLst/>
            <a:ahLst/>
            <a:cxnLst/>
            <a:rect l="l" t="t" r="r" b="b"/>
            <a:pathLst>
              <a:path w="11301259" h="5563650">
                <a:moveTo>
                  <a:pt x="0" y="0"/>
                </a:moveTo>
                <a:lnTo>
                  <a:pt x="11301259" y="0"/>
                </a:lnTo>
                <a:lnTo>
                  <a:pt x="11301259" y="5563650"/>
                </a:lnTo>
                <a:lnTo>
                  <a:pt x="0" y="5563650"/>
                </a:lnTo>
                <a:lnTo>
                  <a:pt x="0" y="0"/>
                </a:lnTo>
                <a:close/>
              </a:path>
            </a:pathLst>
          </a:custGeom>
          <a:blipFill>
            <a:blip r:embed="rId3"/>
            <a:stretch>
              <a:fillRect b="-14258"/>
            </a:stretch>
          </a:blipFill>
        </p:spPr>
        <p:txBody>
          <a:bodyPr/>
          <a:lstStyle/>
          <a:p>
            <a:endParaRPr lang="en-US"/>
          </a:p>
        </p:txBody>
      </p:sp>
      <p:sp>
        <p:nvSpPr>
          <p:cNvPr id="7" name="TextBox 7"/>
          <p:cNvSpPr txBox="1"/>
          <p:nvPr/>
        </p:nvSpPr>
        <p:spPr>
          <a:xfrm>
            <a:off x="5203111" y="857250"/>
            <a:ext cx="7881777" cy="1080135"/>
          </a:xfrm>
          <a:prstGeom prst="rect">
            <a:avLst/>
          </a:prstGeom>
        </p:spPr>
        <p:txBody>
          <a:bodyPr lIns="0" tIns="0" rIns="0" bIns="0" rtlCol="0" anchor="t">
            <a:spAutoFit/>
          </a:bodyPr>
          <a:lstStyle/>
          <a:p>
            <a:pPr marL="0" lvl="0" indent="0" algn="ctr">
              <a:lnSpc>
                <a:spcPts val="7619"/>
              </a:lnSpc>
              <a:spcBef>
                <a:spcPct val="0"/>
              </a:spcBef>
            </a:pPr>
            <a:r>
              <a:rPr lang="en-US" sz="5999" b="1">
                <a:solidFill>
                  <a:srgbClr val="0E2F5F"/>
                </a:solidFill>
                <a:latin typeface="Akzidenz-Grotesk Heavy"/>
                <a:ea typeface="Akzidenz-Grotesk Heavy"/>
                <a:cs typeface="Akzidenz-Grotesk Heavy"/>
                <a:sym typeface="Akzidenz-Grotesk Heavy"/>
              </a:rPr>
              <a:t>New problem !</a:t>
            </a:r>
          </a:p>
        </p:txBody>
      </p:sp>
      <p:sp>
        <p:nvSpPr>
          <p:cNvPr id="8" name="TextBox 8"/>
          <p:cNvSpPr txBox="1"/>
          <p:nvPr/>
        </p:nvSpPr>
        <p:spPr>
          <a:xfrm>
            <a:off x="583986" y="3900865"/>
            <a:ext cx="8857058" cy="3813809"/>
          </a:xfrm>
          <a:prstGeom prst="rect">
            <a:avLst/>
          </a:prstGeom>
        </p:spPr>
        <p:txBody>
          <a:bodyPr lIns="0" tIns="0" rIns="0" bIns="0" rtlCol="0" anchor="t">
            <a:spAutoFit/>
          </a:bodyPr>
          <a:lstStyle/>
          <a:p>
            <a:pPr algn="l">
              <a:lnSpc>
                <a:spcPts val="5040"/>
              </a:lnSpc>
            </a:pPr>
            <a:r>
              <a:rPr lang="en-US" sz="3600" b="1">
                <a:solidFill>
                  <a:srgbClr val="021828"/>
                </a:solidFill>
                <a:latin typeface="Aileron Bold"/>
                <a:ea typeface="Aileron Bold"/>
                <a:cs typeface="Aileron Bold"/>
                <a:sym typeface="Aileron Bold"/>
              </a:rPr>
              <a:t>For simplicity, let's assume each comparison takes 1 microsecond each comparison and 1 microsecond to swap. So in the worst-case scenario, the sorting algorithm takes around 2 seconds each time you change the order.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898455"/>
            <a:ext cx="18288000" cy="5894830"/>
            <a:chOff x="0" y="0"/>
            <a:chExt cx="4816593" cy="1552548"/>
          </a:xfrm>
        </p:grpSpPr>
        <p:sp>
          <p:nvSpPr>
            <p:cNvPr id="3" name="Freeform 3"/>
            <p:cNvSpPr/>
            <p:nvPr/>
          </p:nvSpPr>
          <p:spPr>
            <a:xfrm>
              <a:off x="0" y="0"/>
              <a:ext cx="4816592" cy="1552548"/>
            </a:xfrm>
            <a:custGeom>
              <a:avLst/>
              <a:gdLst/>
              <a:ahLst/>
              <a:cxnLst/>
              <a:rect l="l" t="t" r="r" b="b"/>
              <a:pathLst>
                <a:path w="4816592" h="1552548">
                  <a:moveTo>
                    <a:pt x="0" y="0"/>
                  </a:moveTo>
                  <a:lnTo>
                    <a:pt x="4816592" y="0"/>
                  </a:lnTo>
                  <a:lnTo>
                    <a:pt x="4816592" y="1552548"/>
                  </a:lnTo>
                  <a:lnTo>
                    <a:pt x="0" y="1552548"/>
                  </a:lnTo>
                  <a:close/>
                </a:path>
              </a:pathLst>
            </a:custGeom>
            <a:solidFill>
              <a:srgbClr val="E1EDFC"/>
            </a:solidFill>
          </p:spPr>
          <p:txBody>
            <a:bodyPr/>
            <a:lstStyle/>
            <a:p>
              <a:endParaRPr lang="en-US"/>
            </a:p>
          </p:txBody>
        </p:sp>
        <p:sp>
          <p:nvSpPr>
            <p:cNvPr id="4" name="TextBox 4"/>
            <p:cNvSpPr txBox="1"/>
            <p:nvPr/>
          </p:nvSpPr>
          <p:spPr>
            <a:xfrm>
              <a:off x="0" y="-47625"/>
              <a:ext cx="4816593" cy="1600173"/>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9441044" y="3067050"/>
            <a:ext cx="11301259" cy="5569896"/>
          </a:xfrm>
          <a:custGeom>
            <a:avLst/>
            <a:gdLst/>
            <a:ahLst/>
            <a:cxnLst/>
            <a:rect l="l" t="t" r="r" b="b"/>
            <a:pathLst>
              <a:path w="11301259" h="5569896">
                <a:moveTo>
                  <a:pt x="0" y="0"/>
                </a:moveTo>
                <a:lnTo>
                  <a:pt x="11301259" y="0"/>
                </a:lnTo>
                <a:lnTo>
                  <a:pt x="11301259" y="5569896"/>
                </a:lnTo>
                <a:lnTo>
                  <a:pt x="0" y="5569896"/>
                </a:lnTo>
                <a:lnTo>
                  <a:pt x="0" y="0"/>
                </a:lnTo>
                <a:close/>
              </a:path>
            </a:pathLst>
          </a:custGeom>
          <a:blipFill>
            <a:blip r:embed="rId2"/>
            <a:stretch>
              <a:fillRect b="-14130"/>
            </a:stretch>
          </a:blipFill>
        </p:spPr>
        <p:txBody>
          <a:bodyPr/>
          <a:lstStyle/>
          <a:p>
            <a:endParaRPr lang="en-US"/>
          </a:p>
        </p:txBody>
      </p:sp>
      <p:sp>
        <p:nvSpPr>
          <p:cNvPr id="6" name="Freeform 6"/>
          <p:cNvSpPr/>
          <p:nvPr/>
        </p:nvSpPr>
        <p:spPr>
          <a:xfrm>
            <a:off x="9441180" y="3067050"/>
            <a:ext cx="11301259" cy="5544184"/>
          </a:xfrm>
          <a:custGeom>
            <a:avLst/>
            <a:gdLst/>
            <a:ahLst/>
            <a:cxnLst/>
            <a:rect l="l" t="t" r="r" b="b"/>
            <a:pathLst>
              <a:path w="11301259" h="5544184">
                <a:moveTo>
                  <a:pt x="0" y="0"/>
                </a:moveTo>
                <a:lnTo>
                  <a:pt x="11301259" y="0"/>
                </a:lnTo>
                <a:lnTo>
                  <a:pt x="11301259" y="5544184"/>
                </a:lnTo>
                <a:lnTo>
                  <a:pt x="0" y="5544184"/>
                </a:lnTo>
                <a:lnTo>
                  <a:pt x="0" y="0"/>
                </a:lnTo>
                <a:close/>
              </a:path>
            </a:pathLst>
          </a:custGeom>
          <a:blipFill>
            <a:blip r:embed="rId3"/>
            <a:stretch>
              <a:fillRect b="-14659"/>
            </a:stretch>
          </a:blipFill>
        </p:spPr>
        <p:txBody>
          <a:bodyPr/>
          <a:lstStyle/>
          <a:p>
            <a:endParaRPr lang="en-US"/>
          </a:p>
        </p:txBody>
      </p:sp>
      <p:sp>
        <p:nvSpPr>
          <p:cNvPr id="7" name="TextBox 7"/>
          <p:cNvSpPr txBox="1"/>
          <p:nvPr/>
        </p:nvSpPr>
        <p:spPr>
          <a:xfrm>
            <a:off x="5203111" y="857250"/>
            <a:ext cx="7881777" cy="1080135"/>
          </a:xfrm>
          <a:prstGeom prst="rect">
            <a:avLst/>
          </a:prstGeom>
        </p:spPr>
        <p:txBody>
          <a:bodyPr lIns="0" tIns="0" rIns="0" bIns="0" rtlCol="0" anchor="t">
            <a:spAutoFit/>
          </a:bodyPr>
          <a:lstStyle/>
          <a:p>
            <a:pPr marL="0" lvl="0" indent="0" algn="ctr">
              <a:lnSpc>
                <a:spcPts val="7619"/>
              </a:lnSpc>
              <a:spcBef>
                <a:spcPct val="0"/>
              </a:spcBef>
            </a:pPr>
            <a:r>
              <a:rPr lang="en-US" sz="5999" b="1">
                <a:solidFill>
                  <a:srgbClr val="0E2F5F"/>
                </a:solidFill>
                <a:latin typeface="Akzidenz-Grotesk Heavy"/>
                <a:ea typeface="Akzidenz-Grotesk Heavy"/>
                <a:cs typeface="Akzidenz-Grotesk Heavy"/>
                <a:sym typeface="Akzidenz-Grotesk Heavy"/>
              </a:rPr>
              <a:t>New problem !</a:t>
            </a:r>
          </a:p>
        </p:txBody>
      </p:sp>
      <p:sp>
        <p:nvSpPr>
          <p:cNvPr id="8" name="TextBox 8"/>
          <p:cNvSpPr txBox="1"/>
          <p:nvPr/>
        </p:nvSpPr>
        <p:spPr>
          <a:xfrm>
            <a:off x="583986" y="4864256"/>
            <a:ext cx="8857058" cy="1899284"/>
          </a:xfrm>
          <a:prstGeom prst="rect">
            <a:avLst/>
          </a:prstGeom>
        </p:spPr>
        <p:txBody>
          <a:bodyPr lIns="0" tIns="0" rIns="0" bIns="0" rtlCol="0" anchor="t">
            <a:spAutoFit/>
          </a:bodyPr>
          <a:lstStyle/>
          <a:p>
            <a:pPr algn="l">
              <a:lnSpc>
                <a:spcPts val="5040"/>
              </a:lnSpc>
            </a:pPr>
            <a:r>
              <a:rPr lang="en-US" sz="3600" b="1">
                <a:solidFill>
                  <a:srgbClr val="021828"/>
                </a:solidFill>
                <a:latin typeface="Aileron Bold"/>
                <a:ea typeface="Aileron Bold"/>
                <a:cs typeface="Aileron Bold"/>
                <a:sym typeface="Aileron Bold"/>
              </a:rPr>
              <a:t>2 seconds is too much for you to spam to alleviate your boredom! That makes you frustrated!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898455"/>
            <a:ext cx="18288000" cy="5894830"/>
            <a:chOff x="0" y="0"/>
            <a:chExt cx="4816593" cy="1552548"/>
          </a:xfrm>
        </p:grpSpPr>
        <p:sp>
          <p:nvSpPr>
            <p:cNvPr id="3" name="Freeform 3"/>
            <p:cNvSpPr/>
            <p:nvPr/>
          </p:nvSpPr>
          <p:spPr>
            <a:xfrm>
              <a:off x="0" y="0"/>
              <a:ext cx="4816592" cy="1552548"/>
            </a:xfrm>
            <a:custGeom>
              <a:avLst/>
              <a:gdLst/>
              <a:ahLst/>
              <a:cxnLst/>
              <a:rect l="l" t="t" r="r" b="b"/>
              <a:pathLst>
                <a:path w="4816592" h="1552548">
                  <a:moveTo>
                    <a:pt x="0" y="0"/>
                  </a:moveTo>
                  <a:lnTo>
                    <a:pt x="4816592" y="0"/>
                  </a:lnTo>
                  <a:lnTo>
                    <a:pt x="4816592" y="1552548"/>
                  </a:lnTo>
                  <a:lnTo>
                    <a:pt x="0" y="1552548"/>
                  </a:lnTo>
                  <a:close/>
                </a:path>
              </a:pathLst>
            </a:custGeom>
            <a:solidFill>
              <a:srgbClr val="E1EDFC"/>
            </a:solidFill>
          </p:spPr>
          <p:txBody>
            <a:bodyPr/>
            <a:lstStyle/>
            <a:p>
              <a:endParaRPr lang="en-US"/>
            </a:p>
          </p:txBody>
        </p:sp>
        <p:sp>
          <p:nvSpPr>
            <p:cNvPr id="4" name="TextBox 4"/>
            <p:cNvSpPr txBox="1"/>
            <p:nvPr/>
          </p:nvSpPr>
          <p:spPr>
            <a:xfrm>
              <a:off x="0" y="-47625"/>
              <a:ext cx="4816593" cy="1600173"/>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9441044" y="3067050"/>
            <a:ext cx="11301259" cy="5569896"/>
          </a:xfrm>
          <a:custGeom>
            <a:avLst/>
            <a:gdLst/>
            <a:ahLst/>
            <a:cxnLst/>
            <a:rect l="l" t="t" r="r" b="b"/>
            <a:pathLst>
              <a:path w="11301259" h="5569896">
                <a:moveTo>
                  <a:pt x="0" y="0"/>
                </a:moveTo>
                <a:lnTo>
                  <a:pt x="11301259" y="0"/>
                </a:lnTo>
                <a:lnTo>
                  <a:pt x="11301259" y="5569896"/>
                </a:lnTo>
                <a:lnTo>
                  <a:pt x="0" y="5569896"/>
                </a:lnTo>
                <a:lnTo>
                  <a:pt x="0" y="0"/>
                </a:lnTo>
                <a:close/>
              </a:path>
            </a:pathLst>
          </a:custGeom>
          <a:blipFill>
            <a:blip r:embed="rId2"/>
            <a:stretch>
              <a:fillRect b="-14130"/>
            </a:stretch>
          </a:blipFill>
        </p:spPr>
        <p:txBody>
          <a:bodyPr/>
          <a:lstStyle/>
          <a:p>
            <a:endParaRPr lang="en-US"/>
          </a:p>
        </p:txBody>
      </p:sp>
      <p:sp>
        <p:nvSpPr>
          <p:cNvPr id="6" name="Freeform 6"/>
          <p:cNvSpPr/>
          <p:nvPr/>
        </p:nvSpPr>
        <p:spPr>
          <a:xfrm>
            <a:off x="9441044" y="3067050"/>
            <a:ext cx="11301259" cy="6356958"/>
          </a:xfrm>
          <a:custGeom>
            <a:avLst/>
            <a:gdLst/>
            <a:ahLst/>
            <a:cxnLst/>
            <a:rect l="l" t="t" r="r" b="b"/>
            <a:pathLst>
              <a:path w="11301259" h="6356958">
                <a:moveTo>
                  <a:pt x="0" y="0"/>
                </a:moveTo>
                <a:lnTo>
                  <a:pt x="11301259" y="0"/>
                </a:lnTo>
                <a:lnTo>
                  <a:pt x="11301259" y="6356958"/>
                </a:lnTo>
                <a:lnTo>
                  <a:pt x="0" y="6356958"/>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5203111" y="857250"/>
            <a:ext cx="7881777" cy="1080135"/>
          </a:xfrm>
          <a:prstGeom prst="rect">
            <a:avLst/>
          </a:prstGeom>
        </p:spPr>
        <p:txBody>
          <a:bodyPr lIns="0" tIns="0" rIns="0" bIns="0" rtlCol="0" anchor="t">
            <a:spAutoFit/>
          </a:bodyPr>
          <a:lstStyle/>
          <a:p>
            <a:pPr marL="0" lvl="0" indent="0" algn="ctr">
              <a:lnSpc>
                <a:spcPts val="7619"/>
              </a:lnSpc>
              <a:spcBef>
                <a:spcPct val="0"/>
              </a:spcBef>
            </a:pPr>
            <a:r>
              <a:rPr lang="en-US" sz="5999" b="1">
                <a:solidFill>
                  <a:srgbClr val="0E2F5F"/>
                </a:solidFill>
                <a:latin typeface="Akzidenz-Grotesk Heavy"/>
                <a:ea typeface="Akzidenz-Grotesk Heavy"/>
                <a:cs typeface="Akzidenz-Grotesk Heavy"/>
                <a:sym typeface="Akzidenz-Grotesk Heavy"/>
              </a:rPr>
              <a:t>New problem !</a:t>
            </a:r>
          </a:p>
        </p:txBody>
      </p:sp>
      <p:sp>
        <p:nvSpPr>
          <p:cNvPr id="8" name="TextBox 8"/>
          <p:cNvSpPr txBox="1"/>
          <p:nvPr/>
        </p:nvSpPr>
        <p:spPr>
          <a:xfrm>
            <a:off x="583986" y="3900865"/>
            <a:ext cx="8857058" cy="3813809"/>
          </a:xfrm>
          <a:prstGeom prst="rect">
            <a:avLst/>
          </a:prstGeom>
        </p:spPr>
        <p:txBody>
          <a:bodyPr lIns="0" tIns="0" rIns="0" bIns="0" rtlCol="0" anchor="t">
            <a:spAutoFit/>
          </a:bodyPr>
          <a:lstStyle/>
          <a:p>
            <a:pPr algn="l">
              <a:lnSpc>
                <a:spcPts val="5040"/>
              </a:lnSpc>
            </a:pPr>
            <a:r>
              <a:rPr lang="en-US" sz="3600" b="1">
                <a:solidFill>
                  <a:srgbClr val="021828"/>
                </a:solidFill>
                <a:latin typeface="Aileron Bold"/>
                <a:ea typeface="Aileron Bold"/>
                <a:cs typeface="Aileron Bold"/>
                <a:sym typeface="Aileron Bold"/>
              </a:rPr>
              <a:t>Furthermore, the music app does not serve only you, it serves millions of people! The server may crash if you just sort the collection everytime the user wants. What is more, not all orders use the same data structure!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5083738" y="4900126"/>
            <a:ext cx="9299815" cy="0"/>
          </a:xfrm>
          <a:prstGeom prst="line">
            <a:avLst/>
          </a:prstGeom>
          <a:ln w="38100" cap="flat">
            <a:solidFill>
              <a:srgbClr val="5188CC"/>
            </a:solidFill>
            <a:prstDash val="solid"/>
            <a:headEnd type="none" w="sm" len="sm"/>
            <a:tailEnd type="none" w="sm" len="sm"/>
          </a:ln>
        </p:spPr>
        <p:txBody>
          <a:bodyPr/>
          <a:lstStyle/>
          <a:p>
            <a:endParaRPr lang="en-US"/>
          </a:p>
        </p:txBody>
      </p:sp>
      <p:grpSp>
        <p:nvGrpSpPr>
          <p:cNvPr id="3" name="Group 3"/>
          <p:cNvGrpSpPr/>
          <p:nvPr/>
        </p:nvGrpSpPr>
        <p:grpSpPr>
          <a:xfrm>
            <a:off x="4044420" y="7058809"/>
            <a:ext cx="3919098" cy="2199491"/>
            <a:chOff x="0" y="0"/>
            <a:chExt cx="607171" cy="340759"/>
          </a:xfrm>
        </p:grpSpPr>
        <p:sp>
          <p:nvSpPr>
            <p:cNvPr id="4" name="Freeform 4"/>
            <p:cNvSpPr/>
            <p:nvPr/>
          </p:nvSpPr>
          <p:spPr>
            <a:xfrm>
              <a:off x="0" y="0"/>
              <a:ext cx="607171" cy="340759"/>
            </a:xfrm>
            <a:custGeom>
              <a:avLst/>
              <a:gdLst/>
              <a:ahLst/>
              <a:cxnLst/>
              <a:rect l="l" t="t" r="r" b="b"/>
              <a:pathLst>
                <a:path w="607171" h="340759">
                  <a:moveTo>
                    <a:pt x="31607" y="0"/>
                  </a:moveTo>
                  <a:lnTo>
                    <a:pt x="575564" y="0"/>
                  </a:lnTo>
                  <a:cubicBezTo>
                    <a:pt x="583947" y="0"/>
                    <a:pt x="591986" y="3330"/>
                    <a:pt x="597913" y="9257"/>
                  </a:cubicBezTo>
                  <a:cubicBezTo>
                    <a:pt x="603841" y="15185"/>
                    <a:pt x="607171" y="23224"/>
                    <a:pt x="607171" y="31607"/>
                  </a:cubicBezTo>
                  <a:lnTo>
                    <a:pt x="607171" y="309152"/>
                  </a:lnTo>
                  <a:cubicBezTo>
                    <a:pt x="607171" y="317535"/>
                    <a:pt x="603841" y="325574"/>
                    <a:pt x="597913" y="331501"/>
                  </a:cubicBezTo>
                  <a:cubicBezTo>
                    <a:pt x="591986" y="337429"/>
                    <a:pt x="583947" y="340759"/>
                    <a:pt x="575564" y="340759"/>
                  </a:cubicBezTo>
                  <a:lnTo>
                    <a:pt x="31607" y="340759"/>
                  </a:lnTo>
                  <a:cubicBezTo>
                    <a:pt x="14151" y="340759"/>
                    <a:pt x="0" y="326608"/>
                    <a:pt x="0" y="309152"/>
                  </a:cubicBezTo>
                  <a:lnTo>
                    <a:pt x="0" y="31607"/>
                  </a:lnTo>
                  <a:cubicBezTo>
                    <a:pt x="0" y="23224"/>
                    <a:pt x="3330" y="15185"/>
                    <a:pt x="9257" y="9257"/>
                  </a:cubicBezTo>
                  <a:cubicBezTo>
                    <a:pt x="15185" y="3330"/>
                    <a:pt x="23224" y="0"/>
                    <a:pt x="31607" y="0"/>
                  </a:cubicBezTo>
                  <a:close/>
                </a:path>
              </a:pathLst>
            </a:custGeom>
            <a:blipFill>
              <a:blip r:embed="rId2"/>
              <a:stretch>
                <a:fillRect t="-9356" b="-9356"/>
              </a:stretch>
            </a:blipFill>
          </p:spPr>
          <p:txBody>
            <a:bodyPr/>
            <a:lstStyle/>
            <a:p>
              <a:endParaRPr lang="en-US"/>
            </a:p>
          </p:txBody>
        </p:sp>
      </p:grpSp>
      <p:grpSp>
        <p:nvGrpSpPr>
          <p:cNvPr id="5" name="Group 5"/>
          <p:cNvGrpSpPr/>
          <p:nvPr/>
        </p:nvGrpSpPr>
        <p:grpSpPr>
          <a:xfrm>
            <a:off x="8692311" y="7059123"/>
            <a:ext cx="3919098" cy="2199491"/>
            <a:chOff x="0" y="0"/>
            <a:chExt cx="607171" cy="340759"/>
          </a:xfrm>
        </p:grpSpPr>
        <p:sp>
          <p:nvSpPr>
            <p:cNvPr id="6" name="Freeform 6"/>
            <p:cNvSpPr/>
            <p:nvPr/>
          </p:nvSpPr>
          <p:spPr>
            <a:xfrm>
              <a:off x="0" y="0"/>
              <a:ext cx="607171" cy="340759"/>
            </a:xfrm>
            <a:custGeom>
              <a:avLst/>
              <a:gdLst/>
              <a:ahLst/>
              <a:cxnLst/>
              <a:rect l="l" t="t" r="r" b="b"/>
              <a:pathLst>
                <a:path w="607171" h="340759">
                  <a:moveTo>
                    <a:pt x="31607" y="0"/>
                  </a:moveTo>
                  <a:lnTo>
                    <a:pt x="575564" y="0"/>
                  </a:lnTo>
                  <a:cubicBezTo>
                    <a:pt x="583947" y="0"/>
                    <a:pt x="591986" y="3330"/>
                    <a:pt x="597913" y="9257"/>
                  </a:cubicBezTo>
                  <a:cubicBezTo>
                    <a:pt x="603841" y="15185"/>
                    <a:pt x="607171" y="23224"/>
                    <a:pt x="607171" y="31607"/>
                  </a:cubicBezTo>
                  <a:lnTo>
                    <a:pt x="607171" y="309152"/>
                  </a:lnTo>
                  <a:cubicBezTo>
                    <a:pt x="607171" y="317535"/>
                    <a:pt x="603841" y="325574"/>
                    <a:pt x="597913" y="331501"/>
                  </a:cubicBezTo>
                  <a:cubicBezTo>
                    <a:pt x="591986" y="337429"/>
                    <a:pt x="583947" y="340759"/>
                    <a:pt x="575564" y="340759"/>
                  </a:cubicBezTo>
                  <a:lnTo>
                    <a:pt x="31607" y="340759"/>
                  </a:lnTo>
                  <a:cubicBezTo>
                    <a:pt x="14151" y="340759"/>
                    <a:pt x="0" y="326608"/>
                    <a:pt x="0" y="309152"/>
                  </a:cubicBezTo>
                  <a:lnTo>
                    <a:pt x="0" y="31607"/>
                  </a:lnTo>
                  <a:cubicBezTo>
                    <a:pt x="0" y="23224"/>
                    <a:pt x="3330" y="15185"/>
                    <a:pt x="9257" y="9257"/>
                  </a:cubicBezTo>
                  <a:cubicBezTo>
                    <a:pt x="15185" y="3330"/>
                    <a:pt x="23224" y="0"/>
                    <a:pt x="31607" y="0"/>
                  </a:cubicBezTo>
                  <a:close/>
                </a:path>
              </a:pathLst>
            </a:custGeom>
            <a:blipFill>
              <a:blip r:embed="rId3"/>
              <a:stretch>
                <a:fillRect l="-7919" b="-44219"/>
              </a:stretch>
            </a:blipFill>
          </p:spPr>
          <p:txBody>
            <a:bodyPr/>
            <a:lstStyle/>
            <a:p>
              <a:endParaRPr lang="en-US"/>
            </a:p>
          </p:txBody>
        </p:sp>
      </p:grpSp>
      <p:grpSp>
        <p:nvGrpSpPr>
          <p:cNvPr id="7" name="Group 7"/>
          <p:cNvGrpSpPr/>
          <p:nvPr/>
        </p:nvGrpSpPr>
        <p:grpSpPr>
          <a:xfrm>
            <a:off x="13340202" y="7059437"/>
            <a:ext cx="3919098" cy="2199491"/>
            <a:chOff x="0" y="0"/>
            <a:chExt cx="607171" cy="340759"/>
          </a:xfrm>
        </p:grpSpPr>
        <p:sp>
          <p:nvSpPr>
            <p:cNvPr id="8" name="Freeform 8"/>
            <p:cNvSpPr/>
            <p:nvPr/>
          </p:nvSpPr>
          <p:spPr>
            <a:xfrm>
              <a:off x="0" y="0"/>
              <a:ext cx="607171" cy="340759"/>
            </a:xfrm>
            <a:custGeom>
              <a:avLst/>
              <a:gdLst/>
              <a:ahLst/>
              <a:cxnLst/>
              <a:rect l="l" t="t" r="r" b="b"/>
              <a:pathLst>
                <a:path w="607171" h="340759">
                  <a:moveTo>
                    <a:pt x="31607" y="0"/>
                  </a:moveTo>
                  <a:lnTo>
                    <a:pt x="575564" y="0"/>
                  </a:lnTo>
                  <a:cubicBezTo>
                    <a:pt x="583947" y="0"/>
                    <a:pt x="591986" y="3330"/>
                    <a:pt x="597913" y="9257"/>
                  </a:cubicBezTo>
                  <a:cubicBezTo>
                    <a:pt x="603841" y="15185"/>
                    <a:pt x="607171" y="23224"/>
                    <a:pt x="607171" y="31607"/>
                  </a:cubicBezTo>
                  <a:lnTo>
                    <a:pt x="607171" y="309152"/>
                  </a:lnTo>
                  <a:cubicBezTo>
                    <a:pt x="607171" y="317535"/>
                    <a:pt x="603841" y="325574"/>
                    <a:pt x="597913" y="331501"/>
                  </a:cubicBezTo>
                  <a:cubicBezTo>
                    <a:pt x="591986" y="337429"/>
                    <a:pt x="583947" y="340759"/>
                    <a:pt x="575564" y="340759"/>
                  </a:cubicBezTo>
                  <a:lnTo>
                    <a:pt x="31607" y="340759"/>
                  </a:lnTo>
                  <a:cubicBezTo>
                    <a:pt x="14151" y="340759"/>
                    <a:pt x="0" y="326608"/>
                    <a:pt x="0" y="309152"/>
                  </a:cubicBezTo>
                  <a:lnTo>
                    <a:pt x="0" y="31607"/>
                  </a:lnTo>
                  <a:cubicBezTo>
                    <a:pt x="0" y="23224"/>
                    <a:pt x="3330" y="15185"/>
                    <a:pt x="9257" y="9257"/>
                  </a:cubicBezTo>
                  <a:cubicBezTo>
                    <a:pt x="15185" y="3330"/>
                    <a:pt x="23224" y="0"/>
                    <a:pt x="31607" y="0"/>
                  </a:cubicBezTo>
                  <a:close/>
                </a:path>
              </a:pathLst>
            </a:custGeom>
            <a:blipFill>
              <a:blip r:embed="rId4"/>
              <a:stretch>
                <a:fillRect t="-16818" b="-16818"/>
              </a:stretch>
            </a:blipFill>
          </p:spPr>
          <p:txBody>
            <a:bodyPr/>
            <a:lstStyle/>
            <a:p>
              <a:endParaRPr lang="en-US"/>
            </a:p>
          </p:txBody>
        </p:sp>
      </p:grpSp>
      <p:grpSp>
        <p:nvGrpSpPr>
          <p:cNvPr id="9" name="Group 9"/>
          <p:cNvGrpSpPr/>
          <p:nvPr/>
        </p:nvGrpSpPr>
        <p:grpSpPr>
          <a:xfrm>
            <a:off x="-394817" y="2782372"/>
            <a:ext cx="3353620" cy="5894830"/>
            <a:chOff x="0" y="0"/>
            <a:chExt cx="883258" cy="1552548"/>
          </a:xfrm>
        </p:grpSpPr>
        <p:sp>
          <p:nvSpPr>
            <p:cNvPr id="10" name="Freeform 10"/>
            <p:cNvSpPr/>
            <p:nvPr/>
          </p:nvSpPr>
          <p:spPr>
            <a:xfrm>
              <a:off x="0" y="0"/>
              <a:ext cx="883258" cy="1552548"/>
            </a:xfrm>
            <a:custGeom>
              <a:avLst/>
              <a:gdLst/>
              <a:ahLst/>
              <a:cxnLst/>
              <a:rect l="l" t="t" r="r" b="b"/>
              <a:pathLst>
                <a:path w="883258" h="1552548">
                  <a:moveTo>
                    <a:pt x="136203" y="0"/>
                  </a:moveTo>
                  <a:lnTo>
                    <a:pt x="747055" y="0"/>
                  </a:lnTo>
                  <a:cubicBezTo>
                    <a:pt x="822278" y="0"/>
                    <a:pt x="883258" y="60980"/>
                    <a:pt x="883258" y="136203"/>
                  </a:cubicBezTo>
                  <a:lnTo>
                    <a:pt x="883258" y="1416345"/>
                  </a:lnTo>
                  <a:cubicBezTo>
                    <a:pt x="883258" y="1452468"/>
                    <a:pt x="868908" y="1487112"/>
                    <a:pt x="843365" y="1512655"/>
                  </a:cubicBezTo>
                  <a:cubicBezTo>
                    <a:pt x="817822" y="1538198"/>
                    <a:pt x="783178" y="1552548"/>
                    <a:pt x="747055" y="1552548"/>
                  </a:cubicBezTo>
                  <a:lnTo>
                    <a:pt x="136203" y="1552548"/>
                  </a:lnTo>
                  <a:cubicBezTo>
                    <a:pt x="100080" y="1552548"/>
                    <a:pt x="65436" y="1538198"/>
                    <a:pt x="39893" y="1512655"/>
                  </a:cubicBezTo>
                  <a:cubicBezTo>
                    <a:pt x="14350" y="1487112"/>
                    <a:pt x="0" y="1452468"/>
                    <a:pt x="0" y="1416345"/>
                  </a:cubicBezTo>
                  <a:lnTo>
                    <a:pt x="0" y="136203"/>
                  </a:lnTo>
                  <a:cubicBezTo>
                    <a:pt x="0" y="100080"/>
                    <a:pt x="14350" y="65436"/>
                    <a:pt x="39893" y="39893"/>
                  </a:cubicBezTo>
                  <a:cubicBezTo>
                    <a:pt x="65436" y="14350"/>
                    <a:pt x="100080" y="0"/>
                    <a:pt x="136203" y="0"/>
                  </a:cubicBezTo>
                  <a:close/>
                </a:path>
              </a:pathLst>
            </a:custGeom>
            <a:solidFill>
              <a:srgbClr val="E1EDFC"/>
            </a:solidFill>
            <a:ln cap="rnd">
              <a:noFill/>
              <a:prstDash val="solid"/>
              <a:round/>
            </a:ln>
          </p:spPr>
          <p:txBody>
            <a:bodyPr/>
            <a:lstStyle/>
            <a:p>
              <a:endParaRPr lang="en-US"/>
            </a:p>
          </p:txBody>
        </p:sp>
        <p:sp>
          <p:nvSpPr>
            <p:cNvPr id="11" name="TextBox 11"/>
            <p:cNvSpPr txBox="1"/>
            <p:nvPr/>
          </p:nvSpPr>
          <p:spPr>
            <a:xfrm>
              <a:off x="0" y="-47625"/>
              <a:ext cx="883258" cy="1600173"/>
            </a:xfrm>
            <a:prstGeom prst="rect">
              <a:avLst/>
            </a:prstGeom>
          </p:spPr>
          <p:txBody>
            <a:bodyPr lIns="50800" tIns="50800" rIns="50800" bIns="50800" rtlCol="0" anchor="ctr"/>
            <a:lstStyle/>
            <a:p>
              <a:pPr marL="0" lvl="0" indent="0" algn="ctr">
                <a:lnSpc>
                  <a:spcPts val="2800"/>
                </a:lnSpc>
                <a:spcBef>
                  <a:spcPct val="0"/>
                </a:spcBef>
              </a:pPr>
              <a:endParaRPr/>
            </a:p>
          </p:txBody>
        </p:sp>
      </p:grpSp>
      <p:sp>
        <p:nvSpPr>
          <p:cNvPr id="12" name="Freeform 12"/>
          <p:cNvSpPr/>
          <p:nvPr/>
        </p:nvSpPr>
        <p:spPr>
          <a:xfrm>
            <a:off x="4044420" y="-1848214"/>
            <a:ext cx="3691868" cy="3691868"/>
          </a:xfrm>
          <a:custGeom>
            <a:avLst/>
            <a:gdLst/>
            <a:ahLst/>
            <a:cxnLst/>
            <a:rect l="l" t="t" r="r" b="b"/>
            <a:pathLst>
              <a:path w="3691868" h="3691868">
                <a:moveTo>
                  <a:pt x="0" y="0"/>
                </a:moveTo>
                <a:lnTo>
                  <a:pt x="3691867" y="0"/>
                </a:lnTo>
                <a:lnTo>
                  <a:pt x="3691867" y="3691868"/>
                </a:lnTo>
                <a:lnTo>
                  <a:pt x="0" y="369186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Freeform 13"/>
          <p:cNvSpPr/>
          <p:nvPr/>
        </p:nvSpPr>
        <p:spPr>
          <a:xfrm>
            <a:off x="3396943" y="1028700"/>
            <a:ext cx="647477" cy="647477"/>
          </a:xfrm>
          <a:custGeom>
            <a:avLst/>
            <a:gdLst/>
            <a:ahLst/>
            <a:cxnLst/>
            <a:rect l="l" t="t" r="r" b="b"/>
            <a:pathLst>
              <a:path w="647477" h="647477">
                <a:moveTo>
                  <a:pt x="0" y="0"/>
                </a:moveTo>
                <a:lnTo>
                  <a:pt x="647477" y="0"/>
                </a:lnTo>
                <a:lnTo>
                  <a:pt x="647477" y="647477"/>
                </a:lnTo>
                <a:lnTo>
                  <a:pt x="0" y="6474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14" name="Group 14"/>
          <p:cNvGrpSpPr>
            <a:grpSpLocks noChangeAspect="1"/>
          </p:cNvGrpSpPr>
          <p:nvPr/>
        </p:nvGrpSpPr>
        <p:grpSpPr>
          <a:xfrm>
            <a:off x="4044420" y="4364129"/>
            <a:ext cx="1102173" cy="1558743"/>
            <a:chOff x="0" y="0"/>
            <a:chExt cx="7560310" cy="10692130"/>
          </a:xfrm>
        </p:grpSpPr>
        <p:sp>
          <p:nvSpPr>
            <p:cNvPr id="15" name="Freeform 15"/>
            <p:cNvSpPr/>
            <p:nvPr/>
          </p:nvSpPr>
          <p:spPr>
            <a:xfrm>
              <a:off x="133350" y="7620"/>
              <a:ext cx="7289800" cy="10683241"/>
            </a:xfrm>
            <a:custGeom>
              <a:avLst/>
              <a:gdLst/>
              <a:ahLst/>
              <a:cxnLst/>
              <a:rect l="l" t="t" r="r" b="b"/>
              <a:pathLst>
                <a:path w="7289800" h="10683241">
                  <a:moveTo>
                    <a:pt x="3644900" y="0"/>
                  </a:moveTo>
                  <a:cubicBezTo>
                    <a:pt x="1631950" y="0"/>
                    <a:pt x="0" y="1631950"/>
                    <a:pt x="0" y="3644900"/>
                  </a:cubicBezTo>
                  <a:cubicBezTo>
                    <a:pt x="0" y="5055870"/>
                    <a:pt x="802640" y="6278880"/>
                    <a:pt x="1974850" y="6884670"/>
                  </a:cubicBezTo>
                  <a:lnTo>
                    <a:pt x="1974850" y="9013191"/>
                  </a:lnTo>
                  <a:lnTo>
                    <a:pt x="3644900" y="10683241"/>
                  </a:lnTo>
                  <a:lnTo>
                    <a:pt x="5314950" y="9013190"/>
                  </a:lnTo>
                  <a:lnTo>
                    <a:pt x="5314950" y="6884670"/>
                  </a:lnTo>
                  <a:cubicBezTo>
                    <a:pt x="6488430" y="6278880"/>
                    <a:pt x="7289800" y="5055870"/>
                    <a:pt x="7289800" y="3644900"/>
                  </a:cubicBezTo>
                  <a:cubicBezTo>
                    <a:pt x="7289800" y="1631950"/>
                    <a:pt x="5657850" y="0"/>
                    <a:pt x="3644900" y="0"/>
                  </a:cubicBezTo>
                  <a:close/>
                </a:path>
              </a:pathLst>
            </a:custGeom>
            <a:solidFill>
              <a:srgbClr val="0E2F5F"/>
            </a:solidFill>
          </p:spPr>
          <p:txBody>
            <a:bodyPr/>
            <a:lstStyle/>
            <a:p>
              <a:endParaRPr lang="en-US"/>
            </a:p>
          </p:txBody>
        </p:sp>
        <p:sp>
          <p:nvSpPr>
            <p:cNvPr id="16" name="Freeform 16"/>
            <p:cNvSpPr/>
            <p:nvPr/>
          </p:nvSpPr>
          <p:spPr>
            <a:xfrm>
              <a:off x="892810" y="767080"/>
              <a:ext cx="5770880" cy="5770880"/>
            </a:xfrm>
            <a:custGeom>
              <a:avLst/>
              <a:gdLst/>
              <a:ahLst/>
              <a:cxnLst/>
              <a:rect l="l" t="t" r="r" b="b"/>
              <a:pathLst>
                <a:path w="5770880" h="5770880">
                  <a:moveTo>
                    <a:pt x="5770880" y="2885440"/>
                  </a:moveTo>
                  <a:cubicBezTo>
                    <a:pt x="5770880" y="4479290"/>
                    <a:pt x="4479290" y="5770880"/>
                    <a:pt x="2885440" y="5770880"/>
                  </a:cubicBezTo>
                  <a:cubicBezTo>
                    <a:pt x="1291590" y="5770880"/>
                    <a:pt x="0" y="4479290"/>
                    <a:pt x="0" y="2885440"/>
                  </a:cubicBezTo>
                  <a:cubicBezTo>
                    <a:pt x="0" y="1291590"/>
                    <a:pt x="1291590" y="0"/>
                    <a:pt x="2885440" y="0"/>
                  </a:cubicBezTo>
                  <a:cubicBezTo>
                    <a:pt x="4479290" y="0"/>
                    <a:pt x="5770880" y="1291590"/>
                    <a:pt x="5770880" y="2885440"/>
                  </a:cubicBezTo>
                  <a:close/>
                </a:path>
              </a:pathLst>
            </a:custGeom>
            <a:blipFill>
              <a:blip r:embed="rId9"/>
              <a:stretch>
                <a:fillRect/>
              </a:stretch>
            </a:blipFill>
          </p:spPr>
          <p:txBody>
            <a:bodyPr/>
            <a:lstStyle/>
            <a:p>
              <a:endParaRPr lang="en-US"/>
            </a:p>
          </p:txBody>
        </p:sp>
      </p:grpSp>
      <p:sp>
        <p:nvSpPr>
          <p:cNvPr id="17" name="TextBox 17"/>
          <p:cNvSpPr txBox="1"/>
          <p:nvPr/>
        </p:nvSpPr>
        <p:spPr>
          <a:xfrm>
            <a:off x="8692311" y="5985975"/>
            <a:ext cx="3919098" cy="701673"/>
          </a:xfrm>
          <a:prstGeom prst="rect">
            <a:avLst/>
          </a:prstGeom>
        </p:spPr>
        <p:txBody>
          <a:bodyPr lIns="0" tIns="0" rIns="0" bIns="0" rtlCol="0" anchor="t">
            <a:spAutoFit/>
          </a:bodyPr>
          <a:lstStyle/>
          <a:p>
            <a:pPr algn="just">
              <a:lnSpc>
                <a:spcPts val="2800"/>
              </a:lnSpc>
            </a:pPr>
            <a:r>
              <a:rPr lang="en-US" sz="2000" b="1">
                <a:solidFill>
                  <a:srgbClr val="0E2F5F"/>
                </a:solidFill>
                <a:latin typeface="Aileron Ultra-Bold"/>
                <a:ea typeface="Aileron Ultra-Bold"/>
                <a:cs typeface="Aileron Ultra-Bold"/>
                <a:sym typeface="Aileron Ultra-Bold"/>
              </a:rPr>
              <a:t>If they want length order, give them length iterator</a:t>
            </a:r>
          </a:p>
        </p:txBody>
      </p:sp>
      <p:grpSp>
        <p:nvGrpSpPr>
          <p:cNvPr id="18" name="Group 18"/>
          <p:cNvGrpSpPr>
            <a:grpSpLocks noChangeAspect="1"/>
          </p:cNvGrpSpPr>
          <p:nvPr/>
        </p:nvGrpSpPr>
        <p:grpSpPr>
          <a:xfrm>
            <a:off x="8692311" y="4364129"/>
            <a:ext cx="1102173" cy="1558743"/>
            <a:chOff x="0" y="0"/>
            <a:chExt cx="7560310" cy="10692130"/>
          </a:xfrm>
        </p:grpSpPr>
        <p:sp>
          <p:nvSpPr>
            <p:cNvPr id="19" name="Freeform 19"/>
            <p:cNvSpPr/>
            <p:nvPr/>
          </p:nvSpPr>
          <p:spPr>
            <a:xfrm>
              <a:off x="133350" y="7620"/>
              <a:ext cx="7289800" cy="10683241"/>
            </a:xfrm>
            <a:custGeom>
              <a:avLst/>
              <a:gdLst/>
              <a:ahLst/>
              <a:cxnLst/>
              <a:rect l="l" t="t" r="r" b="b"/>
              <a:pathLst>
                <a:path w="7289800" h="10683241">
                  <a:moveTo>
                    <a:pt x="3644900" y="0"/>
                  </a:moveTo>
                  <a:cubicBezTo>
                    <a:pt x="1631950" y="0"/>
                    <a:pt x="0" y="1631950"/>
                    <a:pt x="0" y="3644900"/>
                  </a:cubicBezTo>
                  <a:cubicBezTo>
                    <a:pt x="0" y="5055870"/>
                    <a:pt x="802640" y="6278880"/>
                    <a:pt x="1974850" y="6884670"/>
                  </a:cubicBezTo>
                  <a:lnTo>
                    <a:pt x="1974850" y="9013191"/>
                  </a:lnTo>
                  <a:lnTo>
                    <a:pt x="3644900" y="10683241"/>
                  </a:lnTo>
                  <a:lnTo>
                    <a:pt x="5314950" y="9013190"/>
                  </a:lnTo>
                  <a:lnTo>
                    <a:pt x="5314950" y="6884670"/>
                  </a:lnTo>
                  <a:cubicBezTo>
                    <a:pt x="6488430" y="6278880"/>
                    <a:pt x="7289800" y="5055870"/>
                    <a:pt x="7289800" y="3644900"/>
                  </a:cubicBezTo>
                  <a:cubicBezTo>
                    <a:pt x="7289800" y="1631950"/>
                    <a:pt x="5657850" y="0"/>
                    <a:pt x="3644900" y="0"/>
                  </a:cubicBezTo>
                  <a:close/>
                </a:path>
              </a:pathLst>
            </a:custGeom>
            <a:solidFill>
              <a:srgbClr val="0E2F5F"/>
            </a:solidFill>
          </p:spPr>
          <p:txBody>
            <a:bodyPr/>
            <a:lstStyle/>
            <a:p>
              <a:endParaRPr lang="en-US"/>
            </a:p>
          </p:txBody>
        </p:sp>
        <p:sp>
          <p:nvSpPr>
            <p:cNvPr id="20" name="Freeform 20"/>
            <p:cNvSpPr/>
            <p:nvPr/>
          </p:nvSpPr>
          <p:spPr>
            <a:xfrm>
              <a:off x="892810" y="767080"/>
              <a:ext cx="5770880" cy="5770880"/>
            </a:xfrm>
            <a:custGeom>
              <a:avLst/>
              <a:gdLst/>
              <a:ahLst/>
              <a:cxnLst/>
              <a:rect l="l" t="t" r="r" b="b"/>
              <a:pathLst>
                <a:path w="5770880" h="5770880">
                  <a:moveTo>
                    <a:pt x="5770880" y="2885440"/>
                  </a:moveTo>
                  <a:cubicBezTo>
                    <a:pt x="5770880" y="4479290"/>
                    <a:pt x="4479290" y="5770880"/>
                    <a:pt x="2885440" y="5770880"/>
                  </a:cubicBezTo>
                  <a:cubicBezTo>
                    <a:pt x="1291590" y="5770880"/>
                    <a:pt x="0" y="4479290"/>
                    <a:pt x="0" y="2885440"/>
                  </a:cubicBezTo>
                  <a:cubicBezTo>
                    <a:pt x="0" y="1291590"/>
                    <a:pt x="1291590" y="0"/>
                    <a:pt x="2885440" y="0"/>
                  </a:cubicBezTo>
                  <a:cubicBezTo>
                    <a:pt x="4479290" y="0"/>
                    <a:pt x="5770880" y="1291590"/>
                    <a:pt x="5770880" y="2885440"/>
                  </a:cubicBezTo>
                  <a:close/>
                </a:path>
              </a:pathLst>
            </a:custGeom>
            <a:blipFill>
              <a:blip r:embed="rId10"/>
              <a:stretch>
                <a:fillRect/>
              </a:stretch>
            </a:blipFill>
          </p:spPr>
          <p:txBody>
            <a:bodyPr/>
            <a:lstStyle/>
            <a:p>
              <a:endParaRPr lang="en-US"/>
            </a:p>
          </p:txBody>
        </p:sp>
      </p:grpSp>
      <p:sp>
        <p:nvSpPr>
          <p:cNvPr id="21" name="TextBox 21"/>
          <p:cNvSpPr txBox="1"/>
          <p:nvPr/>
        </p:nvSpPr>
        <p:spPr>
          <a:xfrm>
            <a:off x="13340202" y="5985975"/>
            <a:ext cx="3919098" cy="701673"/>
          </a:xfrm>
          <a:prstGeom prst="rect">
            <a:avLst/>
          </a:prstGeom>
        </p:spPr>
        <p:txBody>
          <a:bodyPr lIns="0" tIns="0" rIns="0" bIns="0" rtlCol="0" anchor="t">
            <a:spAutoFit/>
          </a:bodyPr>
          <a:lstStyle/>
          <a:p>
            <a:pPr algn="just">
              <a:lnSpc>
                <a:spcPts val="2800"/>
              </a:lnSpc>
            </a:pPr>
            <a:r>
              <a:rPr lang="en-US" sz="2000" b="1">
                <a:solidFill>
                  <a:srgbClr val="0E2F5F"/>
                </a:solidFill>
                <a:latin typeface="Aileron Ultra-Bold"/>
                <a:ea typeface="Aileron Ultra-Bold"/>
                <a:cs typeface="Aileron Ultra-Bold"/>
                <a:sym typeface="Aileron Ultra-Bold"/>
              </a:rPr>
              <a:t>If they want popularity order, give them popularity iterator</a:t>
            </a:r>
          </a:p>
        </p:txBody>
      </p:sp>
      <p:grpSp>
        <p:nvGrpSpPr>
          <p:cNvPr id="22" name="Group 22"/>
          <p:cNvGrpSpPr>
            <a:grpSpLocks noChangeAspect="1"/>
          </p:cNvGrpSpPr>
          <p:nvPr/>
        </p:nvGrpSpPr>
        <p:grpSpPr>
          <a:xfrm>
            <a:off x="13344834" y="4364129"/>
            <a:ext cx="1102173" cy="1558743"/>
            <a:chOff x="0" y="0"/>
            <a:chExt cx="7560310" cy="10692130"/>
          </a:xfrm>
        </p:grpSpPr>
        <p:sp>
          <p:nvSpPr>
            <p:cNvPr id="23" name="Freeform 23"/>
            <p:cNvSpPr/>
            <p:nvPr/>
          </p:nvSpPr>
          <p:spPr>
            <a:xfrm>
              <a:off x="133350" y="7620"/>
              <a:ext cx="7289800" cy="10683241"/>
            </a:xfrm>
            <a:custGeom>
              <a:avLst/>
              <a:gdLst/>
              <a:ahLst/>
              <a:cxnLst/>
              <a:rect l="l" t="t" r="r" b="b"/>
              <a:pathLst>
                <a:path w="7289800" h="10683241">
                  <a:moveTo>
                    <a:pt x="3644900" y="0"/>
                  </a:moveTo>
                  <a:cubicBezTo>
                    <a:pt x="1631950" y="0"/>
                    <a:pt x="0" y="1631950"/>
                    <a:pt x="0" y="3644900"/>
                  </a:cubicBezTo>
                  <a:cubicBezTo>
                    <a:pt x="0" y="5055870"/>
                    <a:pt x="802640" y="6278880"/>
                    <a:pt x="1974850" y="6884670"/>
                  </a:cubicBezTo>
                  <a:lnTo>
                    <a:pt x="1974850" y="9013191"/>
                  </a:lnTo>
                  <a:lnTo>
                    <a:pt x="3644900" y="10683241"/>
                  </a:lnTo>
                  <a:lnTo>
                    <a:pt x="5314950" y="9013190"/>
                  </a:lnTo>
                  <a:lnTo>
                    <a:pt x="5314950" y="6884670"/>
                  </a:lnTo>
                  <a:cubicBezTo>
                    <a:pt x="6488430" y="6278880"/>
                    <a:pt x="7289800" y="5055870"/>
                    <a:pt x="7289800" y="3644900"/>
                  </a:cubicBezTo>
                  <a:cubicBezTo>
                    <a:pt x="7289800" y="1631950"/>
                    <a:pt x="5657850" y="0"/>
                    <a:pt x="3644900" y="0"/>
                  </a:cubicBezTo>
                  <a:close/>
                </a:path>
              </a:pathLst>
            </a:custGeom>
            <a:solidFill>
              <a:srgbClr val="0E2F5F"/>
            </a:solidFill>
          </p:spPr>
          <p:txBody>
            <a:bodyPr/>
            <a:lstStyle/>
            <a:p>
              <a:endParaRPr lang="en-US"/>
            </a:p>
          </p:txBody>
        </p:sp>
        <p:sp>
          <p:nvSpPr>
            <p:cNvPr id="24" name="Freeform 24"/>
            <p:cNvSpPr/>
            <p:nvPr/>
          </p:nvSpPr>
          <p:spPr>
            <a:xfrm>
              <a:off x="892810" y="767080"/>
              <a:ext cx="5770880" cy="5770880"/>
            </a:xfrm>
            <a:custGeom>
              <a:avLst/>
              <a:gdLst/>
              <a:ahLst/>
              <a:cxnLst/>
              <a:rect l="l" t="t" r="r" b="b"/>
              <a:pathLst>
                <a:path w="5770880" h="5770880">
                  <a:moveTo>
                    <a:pt x="5770880" y="2885440"/>
                  </a:moveTo>
                  <a:cubicBezTo>
                    <a:pt x="5770880" y="4479290"/>
                    <a:pt x="4479290" y="5770880"/>
                    <a:pt x="2885440" y="5770880"/>
                  </a:cubicBezTo>
                  <a:cubicBezTo>
                    <a:pt x="1291590" y="5770880"/>
                    <a:pt x="0" y="4479290"/>
                    <a:pt x="0" y="2885440"/>
                  </a:cubicBezTo>
                  <a:cubicBezTo>
                    <a:pt x="0" y="1291590"/>
                    <a:pt x="1291590" y="0"/>
                    <a:pt x="2885440" y="0"/>
                  </a:cubicBezTo>
                  <a:cubicBezTo>
                    <a:pt x="4479290" y="0"/>
                    <a:pt x="5770880" y="1291590"/>
                    <a:pt x="5770880" y="2885440"/>
                  </a:cubicBezTo>
                  <a:close/>
                </a:path>
              </a:pathLst>
            </a:custGeom>
            <a:blipFill>
              <a:blip r:embed="rId11"/>
              <a:stretch>
                <a:fillRect/>
              </a:stretch>
            </a:blipFill>
          </p:spPr>
          <p:txBody>
            <a:bodyPr/>
            <a:lstStyle/>
            <a:p>
              <a:endParaRPr lang="en-US"/>
            </a:p>
          </p:txBody>
        </p:sp>
      </p:grpSp>
      <p:sp>
        <p:nvSpPr>
          <p:cNvPr id="25" name="TextBox 25"/>
          <p:cNvSpPr txBox="1"/>
          <p:nvPr/>
        </p:nvSpPr>
        <p:spPr>
          <a:xfrm>
            <a:off x="9548625" y="876300"/>
            <a:ext cx="7710675" cy="1782572"/>
          </a:xfrm>
          <a:prstGeom prst="rect">
            <a:avLst/>
          </a:prstGeom>
        </p:spPr>
        <p:txBody>
          <a:bodyPr lIns="0" tIns="0" rIns="0" bIns="0" rtlCol="0" anchor="t">
            <a:spAutoFit/>
          </a:bodyPr>
          <a:lstStyle/>
          <a:p>
            <a:pPr algn="r">
              <a:lnSpc>
                <a:spcPts val="6603"/>
              </a:lnSpc>
            </a:pPr>
            <a:r>
              <a:rPr lang="en-US" sz="5199" b="1">
                <a:solidFill>
                  <a:srgbClr val="0E2F5F"/>
                </a:solidFill>
                <a:latin typeface="Akzidenz-Grotesk Heavy"/>
                <a:ea typeface="Akzidenz-Grotesk Heavy"/>
                <a:cs typeface="Akzidenz-Grotesk Heavy"/>
                <a:sym typeface="Akzidenz-Grotesk Heavy"/>
              </a:rPr>
              <a:t>New approach</a:t>
            </a:r>
          </a:p>
          <a:p>
            <a:pPr marL="0" lvl="0" indent="0" algn="r">
              <a:lnSpc>
                <a:spcPts val="6603"/>
              </a:lnSpc>
              <a:spcBef>
                <a:spcPct val="0"/>
              </a:spcBef>
            </a:pPr>
            <a:r>
              <a:rPr lang="en-US" sz="5199" b="1">
                <a:solidFill>
                  <a:srgbClr val="0E2F5F"/>
                </a:solidFill>
                <a:latin typeface="Akzidenz-Grotesk Heavy"/>
                <a:ea typeface="Akzidenz-Grotesk Heavy"/>
                <a:cs typeface="Akzidenz-Grotesk Heavy"/>
                <a:sym typeface="Akzidenz-Grotesk Heavy"/>
              </a:rPr>
              <a:t>Just “Iterate” It!</a:t>
            </a:r>
          </a:p>
        </p:txBody>
      </p:sp>
      <p:sp>
        <p:nvSpPr>
          <p:cNvPr id="26" name="TextBox 26"/>
          <p:cNvSpPr txBox="1"/>
          <p:nvPr/>
        </p:nvSpPr>
        <p:spPr>
          <a:xfrm>
            <a:off x="4044420" y="3135121"/>
            <a:ext cx="13407117" cy="497839"/>
          </a:xfrm>
          <a:prstGeom prst="rect">
            <a:avLst/>
          </a:prstGeom>
        </p:spPr>
        <p:txBody>
          <a:bodyPr lIns="0" tIns="0" rIns="0" bIns="0" rtlCol="0" anchor="t">
            <a:spAutoFit/>
          </a:bodyPr>
          <a:lstStyle/>
          <a:p>
            <a:pPr marL="0" lvl="0" indent="0" algn="just">
              <a:lnSpc>
                <a:spcPts val="4060"/>
              </a:lnSpc>
              <a:spcBef>
                <a:spcPct val="0"/>
              </a:spcBef>
            </a:pPr>
            <a:r>
              <a:rPr lang="en-US" sz="2900" b="1">
                <a:solidFill>
                  <a:srgbClr val="021828"/>
                </a:solidFill>
                <a:latin typeface="Aileron Bold"/>
                <a:ea typeface="Aileron Bold"/>
                <a:cs typeface="Aileron Bold"/>
                <a:sym typeface="Aileron Bold"/>
              </a:rPr>
              <a:t>T</a:t>
            </a:r>
            <a:r>
              <a:rPr lang="en-US" sz="2900" b="1" u="none" strike="noStrike">
                <a:solidFill>
                  <a:srgbClr val="021828"/>
                </a:solidFill>
                <a:latin typeface="Aileron Bold"/>
                <a:ea typeface="Aileron Bold"/>
                <a:cs typeface="Aileron Bold"/>
                <a:sym typeface="Aileron Bold"/>
              </a:rPr>
              <a:t>here is a way to tackle this problem: give the user an iterator for each order!</a:t>
            </a:r>
          </a:p>
        </p:txBody>
      </p:sp>
      <p:sp>
        <p:nvSpPr>
          <p:cNvPr id="27" name="TextBox 27"/>
          <p:cNvSpPr txBox="1"/>
          <p:nvPr/>
        </p:nvSpPr>
        <p:spPr>
          <a:xfrm>
            <a:off x="4044420" y="5985975"/>
            <a:ext cx="3919098" cy="701673"/>
          </a:xfrm>
          <a:prstGeom prst="rect">
            <a:avLst/>
          </a:prstGeom>
        </p:spPr>
        <p:txBody>
          <a:bodyPr lIns="0" tIns="0" rIns="0" bIns="0" rtlCol="0" anchor="t">
            <a:spAutoFit/>
          </a:bodyPr>
          <a:lstStyle/>
          <a:p>
            <a:pPr algn="just">
              <a:lnSpc>
                <a:spcPts val="2800"/>
              </a:lnSpc>
            </a:pPr>
            <a:r>
              <a:rPr lang="en-US" sz="2000" b="1">
                <a:solidFill>
                  <a:srgbClr val="0E2F5F"/>
                </a:solidFill>
                <a:latin typeface="Aileron Ultra-Bold"/>
                <a:ea typeface="Aileron Ultra-Bold"/>
                <a:cs typeface="Aileron Ultra-Bold"/>
                <a:sym typeface="Aileron Ultra-Bold"/>
              </a:rPr>
              <a:t>If they want </a:t>
            </a:r>
            <a:r>
              <a:rPr lang="en-US" sz="2000" b="1">
                <a:solidFill>
                  <a:srgbClr val="0E2F5F"/>
                </a:solidFill>
                <a:latin typeface="Aileron Bold"/>
                <a:ea typeface="Aileron Bold"/>
                <a:cs typeface="Aileron Bold"/>
                <a:sym typeface="Aileron Bold"/>
              </a:rPr>
              <a:t>alphabetical </a:t>
            </a:r>
            <a:r>
              <a:rPr lang="en-US" sz="2000" b="1">
                <a:solidFill>
                  <a:srgbClr val="0E2F5F"/>
                </a:solidFill>
                <a:latin typeface="Aileron Ultra-Bold"/>
                <a:ea typeface="Aileron Ultra-Bold"/>
                <a:cs typeface="Aileron Ultra-Bold"/>
                <a:sym typeface="Aileron Ultra-Bold"/>
              </a:rPr>
              <a:t>order, give them alphabetical iterator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DDDF">
                <a:alpha val="0"/>
              </a:srgbClr>
            </a:gs>
            <a:gs pos="100000">
              <a:srgbClr val="8BE7E8">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9780466" y="1028700"/>
            <a:ext cx="3076459" cy="3076459"/>
          </a:xfrm>
          <a:custGeom>
            <a:avLst/>
            <a:gdLst/>
            <a:ahLst/>
            <a:cxnLst/>
            <a:rect l="l" t="t" r="r" b="b"/>
            <a:pathLst>
              <a:path w="3076459" h="3076459">
                <a:moveTo>
                  <a:pt x="0" y="0"/>
                </a:moveTo>
                <a:lnTo>
                  <a:pt x="3076459" y="0"/>
                </a:lnTo>
                <a:lnTo>
                  <a:pt x="3076459" y="3076459"/>
                </a:lnTo>
                <a:lnTo>
                  <a:pt x="0" y="30764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1123130" y="3861098"/>
            <a:ext cx="5650143" cy="6425902"/>
            <a:chOff x="0" y="0"/>
            <a:chExt cx="1488104" cy="1692419"/>
          </a:xfrm>
        </p:grpSpPr>
        <p:sp>
          <p:nvSpPr>
            <p:cNvPr id="4" name="Freeform 4"/>
            <p:cNvSpPr/>
            <p:nvPr/>
          </p:nvSpPr>
          <p:spPr>
            <a:xfrm>
              <a:off x="0" y="0"/>
              <a:ext cx="1488104" cy="1692419"/>
            </a:xfrm>
            <a:custGeom>
              <a:avLst/>
              <a:gdLst/>
              <a:ahLst/>
              <a:cxnLst/>
              <a:rect l="l" t="t" r="r" b="b"/>
              <a:pathLst>
                <a:path w="1488104" h="1692419">
                  <a:moveTo>
                    <a:pt x="0" y="0"/>
                  </a:moveTo>
                  <a:lnTo>
                    <a:pt x="1488104" y="0"/>
                  </a:lnTo>
                  <a:lnTo>
                    <a:pt x="1488104" y="1692419"/>
                  </a:lnTo>
                  <a:lnTo>
                    <a:pt x="0" y="1692419"/>
                  </a:lnTo>
                  <a:close/>
                </a:path>
              </a:pathLst>
            </a:custGeom>
            <a:solidFill>
              <a:srgbClr val="E1EDFC"/>
            </a:solidFill>
          </p:spPr>
          <p:txBody>
            <a:bodyPr/>
            <a:lstStyle/>
            <a:p>
              <a:endParaRPr lang="en-US"/>
            </a:p>
          </p:txBody>
        </p:sp>
        <p:sp>
          <p:nvSpPr>
            <p:cNvPr id="5" name="TextBox 5"/>
            <p:cNvSpPr txBox="1"/>
            <p:nvPr/>
          </p:nvSpPr>
          <p:spPr>
            <a:xfrm>
              <a:off x="0" y="-47625"/>
              <a:ext cx="1488104" cy="1740044"/>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11108476" y="1028700"/>
            <a:ext cx="5664797" cy="566479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US"/>
            </a:p>
          </p:txBody>
        </p:sp>
      </p:grpSp>
      <p:sp>
        <p:nvSpPr>
          <p:cNvPr id="8" name="Freeform 8"/>
          <p:cNvSpPr/>
          <p:nvPr/>
        </p:nvSpPr>
        <p:spPr>
          <a:xfrm>
            <a:off x="8155324" y="3099455"/>
            <a:ext cx="1291547" cy="1291547"/>
          </a:xfrm>
          <a:custGeom>
            <a:avLst/>
            <a:gdLst/>
            <a:ahLst/>
            <a:cxnLst/>
            <a:rect l="l" t="t" r="r" b="b"/>
            <a:pathLst>
              <a:path w="1291547" h="1291547">
                <a:moveTo>
                  <a:pt x="0" y="0"/>
                </a:moveTo>
                <a:lnTo>
                  <a:pt x="1291548" y="0"/>
                </a:lnTo>
                <a:lnTo>
                  <a:pt x="1291548" y="1291547"/>
                </a:lnTo>
                <a:lnTo>
                  <a:pt x="0" y="1291547"/>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9" name="Freeform 9"/>
          <p:cNvSpPr/>
          <p:nvPr/>
        </p:nvSpPr>
        <p:spPr>
          <a:xfrm>
            <a:off x="2167033" y="4014636"/>
            <a:ext cx="1519327" cy="469610"/>
          </a:xfrm>
          <a:custGeom>
            <a:avLst/>
            <a:gdLst/>
            <a:ahLst/>
            <a:cxnLst/>
            <a:rect l="l" t="t" r="r" b="b"/>
            <a:pathLst>
              <a:path w="1519327" h="469610">
                <a:moveTo>
                  <a:pt x="0" y="0"/>
                </a:moveTo>
                <a:lnTo>
                  <a:pt x="1519327" y="0"/>
                </a:lnTo>
                <a:lnTo>
                  <a:pt x="1519327" y="469611"/>
                </a:lnTo>
                <a:lnTo>
                  <a:pt x="0" y="46961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0" name="Freeform 10"/>
          <p:cNvSpPr/>
          <p:nvPr/>
        </p:nvSpPr>
        <p:spPr>
          <a:xfrm>
            <a:off x="13181211" y="8788690"/>
            <a:ext cx="1519327" cy="469610"/>
          </a:xfrm>
          <a:custGeom>
            <a:avLst/>
            <a:gdLst/>
            <a:ahLst/>
            <a:cxnLst/>
            <a:rect l="l" t="t" r="r" b="b"/>
            <a:pathLst>
              <a:path w="1519327" h="469610">
                <a:moveTo>
                  <a:pt x="0" y="0"/>
                </a:moveTo>
                <a:lnTo>
                  <a:pt x="1519327" y="0"/>
                </a:lnTo>
                <a:lnTo>
                  <a:pt x="1519327" y="469610"/>
                </a:lnTo>
                <a:lnTo>
                  <a:pt x="0" y="46961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1" name="TextBox 11"/>
          <p:cNvSpPr txBox="1"/>
          <p:nvPr/>
        </p:nvSpPr>
        <p:spPr>
          <a:xfrm>
            <a:off x="2167033" y="4972050"/>
            <a:ext cx="6234100" cy="2940753"/>
          </a:xfrm>
          <a:prstGeom prst="rect">
            <a:avLst/>
          </a:prstGeom>
        </p:spPr>
        <p:txBody>
          <a:bodyPr lIns="0" tIns="0" rIns="0" bIns="0" rtlCol="0" anchor="t">
            <a:spAutoFit/>
          </a:bodyPr>
          <a:lstStyle/>
          <a:p>
            <a:pPr algn="l">
              <a:lnSpc>
                <a:spcPts val="8254"/>
              </a:lnSpc>
            </a:pPr>
            <a:r>
              <a:rPr lang="en-US" sz="6499" b="1">
                <a:solidFill>
                  <a:srgbClr val="0E2F5F"/>
                </a:solidFill>
                <a:latin typeface="Akzidenz-Grotesk Heavy"/>
                <a:ea typeface="Akzidenz-Grotesk Heavy"/>
                <a:cs typeface="Akzidenz-Grotesk Heavy"/>
                <a:sym typeface="Akzidenz-Grotesk Heavy"/>
              </a:rPr>
              <a:t>But what is an </a:t>
            </a:r>
          </a:p>
          <a:p>
            <a:pPr marL="0" lvl="0" indent="0" algn="l">
              <a:lnSpc>
                <a:spcPts val="14222"/>
              </a:lnSpc>
              <a:spcBef>
                <a:spcPct val="0"/>
              </a:spcBef>
            </a:pPr>
            <a:r>
              <a:rPr lang="en-US" sz="11199" b="1">
                <a:solidFill>
                  <a:srgbClr val="0E2F5F"/>
                </a:solidFill>
                <a:latin typeface="Akzidenz-Grotesk Heavy"/>
                <a:ea typeface="Akzidenz-Grotesk Heavy"/>
                <a:cs typeface="Akzidenz-Grotesk Heavy"/>
                <a:sym typeface="Akzidenz-Grotesk Heavy"/>
              </a:rPr>
              <a:t>Iterator?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DDDF">
                <a:alpha val="0"/>
              </a:srgbClr>
            </a:gs>
            <a:gs pos="100000">
              <a:srgbClr val="8BE7E8">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2123887"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39603" y="1122782"/>
            <a:ext cx="7019697" cy="10556306"/>
            <a:chOff x="0" y="0"/>
            <a:chExt cx="660400" cy="993118"/>
          </a:xfrm>
        </p:grpSpPr>
        <p:sp>
          <p:nvSpPr>
            <p:cNvPr id="6" name="Freeform 6"/>
            <p:cNvSpPr/>
            <p:nvPr/>
          </p:nvSpPr>
          <p:spPr>
            <a:xfrm>
              <a:off x="0" y="0"/>
              <a:ext cx="660400" cy="993118"/>
            </a:xfrm>
            <a:custGeom>
              <a:avLst/>
              <a:gdLst/>
              <a:ahLst/>
              <a:cxnLst/>
              <a:rect l="l" t="t" r="r" b="b"/>
              <a:pathLst>
                <a:path w="660400" h="99311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txBody>
            <a:bodyPr/>
            <a:lstStyle/>
            <a:p>
              <a:endParaRPr lang="en-US"/>
            </a:p>
          </p:txBody>
        </p:sp>
        <p:sp>
          <p:nvSpPr>
            <p:cNvPr id="7" name="TextBox 7"/>
            <p:cNvSpPr txBox="1"/>
            <p:nvPr/>
          </p:nvSpPr>
          <p:spPr>
            <a:xfrm>
              <a:off x="0" y="88900"/>
              <a:ext cx="660400" cy="90421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a:grpSpLocks noChangeAspect="1"/>
          </p:cNvGrpSpPr>
          <p:nvPr/>
        </p:nvGrpSpPr>
        <p:grpSpPr>
          <a:xfrm>
            <a:off x="10614313" y="1459818"/>
            <a:ext cx="6270276" cy="6270276"/>
            <a:chOff x="0" y="0"/>
            <a:chExt cx="8916670" cy="8916670"/>
          </a:xfrm>
        </p:grpSpPr>
        <p:sp>
          <p:nvSpPr>
            <p:cNvPr id="9" name="Freeform 9"/>
            <p:cNvSpPr/>
            <p:nvPr/>
          </p:nvSpPr>
          <p:spPr>
            <a:xfrm>
              <a:off x="6350" y="6350"/>
              <a:ext cx="8903970" cy="8903970"/>
            </a:xfrm>
            <a:custGeom>
              <a:avLst/>
              <a:gdLst/>
              <a:ahLst/>
              <a:cxnLst/>
              <a:rect l="l" t="t" r="r" b="b"/>
              <a:pathLst>
                <a:path w="8903970" h="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p:spPr>
          <p:txBody>
            <a:bodyPr/>
            <a:lstStyle/>
            <a:p>
              <a:endParaRPr lang="en-US"/>
            </a:p>
          </p:txBody>
        </p:sp>
        <p:sp>
          <p:nvSpPr>
            <p:cNvPr id="10" name="Freeform 10"/>
            <p:cNvSpPr/>
            <p:nvPr/>
          </p:nvSpPr>
          <p:spPr>
            <a:xfrm>
              <a:off x="154940" y="154940"/>
              <a:ext cx="8605520" cy="8605520"/>
            </a:xfrm>
            <a:custGeom>
              <a:avLst/>
              <a:gdLst/>
              <a:ahLst/>
              <a:cxnLst/>
              <a:rect l="l" t="t" r="r" b="b"/>
              <a:pathLst>
                <a:path w="8605520" h="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a:stretch>
            </a:blipFill>
          </p:spPr>
          <p:txBody>
            <a:bodyPr/>
            <a:lstStyle/>
            <a:p>
              <a:endParaRPr lang="en-US"/>
            </a:p>
          </p:txBody>
        </p:sp>
      </p:grpSp>
      <p:sp>
        <p:nvSpPr>
          <p:cNvPr id="11" name="TextBox 11"/>
          <p:cNvSpPr txBox="1"/>
          <p:nvPr/>
        </p:nvSpPr>
        <p:spPr>
          <a:xfrm>
            <a:off x="1812491" y="2289175"/>
            <a:ext cx="7851570" cy="4918074"/>
          </a:xfrm>
          <a:prstGeom prst="rect">
            <a:avLst/>
          </a:prstGeom>
        </p:spPr>
        <p:txBody>
          <a:bodyPr lIns="0" tIns="0" rIns="0" bIns="0" rtlCol="0" anchor="t">
            <a:spAutoFit/>
          </a:bodyPr>
          <a:lstStyle/>
          <a:p>
            <a:pPr algn="l">
              <a:lnSpc>
                <a:spcPts val="5600"/>
              </a:lnSpc>
            </a:pPr>
            <a:r>
              <a:rPr lang="en-US" sz="4000" b="1">
                <a:solidFill>
                  <a:srgbClr val="0E2F5F"/>
                </a:solidFill>
                <a:latin typeface="Aileron Ultra-Bold"/>
                <a:ea typeface="Aileron Ultra-Bold"/>
                <a:cs typeface="Aileron Ultra-Bold"/>
                <a:sym typeface="Aileron Ultra-Bold"/>
              </a:rPr>
              <a:t>The </a:t>
            </a:r>
            <a:r>
              <a:rPr lang="en-US" sz="4000" b="1">
                <a:solidFill>
                  <a:srgbClr val="5188CC"/>
                </a:solidFill>
                <a:latin typeface="Aileron Ultra-Bold"/>
                <a:ea typeface="Aileron Ultra-Bold"/>
                <a:cs typeface="Aileron Ultra-Bold"/>
                <a:sym typeface="Aileron Ultra-Bold"/>
              </a:rPr>
              <a:t>Iterator design pattern</a:t>
            </a:r>
            <a:r>
              <a:rPr lang="en-US" sz="4000" b="1">
                <a:solidFill>
                  <a:srgbClr val="0E2F5F"/>
                </a:solidFill>
                <a:latin typeface="Aileron Ultra-Bold"/>
                <a:ea typeface="Aileron Ultra-Bold"/>
                <a:cs typeface="Aileron Ultra-Bold"/>
                <a:sym typeface="Aileron Ultra-Bold"/>
              </a:rPr>
              <a:t> is a behavioral design pattern that provides a way to access the elements of an aggregate object (e.g. a list) sequentially without exposing its underlying representation.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27DDDF">
                <a:alpha val="0"/>
              </a:srgbClr>
            </a:gs>
            <a:gs pos="100000">
              <a:srgbClr val="8BE7E8">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2123887"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239603" y="1122782"/>
            <a:ext cx="7019697" cy="10556306"/>
            <a:chOff x="0" y="0"/>
            <a:chExt cx="660400" cy="993118"/>
          </a:xfrm>
        </p:grpSpPr>
        <p:sp>
          <p:nvSpPr>
            <p:cNvPr id="6" name="Freeform 6"/>
            <p:cNvSpPr/>
            <p:nvPr/>
          </p:nvSpPr>
          <p:spPr>
            <a:xfrm>
              <a:off x="0" y="0"/>
              <a:ext cx="660400" cy="993118"/>
            </a:xfrm>
            <a:custGeom>
              <a:avLst/>
              <a:gdLst/>
              <a:ahLst/>
              <a:cxnLst/>
              <a:rect l="l" t="t" r="r" b="b"/>
              <a:pathLst>
                <a:path w="660400" h="99311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txBody>
            <a:bodyPr/>
            <a:lstStyle/>
            <a:p>
              <a:endParaRPr lang="en-US"/>
            </a:p>
          </p:txBody>
        </p:sp>
        <p:sp>
          <p:nvSpPr>
            <p:cNvPr id="7" name="TextBox 7"/>
            <p:cNvSpPr txBox="1"/>
            <p:nvPr/>
          </p:nvSpPr>
          <p:spPr>
            <a:xfrm>
              <a:off x="0" y="88900"/>
              <a:ext cx="660400" cy="90421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a:grpSpLocks noChangeAspect="1"/>
          </p:cNvGrpSpPr>
          <p:nvPr/>
        </p:nvGrpSpPr>
        <p:grpSpPr>
          <a:xfrm>
            <a:off x="10614313" y="1459818"/>
            <a:ext cx="6270276" cy="6270276"/>
            <a:chOff x="0" y="0"/>
            <a:chExt cx="8916670" cy="8916670"/>
          </a:xfrm>
        </p:grpSpPr>
        <p:sp>
          <p:nvSpPr>
            <p:cNvPr id="9" name="Freeform 9"/>
            <p:cNvSpPr/>
            <p:nvPr/>
          </p:nvSpPr>
          <p:spPr>
            <a:xfrm>
              <a:off x="6350" y="6350"/>
              <a:ext cx="8903970" cy="8903970"/>
            </a:xfrm>
            <a:custGeom>
              <a:avLst/>
              <a:gdLst/>
              <a:ahLst/>
              <a:cxnLst/>
              <a:rect l="l" t="t" r="r" b="b"/>
              <a:pathLst>
                <a:path w="8903970" h="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path>
              </a:pathLst>
            </a:custGeom>
            <a:solidFill>
              <a:srgbClr val="FFFFFF"/>
            </a:solidFill>
          </p:spPr>
          <p:txBody>
            <a:bodyPr/>
            <a:lstStyle/>
            <a:p>
              <a:endParaRPr lang="en-US"/>
            </a:p>
          </p:txBody>
        </p:sp>
        <p:sp>
          <p:nvSpPr>
            <p:cNvPr id="10" name="Freeform 10"/>
            <p:cNvSpPr/>
            <p:nvPr/>
          </p:nvSpPr>
          <p:spPr>
            <a:xfrm>
              <a:off x="154940" y="154940"/>
              <a:ext cx="8605520" cy="8605520"/>
            </a:xfrm>
            <a:custGeom>
              <a:avLst/>
              <a:gdLst/>
              <a:ahLst/>
              <a:cxnLst/>
              <a:rect l="l" t="t" r="r" b="b"/>
              <a:pathLst>
                <a:path w="8605520" h="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l="-48829" t="-42744" r="-78850"/>
              </a:stretch>
            </a:blipFill>
          </p:spPr>
          <p:txBody>
            <a:bodyPr/>
            <a:lstStyle/>
            <a:p>
              <a:endParaRPr lang="en-US"/>
            </a:p>
          </p:txBody>
        </p:sp>
      </p:grpSp>
      <p:sp>
        <p:nvSpPr>
          <p:cNvPr id="11" name="TextBox 11"/>
          <p:cNvSpPr txBox="1"/>
          <p:nvPr/>
        </p:nvSpPr>
        <p:spPr>
          <a:xfrm>
            <a:off x="1812491" y="2289175"/>
            <a:ext cx="7851570" cy="5622924"/>
          </a:xfrm>
          <a:prstGeom prst="rect">
            <a:avLst/>
          </a:prstGeom>
        </p:spPr>
        <p:txBody>
          <a:bodyPr lIns="0" tIns="0" rIns="0" bIns="0" rtlCol="0" anchor="t">
            <a:spAutoFit/>
          </a:bodyPr>
          <a:lstStyle/>
          <a:p>
            <a:pPr algn="l">
              <a:lnSpc>
                <a:spcPts val="5600"/>
              </a:lnSpc>
            </a:pPr>
            <a:r>
              <a:rPr lang="en-US" sz="4000" b="1">
                <a:solidFill>
                  <a:srgbClr val="0E2F5F"/>
                </a:solidFill>
                <a:latin typeface="Aileron Ultra-Bold"/>
                <a:ea typeface="Aileron Ultra-Bold"/>
                <a:cs typeface="Aileron Ultra-Bold"/>
                <a:sym typeface="Aileron Ultra-Bold"/>
              </a:rPr>
              <a:t>It defines a separate object, called an </a:t>
            </a:r>
            <a:r>
              <a:rPr lang="en-US" sz="4000" b="1">
                <a:solidFill>
                  <a:srgbClr val="5188CC"/>
                </a:solidFill>
                <a:latin typeface="Aileron Ultra-Bold"/>
                <a:ea typeface="Aileron Ultra-Bold"/>
                <a:cs typeface="Aileron Ultra-Bold"/>
                <a:sym typeface="Aileron Ultra-Bold"/>
              </a:rPr>
              <a:t>iterator</a:t>
            </a:r>
            <a:r>
              <a:rPr lang="en-US" sz="4000" b="1">
                <a:solidFill>
                  <a:srgbClr val="0E2F5F"/>
                </a:solidFill>
                <a:latin typeface="Aileron Ultra-Bold"/>
                <a:ea typeface="Aileron Ultra-Bold"/>
                <a:cs typeface="Aileron Ultra-Bold"/>
                <a:sym typeface="Aileron Ultra-Bold"/>
              </a:rPr>
              <a:t>, which encapsulates the details of traversing the elements of the aggregate, allowing the aggregate to change its internal structure without affecting the way its elements are accessed.</a:t>
            </a:r>
          </a:p>
        </p:txBody>
      </p:sp>
      <p:sp>
        <p:nvSpPr>
          <p:cNvPr id="12" name="TextBox 12"/>
          <p:cNvSpPr txBox="1"/>
          <p:nvPr/>
        </p:nvSpPr>
        <p:spPr>
          <a:xfrm>
            <a:off x="11377071" y="8077835"/>
            <a:ext cx="4744761" cy="1180465"/>
          </a:xfrm>
          <a:prstGeom prst="rect">
            <a:avLst/>
          </a:prstGeom>
        </p:spPr>
        <p:txBody>
          <a:bodyPr lIns="0" tIns="0" rIns="0" bIns="0" rtlCol="0" anchor="t">
            <a:spAutoFit/>
          </a:bodyPr>
          <a:lstStyle/>
          <a:p>
            <a:pPr algn="l">
              <a:lnSpc>
                <a:spcPts val="4759"/>
              </a:lnSpc>
            </a:pPr>
            <a:r>
              <a:rPr lang="en-US" sz="3399" i="1">
                <a:solidFill>
                  <a:srgbClr val="FFFFFF"/>
                </a:solidFill>
                <a:latin typeface="Montserrat Italics"/>
                <a:ea typeface="Montserrat Italics"/>
                <a:cs typeface="Montserrat Italics"/>
                <a:sym typeface="Montserrat Italics"/>
              </a:rPr>
              <a:t>Ribosome inside our cell is also an iterator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5156821" y="75452"/>
            <a:ext cx="12010783" cy="10400796"/>
            <a:chOff x="0" y="0"/>
            <a:chExt cx="4282440" cy="3708400"/>
          </a:xfrm>
        </p:grpSpPr>
        <p:sp>
          <p:nvSpPr>
            <p:cNvPr id="3" name="Freeform 3"/>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l="-15727" r="-15727"/>
              </a:stretch>
            </a:blipFill>
          </p:spPr>
          <p:txBody>
            <a:bodyPr/>
            <a:lstStyle/>
            <a:p>
              <a:endParaRPr lang="en-US"/>
            </a:p>
          </p:txBody>
        </p:sp>
      </p:grpSp>
      <p:grpSp>
        <p:nvGrpSpPr>
          <p:cNvPr id="4" name="Group 4"/>
          <p:cNvGrpSpPr/>
          <p:nvPr/>
        </p:nvGrpSpPr>
        <p:grpSpPr>
          <a:xfrm>
            <a:off x="-4086541" y="0"/>
            <a:ext cx="12010783" cy="10400796"/>
            <a:chOff x="0" y="0"/>
            <a:chExt cx="4282440" cy="3708400"/>
          </a:xfrm>
        </p:grpSpPr>
        <p:sp>
          <p:nvSpPr>
            <p:cNvPr id="5" name="Freeform 5"/>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3"/>
              <a:stretch>
                <a:fillRect l="-102591" r="-102591"/>
              </a:stretch>
            </a:blipFill>
          </p:spPr>
          <p:txBody>
            <a:bodyPr/>
            <a:lstStyle/>
            <a:p>
              <a:endParaRPr lang="en-US"/>
            </a:p>
          </p:txBody>
        </p:sp>
      </p:grpSp>
      <p:grpSp>
        <p:nvGrpSpPr>
          <p:cNvPr id="6" name="Group 6"/>
          <p:cNvGrpSpPr/>
          <p:nvPr/>
        </p:nvGrpSpPr>
        <p:grpSpPr>
          <a:xfrm>
            <a:off x="-5109196" y="15648"/>
            <a:ext cx="12010783" cy="10400796"/>
            <a:chOff x="0" y="0"/>
            <a:chExt cx="4282440" cy="3708400"/>
          </a:xfrm>
        </p:grpSpPr>
        <p:sp>
          <p:nvSpPr>
            <p:cNvPr id="7" name="Freeform 7"/>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4"/>
              <a:stretch>
                <a:fillRect l="-7800" r="-7800"/>
              </a:stretch>
            </a:blipFill>
          </p:spPr>
          <p:txBody>
            <a:bodyPr/>
            <a:lstStyle/>
            <a:p>
              <a:endParaRPr lang="en-US"/>
            </a:p>
          </p:txBody>
        </p:sp>
      </p:grpSp>
      <p:grpSp>
        <p:nvGrpSpPr>
          <p:cNvPr id="8" name="Group 8"/>
          <p:cNvGrpSpPr/>
          <p:nvPr/>
        </p:nvGrpSpPr>
        <p:grpSpPr>
          <a:xfrm>
            <a:off x="5478059" y="3920409"/>
            <a:ext cx="2446183" cy="244618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E3B2"/>
            </a:solidFill>
            <a:ln w="200025" cap="sq">
              <a:solidFill>
                <a:srgbClr val="051D40"/>
              </a:solidFill>
              <a:prstDash val="solid"/>
              <a:miter/>
            </a:ln>
          </p:spPr>
          <p:txBody>
            <a:bodyPr/>
            <a:lstStyle/>
            <a:p>
              <a:endParaRPr lang="en-US"/>
            </a:p>
          </p:txBody>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05"/>
                </a:lnSpc>
              </a:pPr>
              <a:endParaRPr/>
            </a:p>
          </p:txBody>
        </p:sp>
      </p:grpSp>
      <p:sp>
        <p:nvSpPr>
          <p:cNvPr id="11" name="Freeform 11"/>
          <p:cNvSpPr/>
          <p:nvPr/>
        </p:nvSpPr>
        <p:spPr>
          <a:xfrm>
            <a:off x="6303635" y="4568149"/>
            <a:ext cx="795031" cy="1150702"/>
          </a:xfrm>
          <a:custGeom>
            <a:avLst/>
            <a:gdLst/>
            <a:ahLst/>
            <a:cxnLst/>
            <a:rect l="l" t="t" r="r" b="b"/>
            <a:pathLst>
              <a:path w="795031" h="1150702">
                <a:moveTo>
                  <a:pt x="0" y="0"/>
                </a:moveTo>
                <a:lnTo>
                  <a:pt x="795030" y="0"/>
                </a:lnTo>
                <a:lnTo>
                  <a:pt x="795030" y="1150702"/>
                </a:lnTo>
                <a:lnTo>
                  <a:pt x="0" y="115070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2" name="TextBox 12"/>
          <p:cNvSpPr txBox="1"/>
          <p:nvPr/>
        </p:nvSpPr>
        <p:spPr>
          <a:xfrm>
            <a:off x="8142734" y="3846766"/>
            <a:ext cx="8898074" cy="2479167"/>
          </a:xfrm>
          <a:prstGeom prst="rect">
            <a:avLst/>
          </a:prstGeom>
        </p:spPr>
        <p:txBody>
          <a:bodyPr lIns="0" tIns="0" rIns="0" bIns="0" rtlCol="0" anchor="t">
            <a:spAutoFit/>
          </a:bodyPr>
          <a:lstStyle/>
          <a:p>
            <a:pPr algn="l">
              <a:lnSpc>
                <a:spcPts val="3863"/>
              </a:lnSpc>
            </a:pPr>
            <a:r>
              <a:rPr lang="en-US" sz="2799" b="1" spc="274">
                <a:solidFill>
                  <a:srgbClr val="F5FFF5"/>
                </a:solidFill>
                <a:latin typeface="Akzidenz-Grotesk Bold"/>
                <a:ea typeface="Akzidenz-Grotesk Bold"/>
                <a:cs typeface="Akzidenz-Grotesk Bold"/>
                <a:sym typeface="Akzidenz-Grotesk Bold"/>
              </a:rPr>
              <a:t>You could imagine it as a librarian. She knows how to navigate (iterate) through the library and find the book you want, without revealing you how the books are organized (which you don’t need to know).</a:t>
            </a:r>
          </a:p>
        </p:txBody>
      </p:sp>
      <p:grpSp>
        <p:nvGrpSpPr>
          <p:cNvPr id="13" name="Group 13"/>
          <p:cNvGrpSpPr/>
          <p:nvPr/>
        </p:nvGrpSpPr>
        <p:grpSpPr>
          <a:xfrm>
            <a:off x="17259300" y="2066886"/>
            <a:ext cx="5754080" cy="8220114"/>
            <a:chOff x="0" y="0"/>
            <a:chExt cx="4445000" cy="6350000"/>
          </a:xfrm>
        </p:grpSpPr>
        <p:sp>
          <p:nvSpPr>
            <p:cNvPr id="14" name="Freeform 1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r="-201730"/>
              </a:stretch>
            </a:blipFill>
          </p:spPr>
          <p:txBody>
            <a:bodyPr/>
            <a:lstStyle/>
            <a:p>
              <a:endParaRPr lang="en-US"/>
            </a:p>
          </p:txBody>
        </p:sp>
      </p:grpSp>
      <p:grpSp>
        <p:nvGrpSpPr>
          <p:cNvPr id="15" name="Group 15"/>
          <p:cNvGrpSpPr/>
          <p:nvPr/>
        </p:nvGrpSpPr>
        <p:grpSpPr>
          <a:xfrm>
            <a:off x="14664277" y="-871079"/>
            <a:ext cx="1683983" cy="2405689"/>
            <a:chOff x="0" y="0"/>
            <a:chExt cx="4445000" cy="6350000"/>
          </a:xfrm>
        </p:grpSpPr>
        <p:sp>
          <p:nvSpPr>
            <p:cNvPr id="16" name="Freeform 16"/>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r="-201730"/>
              </a:stretch>
            </a:blipFill>
          </p:spPr>
          <p:txBody>
            <a:bodyPr/>
            <a:lstStyle/>
            <a:p>
              <a:endParaRPr lang="en-US"/>
            </a:p>
          </p:txBody>
        </p:sp>
      </p:grpSp>
      <p:grpSp>
        <p:nvGrpSpPr>
          <p:cNvPr id="17" name="Group 17"/>
          <p:cNvGrpSpPr/>
          <p:nvPr/>
        </p:nvGrpSpPr>
        <p:grpSpPr>
          <a:xfrm rot="5400000">
            <a:off x="16417309" y="1645890"/>
            <a:ext cx="841991" cy="84199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r="-126211"/>
              </a:stretch>
            </a:blipFill>
          </p:spPr>
          <p:txBody>
            <a:bodyPr/>
            <a:lstStyle/>
            <a:p>
              <a:endParaRPr lang="en-US"/>
            </a:p>
          </p:txBody>
        </p:sp>
      </p:grpSp>
      <p:grpSp>
        <p:nvGrpSpPr>
          <p:cNvPr id="19" name="Group 19"/>
          <p:cNvGrpSpPr/>
          <p:nvPr/>
        </p:nvGrpSpPr>
        <p:grpSpPr>
          <a:xfrm rot="5400000">
            <a:off x="6480591" y="8837304"/>
            <a:ext cx="841991" cy="841991"/>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6211" r="-126211"/>
              </a:stretch>
            </a:blipFill>
          </p:spPr>
          <p:txBody>
            <a:bodyPr/>
            <a:lstStyle/>
            <a:p>
              <a:endParaRPr lang="en-US"/>
            </a:p>
          </p:txBody>
        </p:sp>
      </p:grpSp>
      <p:grpSp>
        <p:nvGrpSpPr>
          <p:cNvPr id="21" name="Group 21"/>
          <p:cNvGrpSpPr/>
          <p:nvPr/>
        </p:nvGrpSpPr>
        <p:grpSpPr>
          <a:xfrm>
            <a:off x="14463544" y="7799071"/>
            <a:ext cx="2374761" cy="3392515"/>
            <a:chOff x="0" y="0"/>
            <a:chExt cx="4445000" cy="6350000"/>
          </a:xfrm>
        </p:grpSpPr>
        <p:sp>
          <p:nvSpPr>
            <p:cNvPr id="22" name="Freeform 22"/>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3"/>
              <a:stretch>
                <a:fillRect l="-201730" r="-201730"/>
              </a:stretch>
            </a:blipFill>
          </p:spPr>
          <p:txBody>
            <a:bodyPr/>
            <a:lstStyle/>
            <a:p>
              <a:endParaRPr lang="en-US"/>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334F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7511163" y="7791225"/>
            <a:ext cx="305535" cy="302202"/>
          </a:xfrm>
          <a:custGeom>
            <a:avLst/>
            <a:gdLst/>
            <a:ahLst/>
            <a:cxnLst/>
            <a:rect l="l" t="t" r="r" b="b"/>
            <a:pathLst>
              <a:path w="305535" h="302202">
                <a:moveTo>
                  <a:pt x="0" y="0"/>
                </a:moveTo>
                <a:lnTo>
                  <a:pt x="305535" y="0"/>
                </a:lnTo>
                <a:lnTo>
                  <a:pt x="305535" y="302203"/>
                </a:lnTo>
                <a:lnTo>
                  <a:pt x="0" y="3022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3424608" y="-1072654"/>
            <a:ext cx="11438784" cy="2839490"/>
            <a:chOff x="0" y="0"/>
            <a:chExt cx="3012684" cy="747849"/>
          </a:xfrm>
        </p:grpSpPr>
        <p:sp>
          <p:nvSpPr>
            <p:cNvPr id="4" name="Freeform 4"/>
            <p:cNvSpPr/>
            <p:nvPr/>
          </p:nvSpPr>
          <p:spPr>
            <a:xfrm>
              <a:off x="0" y="0"/>
              <a:ext cx="3012684" cy="747849"/>
            </a:xfrm>
            <a:custGeom>
              <a:avLst/>
              <a:gdLst/>
              <a:ahLst/>
              <a:cxnLst/>
              <a:rect l="l" t="t" r="r" b="b"/>
              <a:pathLst>
                <a:path w="3012684" h="747849">
                  <a:moveTo>
                    <a:pt x="39932" y="0"/>
                  </a:moveTo>
                  <a:lnTo>
                    <a:pt x="2972752" y="0"/>
                  </a:lnTo>
                  <a:cubicBezTo>
                    <a:pt x="2994806" y="0"/>
                    <a:pt x="3012684" y="17878"/>
                    <a:pt x="3012684" y="39932"/>
                  </a:cubicBezTo>
                  <a:lnTo>
                    <a:pt x="3012684" y="707917"/>
                  </a:lnTo>
                  <a:cubicBezTo>
                    <a:pt x="3012684" y="729971"/>
                    <a:pt x="2994806" y="747849"/>
                    <a:pt x="2972752" y="747849"/>
                  </a:cubicBezTo>
                  <a:lnTo>
                    <a:pt x="39932" y="747849"/>
                  </a:lnTo>
                  <a:cubicBezTo>
                    <a:pt x="17878" y="747849"/>
                    <a:pt x="0" y="729971"/>
                    <a:pt x="0" y="707917"/>
                  </a:cubicBezTo>
                  <a:lnTo>
                    <a:pt x="0" y="39932"/>
                  </a:lnTo>
                  <a:cubicBezTo>
                    <a:pt x="0" y="17878"/>
                    <a:pt x="17878" y="0"/>
                    <a:pt x="39932" y="0"/>
                  </a:cubicBezTo>
                  <a:close/>
                </a:path>
              </a:pathLst>
            </a:custGeom>
            <a:solidFill>
              <a:srgbClr val="E1EDFC"/>
            </a:solidFill>
            <a:ln cap="rnd">
              <a:noFill/>
              <a:prstDash val="solid"/>
              <a:round/>
            </a:ln>
          </p:spPr>
          <p:txBody>
            <a:bodyPr/>
            <a:lstStyle/>
            <a:p>
              <a:endParaRPr lang="en-US"/>
            </a:p>
          </p:txBody>
        </p:sp>
        <p:sp>
          <p:nvSpPr>
            <p:cNvPr id="5" name="TextBox 5"/>
            <p:cNvSpPr txBox="1"/>
            <p:nvPr/>
          </p:nvSpPr>
          <p:spPr>
            <a:xfrm>
              <a:off x="0" y="-47625"/>
              <a:ext cx="3012684" cy="795474"/>
            </a:xfrm>
            <a:prstGeom prst="rect">
              <a:avLst/>
            </a:prstGeom>
          </p:spPr>
          <p:txBody>
            <a:bodyPr lIns="50800" tIns="50800" rIns="50800" bIns="50800" rtlCol="0" anchor="ctr"/>
            <a:lstStyle/>
            <a:p>
              <a:pPr marL="0" lvl="0" indent="0" algn="ctr">
                <a:lnSpc>
                  <a:spcPts val="2800"/>
                </a:lnSpc>
                <a:spcBef>
                  <a:spcPct val="0"/>
                </a:spcBef>
              </a:pPr>
              <a:endParaRPr/>
            </a:p>
          </p:txBody>
        </p:sp>
      </p:grpSp>
      <p:sp>
        <p:nvSpPr>
          <p:cNvPr id="6" name="Freeform 6"/>
          <p:cNvSpPr/>
          <p:nvPr/>
        </p:nvSpPr>
        <p:spPr>
          <a:xfrm>
            <a:off x="3424608" y="4750679"/>
            <a:ext cx="1519327" cy="469610"/>
          </a:xfrm>
          <a:custGeom>
            <a:avLst/>
            <a:gdLst/>
            <a:ahLst/>
            <a:cxnLst/>
            <a:rect l="l" t="t" r="r" b="b"/>
            <a:pathLst>
              <a:path w="1519327" h="469610">
                <a:moveTo>
                  <a:pt x="0" y="0"/>
                </a:moveTo>
                <a:lnTo>
                  <a:pt x="1519327" y="0"/>
                </a:lnTo>
                <a:lnTo>
                  <a:pt x="1519327" y="469610"/>
                </a:lnTo>
                <a:lnTo>
                  <a:pt x="0" y="46961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flipH="1">
            <a:off x="13344065" y="4750679"/>
            <a:ext cx="1519327" cy="469610"/>
          </a:xfrm>
          <a:custGeom>
            <a:avLst/>
            <a:gdLst/>
            <a:ahLst/>
            <a:cxnLst/>
            <a:rect l="l" t="t" r="r" b="b"/>
            <a:pathLst>
              <a:path w="1519327" h="469610">
                <a:moveTo>
                  <a:pt x="1519327" y="0"/>
                </a:moveTo>
                <a:lnTo>
                  <a:pt x="0" y="0"/>
                </a:lnTo>
                <a:lnTo>
                  <a:pt x="0" y="469610"/>
                </a:lnTo>
                <a:lnTo>
                  <a:pt x="1519327" y="469610"/>
                </a:lnTo>
                <a:lnTo>
                  <a:pt x="15193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8" name="Group 8"/>
          <p:cNvGrpSpPr/>
          <p:nvPr/>
        </p:nvGrpSpPr>
        <p:grpSpPr>
          <a:xfrm>
            <a:off x="0" y="8996715"/>
            <a:ext cx="18288000" cy="1290285"/>
            <a:chOff x="0" y="0"/>
            <a:chExt cx="4816593" cy="339828"/>
          </a:xfrm>
        </p:grpSpPr>
        <p:sp>
          <p:nvSpPr>
            <p:cNvPr id="9" name="Freeform 9"/>
            <p:cNvSpPr/>
            <p:nvPr/>
          </p:nvSpPr>
          <p:spPr>
            <a:xfrm>
              <a:off x="0" y="0"/>
              <a:ext cx="4816592" cy="339828"/>
            </a:xfrm>
            <a:custGeom>
              <a:avLst/>
              <a:gdLst/>
              <a:ahLst/>
              <a:cxnLst/>
              <a:rect l="l" t="t" r="r" b="b"/>
              <a:pathLst>
                <a:path w="4816592" h="339828">
                  <a:moveTo>
                    <a:pt x="0" y="0"/>
                  </a:moveTo>
                  <a:lnTo>
                    <a:pt x="4816592" y="0"/>
                  </a:lnTo>
                  <a:lnTo>
                    <a:pt x="4816592" y="339828"/>
                  </a:lnTo>
                  <a:lnTo>
                    <a:pt x="0" y="339828"/>
                  </a:lnTo>
                  <a:close/>
                </a:path>
              </a:pathLst>
            </a:custGeom>
            <a:solidFill>
              <a:srgbClr val="0E2F5F"/>
            </a:solidFill>
            <a:ln cap="sq">
              <a:noFill/>
              <a:prstDash val="solid"/>
              <a:miter/>
            </a:ln>
          </p:spPr>
          <p:txBody>
            <a:bodyPr/>
            <a:lstStyle/>
            <a:p>
              <a:endParaRPr lang="en-US"/>
            </a:p>
          </p:txBody>
        </p:sp>
        <p:sp>
          <p:nvSpPr>
            <p:cNvPr id="10" name="TextBox 10"/>
            <p:cNvSpPr txBox="1"/>
            <p:nvPr/>
          </p:nvSpPr>
          <p:spPr>
            <a:xfrm>
              <a:off x="0" y="-47625"/>
              <a:ext cx="4816593" cy="387453"/>
            </a:xfrm>
            <a:prstGeom prst="rect">
              <a:avLst/>
            </a:prstGeom>
          </p:spPr>
          <p:txBody>
            <a:bodyPr lIns="50800" tIns="50800" rIns="50800" bIns="50800" rtlCol="0" anchor="ctr"/>
            <a:lstStyle/>
            <a:p>
              <a:pPr marL="0" lvl="0" indent="0" algn="ctr">
                <a:lnSpc>
                  <a:spcPts val="2800"/>
                </a:lnSpc>
                <a:spcBef>
                  <a:spcPct val="0"/>
                </a:spcBef>
              </a:pPr>
              <a:endParaRPr/>
            </a:p>
          </p:txBody>
        </p:sp>
      </p:grpSp>
      <p:sp>
        <p:nvSpPr>
          <p:cNvPr id="11" name="Freeform 11"/>
          <p:cNvSpPr/>
          <p:nvPr/>
        </p:nvSpPr>
        <p:spPr>
          <a:xfrm>
            <a:off x="5161378" y="1861184"/>
            <a:ext cx="7965244" cy="7135531"/>
          </a:xfrm>
          <a:custGeom>
            <a:avLst/>
            <a:gdLst/>
            <a:ahLst/>
            <a:cxnLst/>
            <a:rect l="l" t="t" r="r" b="b"/>
            <a:pathLst>
              <a:path w="7965244" h="7135531">
                <a:moveTo>
                  <a:pt x="0" y="0"/>
                </a:moveTo>
                <a:lnTo>
                  <a:pt x="7965244" y="0"/>
                </a:lnTo>
                <a:lnTo>
                  <a:pt x="7965244" y="7135531"/>
                </a:lnTo>
                <a:lnTo>
                  <a:pt x="0" y="7135531"/>
                </a:lnTo>
                <a:lnTo>
                  <a:pt x="0" y="0"/>
                </a:lnTo>
                <a:close/>
              </a:path>
            </a:pathLst>
          </a:custGeom>
          <a:blipFill>
            <a:blip r:embed="rId6"/>
            <a:stretch>
              <a:fillRect/>
            </a:stretch>
          </a:blipFill>
        </p:spPr>
        <p:txBody>
          <a:bodyPr/>
          <a:lstStyle/>
          <a:p>
            <a:endParaRPr lang="en-US"/>
          </a:p>
        </p:txBody>
      </p:sp>
      <p:sp>
        <p:nvSpPr>
          <p:cNvPr id="12" name="TextBox 12"/>
          <p:cNvSpPr txBox="1"/>
          <p:nvPr/>
        </p:nvSpPr>
        <p:spPr>
          <a:xfrm>
            <a:off x="3684626" y="23241"/>
            <a:ext cx="11021973" cy="1343894"/>
          </a:xfrm>
          <a:prstGeom prst="rect">
            <a:avLst/>
          </a:prstGeom>
        </p:spPr>
        <p:txBody>
          <a:bodyPr wrap="square" lIns="0" tIns="0" rIns="0" bIns="0" rtlCol="0" anchor="t">
            <a:spAutoFit/>
          </a:bodyPr>
          <a:lstStyle/>
          <a:p>
            <a:pPr algn="ctr">
              <a:lnSpc>
                <a:spcPts val="11200"/>
              </a:lnSpc>
            </a:pPr>
            <a:r>
              <a:rPr lang="en-US" sz="8000" b="1" dirty="0">
                <a:solidFill>
                  <a:srgbClr val="000000"/>
                </a:solidFill>
                <a:latin typeface="Akzidenz-Grotesk Bold"/>
                <a:ea typeface="Akzidenz-Grotesk Bold"/>
                <a:cs typeface="Akzidenz-Grotesk Bold"/>
                <a:sym typeface="Akzidenz-Grotesk Bold"/>
              </a:rPr>
              <a:t>General class diagram</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334F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7511163" y="7791225"/>
            <a:ext cx="305535" cy="302202"/>
          </a:xfrm>
          <a:custGeom>
            <a:avLst/>
            <a:gdLst/>
            <a:ahLst/>
            <a:cxnLst/>
            <a:rect l="l" t="t" r="r" b="b"/>
            <a:pathLst>
              <a:path w="305535" h="302202">
                <a:moveTo>
                  <a:pt x="0" y="0"/>
                </a:moveTo>
                <a:lnTo>
                  <a:pt x="305535" y="0"/>
                </a:lnTo>
                <a:lnTo>
                  <a:pt x="305535" y="302203"/>
                </a:lnTo>
                <a:lnTo>
                  <a:pt x="0" y="3022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3424608" y="-1072654"/>
            <a:ext cx="11438784" cy="2839490"/>
            <a:chOff x="0" y="0"/>
            <a:chExt cx="3012684" cy="747849"/>
          </a:xfrm>
        </p:grpSpPr>
        <p:sp>
          <p:nvSpPr>
            <p:cNvPr id="4" name="Freeform 4"/>
            <p:cNvSpPr/>
            <p:nvPr/>
          </p:nvSpPr>
          <p:spPr>
            <a:xfrm>
              <a:off x="0" y="0"/>
              <a:ext cx="3012684" cy="747849"/>
            </a:xfrm>
            <a:custGeom>
              <a:avLst/>
              <a:gdLst/>
              <a:ahLst/>
              <a:cxnLst/>
              <a:rect l="l" t="t" r="r" b="b"/>
              <a:pathLst>
                <a:path w="3012684" h="747849">
                  <a:moveTo>
                    <a:pt x="39932" y="0"/>
                  </a:moveTo>
                  <a:lnTo>
                    <a:pt x="2972752" y="0"/>
                  </a:lnTo>
                  <a:cubicBezTo>
                    <a:pt x="2994806" y="0"/>
                    <a:pt x="3012684" y="17878"/>
                    <a:pt x="3012684" y="39932"/>
                  </a:cubicBezTo>
                  <a:lnTo>
                    <a:pt x="3012684" y="707917"/>
                  </a:lnTo>
                  <a:cubicBezTo>
                    <a:pt x="3012684" y="729971"/>
                    <a:pt x="2994806" y="747849"/>
                    <a:pt x="2972752" y="747849"/>
                  </a:cubicBezTo>
                  <a:lnTo>
                    <a:pt x="39932" y="747849"/>
                  </a:lnTo>
                  <a:cubicBezTo>
                    <a:pt x="17878" y="747849"/>
                    <a:pt x="0" y="729971"/>
                    <a:pt x="0" y="707917"/>
                  </a:cubicBezTo>
                  <a:lnTo>
                    <a:pt x="0" y="39932"/>
                  </a:lnTo>
                  <a:cubicBezTo>
                    <a:pt x="0" y="17878"/>
                    <a:pt x="17878" y="0"/>
                    <a:pt x="39932" y="0"/>
                  </a:cubicBezTo>
                  <a:close/>
                </a:path>
              </a:pathLst>
            </a:custGeom>
            <a:solidFill>
              <a:srgbClr val="E1EDFC"/>
            </a:solidFill>
            <a:ln cap="rnd">
              <a:noFill/>
              <a:prstDash val="solid"/>
              <a:round/>
            </a:ln>
          </p:spPr>
          <p:txBody>
            <a:bodyPr/>
            <a:lstStyle/>
            <a:p>
              <a:endParaRPr lang="en-US"/>
            </a:p>
          </p:txBody>
        </p:sp>
        <p:sp>
          <p:nvSpPr>
            <p:cNvPr id="5" name="TextBox 5"/>
            <p:cNvSpPr txBox="1"/>
            <p:nvPr/>
          </p:nvSpPr>
          <p:spPr>
            <a:xfrm>
              <a:off x="0" y="-47625"/>
              <a:ext cx="3012684" cy="795474"/>
            </a:xfrm>
            <a:prstGeom prst="rect">
              <a:avLst/>
            </a:prstGeom>
          </p:spPr>
          <p:txBody>
            <a:bodyPr lIns="50800" tIns="50800" rIns="50800" bIns="50800" rtlCol="0" anchor="ctr"/>
            <a:lstStyle/>
            <a:p>
              <a:pPr marL="0" lvl="0" indent="0" algn="ctr">
                <a:lnSpc>
                  <a:spcPts val="2800"/>
                </a:lnSpc>
                <a:spcBef>
                  <a:spcPct val="0"/>
                </a:spcBef>
              </a:pPr>
              <a:endParaRPr/>
            </a:p>
          </p:txBody>
        </p:sp>
      </p:grpSp>
      <p:sp>
        <p:nvSpPr>
          <p:cNvPr id="6" name="Freeform 6"/>
          <p:cNvSpPr/>
          <p:nvPr/>
        </p:nvSpPr>
        <p:spPr>
          <a:xfrm>
            <a:off x="770484" y="4750679"/>
            <a:ext cx="1519327" cy="469610"/>
          </a:xfrm>
          <a:custGeom>
            <a:avLst/>
            <a:gdLst/>
            <a:ahLst/>
            <a:cxnLst/>
            <a:rect l="l" t="t" r="r" b="b"/>
            <a:pathLst>
              <a:path w="1519327" h="469610">
                <a:moveTo>
                  <a:pt x="0" y="0"/>
                </a:moveTo>
                <a:lnTo>
                  <a:pt x="1519327" y="0"/>
                </a:lnTo>
                <a:lnTo>
                  <a:pt x="1519327" y="469610"/>
                </a:lnTo>
                <a:lnTo>
                  <a:pt x="0" y="46961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flipH="1">
            <a:off x="15998189" y="4750679"/>
            <a:ext cx="1519327" cy="469610"/>
          </a:xfrm>
          <a:custGeom>
            <a:avLst/>
            <a:gdLst/>
            <a:ahLst/>
            <a:cxnLst/>
            <a:rect l="l" t="t" r="r" b="b"/>
            <a:pathLst>
              <a:path w="1519327" h="469610">
                <a:moveTo>
                  <a:pt x="1519327" y="0"/>
                </a:moveTo>
                <a:lnTo>
                  <a:pt x="0" y="0"/>
                </a:lnTo>
                <a:lnTo>
                  <a:pt x="0" y="469610"/>
                </a:lnTo>
                <a:lnTo>
                  <a:pt x="1519327" y="469610"/>
                </a:lnTo>
                <a:lnTo>
                  <a:pt x="1519327"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8" name="Group 8"/>
          <p:cNvGrpSpPr/>
          <p:nvPr/>
        </p:nvGrpSpPr>
        <p:grpSpPr>
          <a:xfrm>
            <a:off x="0" y="8996715"/>
            <a:ext cx="18288000" cy="1290285"/>
            <a:chOff x="0" y="0"/>
            <a:chExt cx="4816593" cy="339828"/>
          </a:xfrm>
        </p:grpSpPr>
        <p:sp>
          <p:nvSpPr>
            <p:cNvPr id="9" name="Freeform 9"/>
            <p:cNvSpPr/>
            <p:nvPr/>
          </p:nvSpPr>
          <p:spPr>
            <a:xfrm>
              <a:off x="0" y="0"/>
              <a:ext cx="4816592" cy="339828"/>
            </a:xfrm>
            <a:custGeom>
              <a:avLst/>
              <a:gdLst/>
              <a:ahLst/>
              <a:cxnLst/>
              <a:rect l="l" t="t" r="r" b="b"/>
              <a:pathLst>
                <a:path w="4816592" h="339828">
                  <a:moveTo>
                    <a:pt x="0" y="0"/>
                  </a:moveTo>
                  <a:lnTo>
                    <a:pt x="4816592" y="0"/>
                  </a:lnTo>
                  <a:lnTo>
                    <a:pt x="4816592" y="339828"/>
                  </a:lnTo>
                  <a:lnTo>
                    <a:pt x="0" y="339828"/>
                  </a:lnTo>
                  <a:close/>
                </a:path>
              </a:pathLst>
            </a:custGeom>
            <a:solidFill>
              <a:srgbClr val="0E2F5F"/>
            </a:solidFill>
            <a:ln cap="sq">
              <a:noFill/>
              <a:prstDash val="solid"/>
              <a:miter/>
            </a:ln>
          </p:spPr>
          <p:txBody>
            <a:bodyPr/>
            <a:lstStyle/>
            <a:p>
              <a:endParaRPr lang="en-US"/>
            </a:p>
          </p:txBody>
        </p:sp>
        <p:sp>
          <p:nvSpPr>
            <p:cNvPr id="10" name="TextBox 10"/>
            <p:cNvSpPr txBox="1"/>
            <p:nvPr/>
          </p:nvSpPr>
          <p:spPr>
            <a:xfrm>
              <a:off x="0" y="-47625"/>
              <a:ext cx="4816593" cy="387453"/>
            </a:xfrm>
            <a:prstGeom prst="rect">
              <a:avLst/>
            </a:prstGeom>
          </p:spPr>
          <p:txBody>
            <a:bodyPr lIns="50800" tIns="50800" rIns="50800" bIns="50800" rtlCol="0" anchor="ctr"/>
            <a:lstStyle/>
            <a:p>
              <a:pPr marL="0" lvl="0" indent="0" algn="ctr">
                <a:lnSpc>
                  <a:spcPts val="2800"/>
                </a:lnSpc>
                <a:spcBef>
                  <a:spcPct val="0"/>
                </a:spcBef>
              </a:pPr>
              <a:endParaRPr/>
            </a:p>
          </p:txBody>
        </p:sp>
      </p:grpSp>
      <p:sp>
        <p:nvSpPr>
          <p:cNvPr id="11" name="Freeform 11"/>
          <p:cNvSpPr/>
          <p:nvPr/>
        </p:nvSpPr>
        <p:spPr>
          <a:xfrm>
            <a:off x="2735503" y="1825060"/>
            <a:ext cx="12816993" cy="7113431"/>
          </a:xfrm>
          <a:custGeom>
            <a:avLst/>
            <a:gdLst/>
            <a:ahLst/>
            <a:cxnLst/>
            <a:rect l="l" t="t" r="r" b="b"/>
            <a:pathLst>
              <a:path w="12816993" h="7113431">
                <a:moveTo>
                  <a:pt x="0" y="0"/>
                </a:moveTo>
                <a:lnTo>
                  <a:pt x="12816994" y="0"/>
                </a:lnTo>
                <a:lnTo>
                  <a:pt x="12816994" y="7113431"/>
                </a:lnTo>
                <a:lnTo>
                  <a:pt x="0" y="7113431"/>
                </a:lnTo>
                <a:lnTo>
                  <a:pt x="0" y="0"/>
                </a:lnTo>
                <a:close/>
              </a:path>
            </a:pathLst>
          </a:custGeom>
          <a:blipFill>
            <a:blip r:embed="rId6"/>
            <a:stretch>
              <a:fillRect/>
            </a:stretch>
          </a:blipFill>
        </p:spPr>
        <p:txBody>
          <a:bodyPr/>
          <a:lstStyle/>
          <a:p>
            <a:endParaRPr lang="en-US"/>
          </a:p>
        </p:txBody>
      </p:sp>
      <p:sp>
        <p:nvSpPr>
          <p:cNvPr id="12" name="TextBox 12"/>
          <p:cNvSpPr txBox="1"/>
          <p:nvPr/>
        </p:nvSpPr>
        <p:spPr>
          <a:xfrm>
            <a:off x="5665291" y="23241"/>
            <a:ext cx="6957417" cy="1547487"/>
          </a:xfrm>
          <a:prstGeom prst="rect">
            <a:avLst/>
          </a:prstGeom>
        </p:spPr>
        <p:txBody>
          <a:bodyPr lIns="0" tIns="0" rIns="0" bIns="0" rtlCol="0" anchor="t">
            <a:spAutoFit/>
          </a:bodyPr>
          <a:lstStyle/>
          <a:p>
            <a:pPr algn="ctr">
              <a:lnSpc>
                <a:spcPts val="11200"/>
              </a:lnSpc>
            </a:pPr>
            <a:r>
              <a:rPr lang="en-US" sz="8000" b="1">
                <a:solidFill>
                  <a:srgbClr val="000000"/>
                </a:solidFill>
                <a:latin typeface="Akzidenz-Grotesk Bold"/>
                <a:ea typeface="Akzidenz-Grotesk Bold"/>
                <a:cs typeface="Akzidenz-Grotesk Bold"/>
                <a:sym typeface="Akzidenz-Grotesk Bold"/>
              </a:rPr>
              <a:t>Class diagram</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31E40"/>
        </a:solidFill>
        <a:effectLst/>
      </p:bgPr>
    </p:bg>
    <p:spTree>
      <p:nvGrpSpPr>
        <p:cNvPr id="1" name=""/>
        <p:cNvGrpSpPr/>
        <p:nvPr/>
      </p:nvGrpSpPr>
      <p:grpSpPr>
        <a:xfrm>
          <a:off x="0" y="0"/>
          <a:ext cx="0" cy="0"/>
          <a:chOff x="0" y="0"/>
          <a:chExt cx="0" cy="0"/>
        </a:xfrm>
      </p:grpSpPr>
      <p:sp>
        <p:nvSpPr>
          <p:cNvPr id="2" name="Freeform 2"/>
          <p:cNvSpPr/>
          <p:nvPr/>
        </p:nvSpPr>
        <p:spPr>
          <a:xfrm>
            <a:off x="14565940" y="-491592"/>
            <a:ext cx="8754599" cy="8754599"/>
          </a:xfrm>
          <a:custGeom>
            <a:avLst/>
            <a:gdLst/>
            <a:ahLst/>
            <a:cxnLst/>
            <a:rect l="l" t="t" r="r" b="b"/>
            <a:pathLst>
              <a:path w="8754599" h="8754599">
                <a:moveTo>
                  <a:pt x="0" y="0"/>
                </a:moveTo>
                <a:lnTo>
                  <a:pt x="8754598" y="0"/>
                </a:lnTo>
                <a:lnTo>
                  <a:pt x="8754598" y="8754599"/>
                </a:lnTo>
                <a:lnTo>
                  <a:pt x="0" y="87545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2201419" y="5061812"/>
            <a:ext cx="5246522" cy="7495031"/>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stretch>
                <a:fillRect l="-57142" r="-57142"/>
              </a:stretch>
            </a:blipFill>
          </p:spPr>
          <p:txBody>
            <a:bodyPr/>
            <a:lstStyle/>
            <a:p>
              <a:endParaRPr lang="en-US"/>
            </a:p>
          </p:txBody>
        </p:sp>
      </p:grpSp>
      <p:grpSp>
        <p:nvGrpSpPr>
          <p:cNvPr id="5" name="Group 5"/>
          <p:cNvGrpSpPr/>
          <p:nvPr/>
        </p:nvGrpSpPr>
        <p:grpSpPr>
          <a:xfrm rot="-10800000">
            <a:off x="12201419" y="5061812"/>
            <a:ext cx="5246522" cy="7495031"/>
            <a:chOff x="0" y="0"/>
            <a:chExt cx="4445000" cy="6350000"/>
          </a:xfrm>
        </p:grpSpPr>
        <p:sp>
          <p:nvSpPr>
            <p:cNvPr id="6" name="Freeform 6"/>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r="-201730"/>
              </a:stretch>
            </a:blipFill>
          </p:spPr>
          <p:txBody>
            <a:bodyPr/>
            <a:lstStyle/>
            <a:p>
              <a:endParaRPr lang="en-US"/>
            </a:p>
          </p:txBody>
        </p:sp>
      </p:grpSp>
      <p:grpSp>
        <p:nvGrpSpPr>
          <p:cNvPr id="7" name="Group 7"/>
          <p:cNvGrpSpPr/>
          <p:nvPr/>
        </p:nvGrpSpPr>
        <p:grpSpPr>
          <a:xfrm rot="-10800000">
            <a:off x="9144000" y="6196748"/>
            <a:ext cx="2564685" cy="3663835"/>
            <a:chOff x="0" y="0"/>
            <a:chExt cx="4445000" cy="6350000"/>
          </a:xfrm>
        </p:grpSpPr>
        <p:sp>
          <p:nvSpPr>
            <p:cNvPr id="8" name="Freeform 8"/>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r="-201730"/>
              </a:stretch>
            </a:blipFill>
          </p:spPr>
          <p:txBody>
            <a:bodyPr/>
            <a:lstStyle/>
            <a:p>
              <a:endParaRPr lang="en-US"/>
            </a:p>
          </p:txBody>
        </p:sp>
      </p:grpSp>
      <p:grpSp>
        <p:nvGrpSpPr>
          <p:cNvPr id="9" name="Group 9"/>
          <p:cNvGrpSpPr/>
          <p:nvPr/>
        </p:nvGrpSpPr>
        <p:grpSpPr>
          <a:xfrm>
            <a:off x="15763958" y="-781916"/>
            <a:ext cx="1683983" cy="2405689"/>
            <a:chOff x="0" y="0"/>
            <a:chExt cx="4445000" cy="6350000"/>
          </a:xfrm>
        </p:grpSpPr>
        <p:sp>
          <p:nvSpPr>
            <p:cNvPr id="10" name="Freeform 10"/>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r="-201730"/>
              </a:stretch>
            </a:blipFill>
          </p:spPr>
          <p:txBody>
            <a:bodyPr/>
            <a:lstStyle/>
            <a:p>
              <a:endParaRPr lang="en-US"/>
            </a:p>
          </p:txBody>
        </p:sp>
      </p:grpSp>
      <p:grpSp>
        <p:nvGrpSpPr>
          <p:cNvPr id="11" name="Group 11"/>
          <p:cNvGrpSpPr/>
          <p:nvPr/>
        </p:nvGrpSpPr>
        <p:grpSpPr>
          <a:xfrm>
            <a:off x="8805262" y="-3450194"/>
            <a:ext cx="6752859" cy="9646942"/>
            <a:chOff x="0" y="0"/>
            <a:chExt cx="4445000" cy="6350000"/>
          </a:xfrm>
        </p:grpSpPr>
        <p:sp>
          <p:nvSpPr>
            <p:cNvPr id="12" name="Freeform 12"/>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6"/>
              <a:stretch>
                <a:fillRect l="-21428" r="-21428"/>
              </a:stretch>
            </a:blipFill>
          </p:spPr>
          <p:txBody>
            <a:bodyPr/>
            <a:lstStyle/>
            <a:p>
              <a:endParaRPr lang="en-US"/>
            </a:p>
          </p:txBody>
        </p:sp>
      </p:grpSp>
      <p:grpSp>
        <p:nvGrpSpPr>
          <p:cNvPr id="13" name="Group 13"/>
          <p:cNvGrpSpPr/>
          <p:nvPr/>
        </p:nvGrpSpPr>
        <p:grpSpPr>
          <a:xfrm>
            <a:off x="8805262" y="-3450194"/>
            <a:ext cx="6752859" cy="9646942"/>
            <a:chOff x="0" y="0"/>
            <a:chExt cx="4445000" cy="6350000"/>
          </a:xfrm>
        </p:grpSpPr>
        <p:sp>
          <p:nvSpPr>
            <p:cNvPr id="14" name="Freeform 1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5"/>
              <a:stretch>
                <a:fillRect l="-201730" r="-201730"/>
              </a:stretch>
            </a:blipFill>
          </p:spPr>
          <p:txBody>
            <a:bodyPr/>
            <a:lstStyle/>
            <a:p>
              <a:endParaRPr lang="en-US"/>
            </a:p>
          </p:txBody>
        </p:sp>
      </p:grpSp>
      <p:grpSp>
        <p:nvGrpSpPr>
          <p:cNvPr id="15" name="Group 15"/>
          <p:cNvGrpSpPr/>
          <p:nvPr/>
        </p:nvGrpSpPr>
        <p:grpSpPr>
          <a:xfrm rot="5400000">
            <a:off x="16605949" y="3464712"/>
            <a:ext cx="841991" cy="841991"/>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26211" r="-126211"/>
              </a:stretch>
            </a:blipFill>
          </p:spPr>
          <p:txBody>
            <a:bodyPr/>
            <a:lstStyle/>
            <a:p>
              <a:endParaRPr lang="en-US"/>
            </a:p>
          </p:txBody>
        </p:sp>
      </p:grpSp>
      <p:sp>
        <p:nvSpPr>
          <p:cNvPr id="17" name="Freeform 17"/>
          <p:cNvSpPr/>
          <p:nvPr/>
        </p:nvSpPr>
        <p:spPr>
          <a:xfrm>
            <a:off x="-5976625" y="4306703"/>
            <a:ext cx="8754599" cy="8754599"/>
          </a:xfrm>
          <a:custGeom>
            <a:avLst/>
            <a:gdLst/>
            <a:ahLst/>
            <a:cxnLst/>
            <a:rect l="l" t="t" r="r" b="b"/>
            <a:pathLst>
              <a:path w="8754599" h="8754599">
                <a:moveTo>
                  <a:pt x="0" y="0"/>
                </a:moveTo>
                <a:lnTo>
                  <a:pt x="8754599" y="0"/>
                </a:lnTo>
                <a:lnTo>
                  <a:pt x="8754599" y="8754599"/>
                </a:lnTo>
                <a:lnTo>
                  <a:pt x="0" y="87545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8" name="TextBox 18"/>
          <p:cNvSpPr txBox="1"/>
          <p:nvPr/>
        </p:nvSpPr>
        <p:spPr>
          <a:xfrm>
            <a:off x="1573748" y="4653915"/>
            <a:ext cx="7231514" cy="969645"/>
          </a:xfrm>
          <a:prstGeom prst="rect">
            <a:avLst/>
          </a:prstGeom>
        </p:spPr>
        <p:txBody>
          <a:bodyPr lIns="0" tIns="0" rIns="0" bIns="0" rtlCol="0" anchor="t">
            <a:spAutoFit/>
          </a:bodyPr>
          <a:lstStyle/>
          <a:p>
            <a:pPr algn="l">
              <a:lnSpc>
                <a:spcPts val="7506"/>
              </a:lnSpc>
            </a:pPr>
            <a:r>
              <a:rPr lang="en-US" sz="6255" b="1">
                <a:solidFill>
                  <a:srgbClr val="17E3B2"/>
                </a:solidFill>
                <a:latin typeface="Almarai Bold"/>
                <a:ea typeface="Almarai Bold"/>
                <a:cs typeface="Almarai Bold"/>
                <a:sym typeface="Almarai Bold"/>
              </a:rPr>
              <a:t>IMPLEMENTATION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a:off x="17259300" y="2066886"/>
            <a:ext cx="5754080" cy="8220114"/>
            <a:chOff x="0" y="0"/>
            <a:chExt cx="4445000" cy="6350000"/>
          </a:xfrm>
        </p:grpSpPr>
        <p:sp>
          <p:nvSpPr>
            <p:cNvPr id="3" name="Freeform 3"/>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2"/>
              <a:stretch>
                <a:fillRect l="-201730" r="-201730"/>
              </a:stretch>
            </a:blipFill>
          </p:spPr>
          <p:txBody>
            <a:bodyPr/>
            <a:lstStyle/>
            <a:p>
              <a:endParaRPr lang="en-US"/>
            </a:p>
          </p:txBody>
        </p:sp>
      </p:grpSp>
      <p:grpSp>
        <p:nvGrpSpPr>
          <p:cNvPr id="4" name="Group 4"/>
          <p:cNvGrpSpPr/>
          <p:nvPr/>
        </p:nvGrpSpPr>
        <p:grpSpPr>
          <a:xfrm>
            <a:off x="9144000" y="3308849"/>
            <a:ext cx="7759437" cy="295449"/>
            <a:chOff x="0" y="0"/>
            <a:chExt cx="10345916" cy="393932"/>
          </a:xfrm>
        </p:grpSpPr>
        <p:grpSp>
          <p:nvGrpSpPr>
            <p:cNvPr id="5" name="Group 5"/>
            <p:cNvGrpSpPr/>
            <p:nvPr/>
          </p:nvGrpSpPr>
          <p:grpSpPr>
            <a:xfrm rot="5400000">
              <a:off x="5008347" y="-4883516"/>
              <a:ext cx="126021" cy="10142716"/>
              <a:chOff x="0" y="0"/>
              <a:chExt cx="24893" cy="2003499"/>
            </a:xfrm>
          </p:grpSpPr>
          <p:sp>
            <p:nvSpPr>
              <p:cNvPr id="6" name="Freeform 6"/>
              <p:cNvSpPr/>
              <p:nvPr/>
            </p:nvSpPr>
            <p:spPr>
              <a:xfrm>
                <a:off x="0" y="0"/>
                <a:ext cx="24893" cy="2003499"/>
              </a:xfrm>
              <a:custGeom>
                <a:avLst/>
                <a:gdLst/>
                <a:ahLst/>
                <a:cxnLst/>
                <a:rect l="l" t="t" r="r" b="b"/>
                <a:pathLst>
                  <a:path w="24893" h="2003499">
                    <a:moveTo>
                      <a:pt x="0" y="0"/>
                    </a:moveTo>
                    <a:lnTo>
                      <a:pt x="24893" y="0"/>
                    </a:lnTo>
                    <a:lnTo>
                      <a:pt x="24893" y="2003499"/>
                    </a:lnTo>
                    <a:lnTo>
                      <a:pt x="0" y="2003499"/>
                    </a:lnTo>
                    <a:close/>
                  </a:path>
                </a:pathLst>
              </a:custGeom>
              <a:solidFill>
                <a:srgbClr val="145DA0"/>
              </a:solidFill>
            </p:spPr>
            <p:txBody>
              <a:bodyPr/>
              <a:lstStyle/>
              <a:p>
                <a:endParaRPr lang="en-US"/>
              </a:p>
            </p:txBody>
          </p:sp>
          <p:sp>
            <p:nvSpPr>
              <p:cNvPr id="7" name="TextBox 7"/>
              <p:cNvSpPr txBox="1"/>
              <p:nvPr/>
            </p:nvSpPr>
            <p:spPr>
              <a:xfrm>
                <a:off x="0" y="-47625"/>
                <a:ext cx="24893" cy="2051124"/>
              </a:xfrm>
              <a:prstGeom prst="rect">
                <a:avLst/>
              </a:prstGeom>
            </p:spPr>
            <p:txBody>
              <a:bodyPr lIns="50800" tIns="50800" rIns="50800" bIns="50800" rtlCol="0" anchor="ctr"/>
              <a:lstStyle/>
              <a:p>
                <a:pPr algn="ctr">
                  <a:lnSpc>
                    <a:spcPts val="2605"/>
                  </a:lnSpc>
                </a:pPr>
                <a:endParaRPr/>
              </a:p>
            </p:txBody>
          </p:sp>
        </p:grpSp>
        <p:grpSp>
          <p:nvGrpSpPr>
            <p:cNvPr id="8" name="Group 8"/>
            <p:cNvGrpSpPr/>
            <p:nvPr/>
          </p:nvGrpSpPr>
          <p:grpSpPr>
            <a:xfrm rot="5400000">
              <a:off x="8841487" y="-1110497"/>
              <a:ext cx="393932" cy="2614925"/>
              <a:chOff x="0" y="0"/>
              <a:chExt cx="77814" cy="516528"/>
            </a:xfrm>
          </p:grpSpPr>
          <p:sp>
            <p:nvSpPr>
              <p:cNvPr id="9" name="Freeform 9"/>
              <p:cNvSpPr/>
              <p:nvPr/>
            </p:nvSpPr>
            <p:spPr>
              <a:xfrm>
                <a:off x="0" y="0"/>
                <a:ext cx="77814" cy="516528"/>
              </a:xfrm>
              <a:custGeom>
                <a:avLst/>
                <a:gdLst/>
                <a:ahLst/>
                <a:cxnLst/>
                <a:rect l="l" t="t" r="r" b="b"/>
                <a:pathLst>
                  <a:path w="77814" h="516528">
                    <a:moveTo>
                      <a:pt x="0" y="0"/>
                    </a:moveTo>
                    <a:lnTo>
                      <a:pt x="77814" y="0"/>
                    </a:lnTo>
                    <a:lnTo>
                      <a:pt x="77814" y="516528"/>
                    </a:lnTo>
                    <a:lnTo>
                      <a:pt x="0" y="516528"/>
                    </a:lnTo>
                    <a:close/>
                  </a:path>
                </a:pathLst>
              </a:custGeom>
              <a:solidFill>
                <a:srgbClr val="17E3B2"/>
              </a:solidFill>
            </p:spPr>
            <p:txBody>
              <a:bodyPr/>
              <a:lstStyle/>
              <a:p>
                <a:endParaRPr lang="en-US"/>
              </a:p>
            </p:txBody>
          </p:sp>
          <p:sp>
            <p:nvSpPr>
              <p:cNvPr id="10" name="TextBox 10"/>
              <p:cNvSpPr txBox="1"/>
              <p:nvPr/>
            </p:nvSpPr>
            <p:spPr>
              <a:xfrm>
                <a:off x="0" y="-47625"/>
                <a:ext cx="77814" cy="564153"/>
              </a:xfrm>
              <a:prstGeom prst="rect">
                <a:avLst/>
              </a:prstGeom>
            </p:spPr>
            <p:txBody>
              <a:bodyPr lIns="50800" tIns="50800" rIns="50800" bIns="50800" rtlCol="0" anchor="ctr"/>
              <a:lstStyle/>
              <a:p>
                <a:pPr algn="ctr">
                  <a:lnSpc>
                    <a:spcPts val="2605"/>
                  </a:lnSpc>
                </a:pPr>
                <a:endParaRPr/>
              </a:p>
            </p:txBody>
          </p:sp>
        </p:grpSp>
      </p:grpSp>
      <p:grpSp>
        <p:nvGrpSpPr>
          <p:cNvPr id="11" name="Group 11"/>
          <p:cNvGrpSpPr/>
          <p:nvPr/>
        </p:nvGrpSpPr>
        <p:grpSpPr>
          <a:xfrm rot="5400000">
            <a:off x="8907960" y="1339835"/>
            <a:ext cx="1224824" cy="122482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26211" r="-126211"/>
              </a:stretch>
            </a:blipFill>
          </p:spPr>
          <p:txBody>
            <a:bodyPr/>
            <a:lstStyle/>
            <a:p>
              <a:endParaRPr lang="en-US"/>
            </a:p>
          </p:txBody>
        </p:sp>
      </p:grpSp>
      <p:sp>
        <p:nvSpPr>
          <p:cNvPr id="13" name="Freeform 13"/>
          <p:cNvSpPr/>
          <p:nvPr/>
        </p:nvSpPr>
        <p:spPr>
          <a:xfrm>
            <a:off x="629252" y="594253"/>
            <a:ext cx="7383960" cy="3664325"/>
          </a:xfrm>
          <a:custGeom>
            <a:avLst/>
            <a:gdLst/>
            <a:ahLst/>
            <a:cxnLst/>
            <a:rect l="l" t="t" r="r" b="b"/>
            <a:pathLst>
              <a:path w="7383960" h="3664325">
                <a:moveTo>
                  <a:pt x="0" y="0"/>
                </a:moveTo>
                <a:lnTo>
                  <a:pt x="7383960" y="0"/>
                </a:lnTo>
                <a:lnTo>
                  <a:pt x="7383960" y="3664324"/>
                </a:lnTo>
                <a:lnTo>
                  <a:pt x="0" y="3664324"/>
                </a:lnTo>
                <a:lnTo>
                  <a:pt x="0" y="0"/>
                </a:lnTo>
                <a:close/>
              </a:path>
            </a:pathLst>
          </a:custGeom>
          <a:blipFill>
            <a:blip r:embed="rId3"/>
            <a:stretch>
              <a:fillRect/>
            </a:stretch>
          </a:blipFill>
        </p:spPr>
        <p:txBody>
          <a:bodyPr/>
          <a:lstStyle/>
          <a:p>
            <a:endParaRPr lang="en-US"/>
          </a:p>
        </p:txBody>
      </p:sp>
      <p:sp>
        <p:nvSpPr>
          <p:cNvPr id="14" name="Freeform 14"/>
          <p:cNvSpPr/>
          <p:nvPr/>
        </p:nvSpPr>
        <p:spPr>
          <a:xfrm>
            <a:off x="629252" y="4929102"/>
            <a:ext cx="7383960" cy="4760947"/>
          </a:xfrm>
          <a:custGeom>
            <a:avLst/>
            <a:gdLst/>
            <a:ahLst/>
            <a:cxnLst/>
            <a:rect l="l" t="t" r="r" b="b"/>
            <a:pathLst>
              <a:path w="7383960" h="4760947">
                <a:moveTo>
                  <a:pt x="0" y="0"/>
                </a:moveTo>
                <a:lnTo>
                  <a:pt x="7383960" y="0"/>
                </a:lnTo>
                <a:lnTo>
                  <a:pt x="7383960" y="4760947"/>
                </a:lnTo>
                <a:lnTo>
                  <a:pt x="0" y="4760947"/>
                </a:lnTo>
                <a:lnTo>
                  <a:pt x="0" y="0"/>
                </a:lnTo>
                <a:close/>
              </a:path>
            </a:pathLst>
          </a:custGeom>
          <a:blipFill>
            <a:blip r:embed="rId4"/>
            <a:stretch>
              <a:fillRect/>
            </a:stretch>
          </a:blipFill>
        </p:spPr>
        <p:txBody>
          <a:bodyPr/>
          <a:lstStyle/>
          <a:p>
            <a:endParaRPr lang="en-US"/>
          </a:p>
        </p:txBody>
      </p:sp>
      <p:sp>
        <p:nvSpPr>
          <p:cNvPr id="15" name="Freeform 15"/>
          <p:cNvSpPr/>
          <p:nvPr/>
        </p:nvSpPr>
        <p:spPr>
          <a:xfrm>
            <a:off x="8737096" y="4929102"/>
            <a:ext cx="8166341" cy="3505968"/>
          </a:xfrm>
          <a:custGeom>
            <a:avLst/>
            <a:gdLst/>
            <a:ahLst/>
            <a:cxnLst/>
            <a:rect l="l" t="t" r="r" b="b"/>
            <a:pathLst>
              <a:path w="8166341" h="3505968">
                <a:moveTo>
                  <a:pt x="0" y="0"/>
                </a:moveTo>
                <a:lnTo>
                  <a:pt x="8166341" y="0"/>
                </a:lnTo>
                <a:lnTo>
                  <a:pt x="8166341" y="3505968"/>
                </a:lnTo>
                <a:lnTo>
                  <a:pt x="0" y="3505968"/>
                </a:lnTo>
                <a:lnTo>
                  <a:pt x="0" y="0"/>
                </a:lnTo>
                <a:close/>
              </a:path>
            </a:pathLst>
          </a:custGeom>
          <a:blipFill>
            <a:blip r:embed="rId5"/>
            <a:stretch>
              <a:fillRect/>
            </a:stretch>
          </a:blipFill>
        </p:spPr>
        <p:txBody>
          <a:bodyPr/>
          <a:lstStyle/>
          <a:p>
            <a:endParaRPr lang="en-US"/>
          </a:p>
        </p:txBody>
      </p:sp>
      <p:sp>
        <p:nvSpPr>
          <p:cNvPr id="16" name="TextBox 16"/>
          <p:cNvSpPr txBox="1"/>
          <p:nvPr/>
        </p:nvSpPr>
        <p:spPr>
          <a:xfrm>
            <a:off x="10630520" y="1041996"/>
            <a:ext cx="6628780" cy="2040255"/>
          </a:xfrm>
          <a:prstGeom prst="rect">
            <a:avLst/>
          </a:prstGeom>
        </p:spPr>
        <p:txBody>
          <a:bodyPr wrap="square" lIns="0" tIns="0" rIns="0" bIns="0" rtlCol="0" anchor="t">
            <a:spAutoFit/>
          </a:bodyPr>
          <a:lstStyle/>
          <a:p>
            <a:pPr marL="0" lvl="0" indent="0" algn="l">
              <a:lnSpc>
                <a:spcPts val="7884"/>
              </a:lnSpc>
              <a:spcBef>
                <a:spcPct val="0"/>
              </a:spcBef>
            </a:pPr>
            <a:r>
              <a:rPr lang="en-US" sz="6570" b="1" dirty="0">
                <a:solidFill>
                  <a:srgbClr val="FFFFFF"/>
                </a:solidFill>
                <a:latin typeface="Almarai Bold"/>
                <a:ea typeface="Almarai Bold"/>
                <a:cs typeface="Almarai Bold"/>
                <a:sym typeface="Almarai Bold"/>
              </a:rPr>
              <a:t>CLASS DECLARATION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334F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1028700"/>
            <a:ext cx="9630803" cy="8229600"/>
          </a:xfrm>
          <a:custGeom>
            <a:avLst/>
            <a:gdLst/>
            <a:ahLst/>
            <a:cxnLst/>
            <a:rect l="l" t="t" r="r" b="b"/>
            <a:pathLst>
              <a:path w="9630803" h="8229600">
                <a:moveTo>
                  <a:pt x="0" y="0"/>
                </a:moveTo>
                <a:lnTo>
                  <a:pt x="9630803" y="0"/>
                </a:lnTo>
                <a:lnTo>
                  <a:pt x="9630803" y="8229600"/>
                </a:lnTo>
                <a:lnTo>
                  <a:pt x="0" y="822960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1644581" y="914400"/>
            <a:ext cx="5067673" cy="1765935"/>
          </a:xfrm>
          <a:prstGeom prst="rect">
            <a:avLst/>
          </a:prstGeom>
        </p:spPr>
        <p:txBody>
          <a:bodyPr lIns="0" tIns="0" rIns="0" bIns="0" rtlCol="0" anchor="t">
            <a:spAutoFit/>
          </a:bodyPr>
          <a:lstStyle/>
          <a:p>
            <a:pPr algn="l">
              <a:lnSpc>
                <a:spcPts val="4770"/>
              </a:lnSpc>
            </a:pPr>
            <a:r>
              <a:rPr lang="en-US" sz="3000" b="1">
                <a:solidFill>
                  <a:srgbClr val="FFFFFF"/>
                </a:solidFill>
                <a:latin typeface="Aileron Bold"/>
                <a:ea typeface="Aileron Bold"/>
                <a:cs typeface="Aileron Bold"/>
                <a:sym typeface="Aileron Bold"/>
              </a:rPr>
              <a:t>This is the </a:t>
            </a:r>
            <a:r>
              <a:rPr lang="en-US" sz="3000" b="1">
                <a:solidFill>
                  <a:srgbClr val="17E3B2"/>
                </a:solidFill>
                <a:latin typeface="Aileron Bold"/>
                <a:ea typeface="Aileron Bold"/>
                <a:cs typeface="Aileron Bold"/>
                <a:sym typeface="Aileron Bold"/>
              </a:rPr>
              <a:t>concrete iterator</a:t>
            </a:r>
            <a:r>
              <a:rPr lang="en-US" sz="3000" b="1">
                <a:solidFill>
                  <a:srgbClr val="FFFFFF"/>
                </a:solidFill>
                <a:latin typeface="Aileron Bold"/>
                <a:ea typeface="Aileron Bold"/>
                <a:cs typeface="Aileron Bold"/>
                <a:sym typeface="Aileron Bold"/>
              </a:rPr>
              <a:t> class that implemented from the interface iterator</a:t>
            </a:r>
          </a:p>
        </p:txBody>
      </p:sp>
      <p:grpSp>
        <p:nvGrpSpPr>
          <p:cNvPr id="4" name="Group 4"/>
          <p:cNvGrpSpPr/>
          <p:nvPr/>
        </p:nvGrpSpPr>
        <p:grpSpPr>
          <a:xfrm>
            <a:off x="11595402" y="3168019"/>
            <a:ext cx="4545081" cy="1357849"/>
            <a:chOff x="0" y="0"/>
            <a:chExt cx="6060107" cy="1810466"/>
          </a:xfrm>
        </p:grpSpPr>
        <p:grpSp>
          <p:nvGrpSpPr>
            <p:cNvPr id="5" name="Group 5"/>
            <p:cNvGrpSpPr/>
            <p:nvPr/>
          </p:nvGrpSpPr>
          <p:grpSpPr>
            <a:xfrm>
              <a:off x="0" y="0"/>
              <a:ext cx="6060107" cy="1810466"/>
              <a:chOff x="0" y="0"/>
              <a:chExt cx="1185649" cy="354214"/>
            </a:xfrm>
          </p:grpSpPr>
          <p:sp>
            <p:nvSpPr>
              <p:cNvPr id="6" name="Freeform 6"/>
              <p:cNvSpPr/>
              <p:nvPr/>
            </p:nvSpPr>
            <p:spPr>
              <a:xfrm>
                <a:off x="0" y="0"/>
                <a:ext cx="1185649" cy="354214"/>
              </a:xfrm>
              <a:custGeom>
                <a:avLst/>
                <a:gdLst/>
                <a:ahLst/>
                <a:cxnLst/>
                <a:rect l="l" t="t" r="r" b="b"/>
                <a:pathLst>
                  <a:path w="1185649" h="354214">
                    <a:moveTo>
                      <a:pt x="35771" y="0"/>
                    </a:moveTo>
                    <a:lnTo>
                      <a:pt x="1149878" y="0"/>
                    </a:lnTo>
                    <a:cubicBezTo>
                      <a:pt x="1159365" y="0"/>
                      <a:pt x="1168464" y="3769"/>
                      <a:pt x="1175172" y="10477"/>
                    </a:cubicBezTo>
                    <a:cubicBezTo>
                      <a:pt x="1181880" y="17185"/>
                      <a:pt x="1185649" y="26284"/>
                      <a:pt x="1185649" y="35771"/>
                    </a:cubicBezTo>
                    <a:lnTo>
                      <a:pt x="1185649" y="318444"/>
                    </a:lnTo>
                    <a:cubicBezTo>
                      <a:pt x="1185649" y="327931"/>
                      <a:pt x="1181880" y="337029"/>
                      <a:pt x="1175172" y="343737"/>
                    </a:cubicBezTo>
                    <a:cubicBezTo>
                      <a:pt x="1168464" y="350446"/>
                      <a:pt x="1159365" y="354214"/>
                      <a:pt x="1149878" y="354214"/>
                    </a:cubicBezTo>
                    <a:lnTo>
                      <a:pt x="35771" y="354214"/>
                    </a:lnTo>
                    <a:cubicBezTo>
                      <a:pt x="16015" y="354214"/>
                      <a:pt x="0" y="338199"/>
                      <a:pt x="0" y="318444"/>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7" name="TextBox 7"/>
              <p:cNvSpPr txBox="1"/>
              <p:nvPr/>
            </p:nvSpPr>
            <p:spPr>
              <a:xfrm>
                <a:off x="0" y="19050"/>
                <a:ext cx="1185649" cy="335164"/>
              </a:xfrm>
              <a:prstGeom prst="rect">
                <a:avLst/>
              </a:prstGeom>
            </p:spPr>
            <p:txBody>
              <a:bodyPr lIns="50800" tIns="50800" rIns="50800" bIns="50800" rtlCol="0" anchor="ctr"/>
              <a:lstStyle/>
              <a:p>
                <a:pPr algn="ctr">
                  <a:lnSpc>
                    <a:spcPts val="1387"/>
                  </a:lnSpc>
                </a:pPr>
                <a:endParaRPr/>
              </a:p>
            </p:txBody>
          </p:sp>
        </p:grpSp>
        <p:sp>
          <p:nvSpPr>
            <p:cNvPr id="8" name="TextBox 8"/>
            <p:cNvSpPr txBox="1"/>
            <p:nvPr/>
          </p:nvSpPr>
          <p:spPr>
            <a:xfrm>
              <a:off x="436558" y="303888"/>
              <a:ext cx="5186991" cy="107886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first() will move our iterator to the first  element of the array</a:t>
              </a:r>
            </a:p>
          </p:txBody>
        </p:sp>
      </p:grpSp>
      <p:grpSp>
        <p:nvGrpSpPr>
          <p:cNvPr id="9" name="Group 9"/>
          <p:cNvGrpSpPr/>
          <p:nvPr/>
        </p:nvGrpSpPr>
        <p:grpSpPr>
          <a:xfrm>
            <a:off x="11881423" y="4712928"/>
            <a:ext cx="4545081" cy="1357849"/>
            <a:chOff x="0" y="0"/>
            <a:chExt cx="6060107" cy="1810466"/>
          </a:xfrm>
        </p:grpSpPr>
        <p:grpSp>
          <p:nvGrpSpPr>
            <p:cNvPr id="10" name="Group 10"/>
            <p:cNvGrpSpPr/>
            <p:nvPr/>
          </p:nvGrpSpPr>
          <p:grpSpPr>
            <a:xfrm>
              <a:off x="0" y="0"/>
              <a:ext cx="6060107" cy="1810466"/>
              <a:chOff x="0" y="0"/>
              <a:chExt cx="1185649" cy="354214"/>
            </a:xfrm>
          </p:grpSpPr>
          <p:sp>
            <p:nvSpPr>
              <p:cNvPr id="11" name="Freeform 11"/>
              <p:cNvSpPr/>
              <p:nvPr/>
            </p:nvSpPr>
            <p:spPr>
              <a:xfrm>
                <a:off x="0" y="0"/>
                <a:ext cx="1185649" cy="354214"/>
              </a:xfrm>
              <a:custGeom>
                <a:avLst/>
                <a:gdLst/>
                <a:ahLst/>
                <a:cxnLst/>
                <a:rect l="l" t="t" r="r" b="b"/>
                <a:pathLst>
                  <a:path w="1185649" h="354214">
                    <a:moveTo>
                      <a:pt x="35771" y="0"/>
                    </a:moveTo>
                    <a:lnTo>
                      <a:pt x="1149878" y="0"/>
                    </a:lnTo>
                    <a:cubicBezTo>
                      <a:pt x="1159365" y="0"/>
                      <a:pt x="1168464" y="3769"/>
                      <a:pt x="1175172" y="10477"/>
                    </a:cubicBezTo>
                    <a:cubicBezTo>
                      <a:pt x="1181880" y="17185"/>
                      <a:pt x="1185649" y="26284"/>
                      <a:pt x="1185649" y="35771"/>
                    </a:cubicBezTo>
                    <a:lnTo>
                      <a:pt x="1185649" y="318444"/>
                    </a:lnTo>
                    <a:cubicBezTo>
                      <a:pt x="1185649" y="327931"/>
                      <a:pt x="1181880" y="337029"/>
                      <a:pt x="1175172" y="343737"/>
                    </a:cubicBezTo>
                    <a:cubicBezTo>
                      <a:pt x="1168464" y="350446"/>
                      <a:pt x="1159365" y="354214"/>
                      <a:pt x="1149878" y="354214"/>
                    </a:cubicBezTo>
                    <a:lnTo>
                      <a:pt x="35771" y="354214"/>
                    </a:lnTo>
                    <a:cubicBezTo>
                      <a:pt x="16015" y="354214"/>
                      <a:pt x="0" y="338199"/>
                      <a:pt x="0" y="318444"/>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12" name="TextBox 12"/>
              <p:cNvSpPr txBox="1"/>
              <p:nvPr/>
            </p:nvSpPr>
            <p:spPr>
              <a:xfrm>
                <a:off x="0" y="19050"/>
                <a:ext cx="1185649" cy="335164"/>
              </a:xfrm>
              <a:prstGeom prst="rect">
                <a:avLst/>
              </a:prstGeom>
            </p:spPr>
            <p:txBody>
              <a:bodyPr lIns="50800" tIns="50800" rIns="50800" bIns="50800" rtlCol="0" anchor="ctr"/>
              <a:lstStyle/>
              <a:p>
                <a:pPr algn="ctr">
                  <a:lnSpc>
                    <a:spcPts val="1387"/>
                  </a:lnSpc>
                </a:pPr>
                <a:endParaRPr/>
              </a:p>
            </p:txBody>
          </p:sp>
        </p:grpSp>
        <p:sp>
          <p:nvSpPr>
            <p:cNvPr id="13" name="TextBox 13"/>
            <p:cNvSpPr txBox="1"/>
            <p:nvPr/>
          </p:nvSpPr>
          <p:spPr>
            <a:xfrm>
              <a:off x="436714" y="303888"/>
              <a:ext cx="5186680" cy="107886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next() will move the iterator to the next element</a:t>
              </a:r>
            </a:p>
          </p:txBody>
        </p:sp>
      </p:grpSp>
      <p:grpSp>
        <p:nvGrpSpPr>
          <p:cNvPr id="14" name="Group 14"/>
          <p:cNvGrpSpPr/>
          <p:nvPr/>
        </p:nvGrpSpPr>
        <p:grpSpPr>
          <a:xfrm>
            <a:off x="12167173" y="6261278"/>
            <a:ext cx="4545081" cy="1357849"/>
            <a:chOff x="0" y="0"/>
            <a:chExt cx="6060107" cy="1810466"/>
          </a:xfrm>
        </p:grpSpPr>
        <p:grpSp>
          <p:nvGrpSpPr>
            <p:cNvPr id="15" name="Group 15"/>
            <p:cNvGrpSpPr/>
            <p:nvPr/>
          </p:nvGrpSpPr>
          <p:grpSpPr>
            <a:xfrm>
              <a:off x="0" y="0"/>
              <a:ext cx="6060107" cy="1810466"/>
              <a:chOff x="0" y="0"/>
              <a:chExt cx="1185649" cy="354214"/>
            </a:xfrm>
          </p:grpSpPr>
          <p:sp>
            <p:nvSpPr>
              <p:cNvPr id="16" name="Freeform 16"/>
              <p:cNvSpPr/>
              <p:nvPr/>
            </p:nvSpPr>
            <p:spPr>
              <a:xfrm>
                <a:off x="0" y="0"/>
                <a:ext cx="1185649" cy="354214"/>
              </a:xfrm>
              <a:custGeom>
                <a:avLst/>
                <a:gdLst/>
                <a:ahLst/>
                <a:cxnLst/>
                <a:rect l="l" t="t" r="r" b="b"/>
                <a:pathLst>
                  <a:path w="1185649" h="354214">
                    <a:moveTo>
                      <a:pt x="35771" y="0"/>
                    </a:moveTo>
                    <a:lnTo>
                      <a:pt x="1149878" y="0"/>
                    </a:lnTo>
                    <a:cubicBezTo>
                      <a:pt x="1159365" y="0"/>
                      <a:pt x="1168464" y="3769"/>
                      <a:pt x="1175172" y="10477"/>
                    </a:cubicBezTo>
                    <a:cubicBezTo>
                      <a:pt x="1181880" y="17185"/>
                      <a:pt x="1185649" y="26284"/>
                      <a:pt x="1185649" y="35771"/>
                    </a:cubicBezTo>
                    <a:lnTo>
                      <a:pt x="1185649" y="318444"/>
                    </a:lnTo>
                    <a:cubicBezTo>
                      <a:pt x="1185649" y="327931"/>
                      <a:pt x="1181880" y="337029"/>
                      <a:pt x="1175172" y="343737"/>
                    </a:cubicBezTo>
                    <a:cubicBezTo>
                      <a:pt x="1168464" y="350446"/>
                      <a:pt x="1159365" y="354214"/>
                      <a:pt x="1149878" y="354214"/>
                    </a:cubicBezTo>
                    <a:lnTo>
                      <a:pt x="35771" y="354214"/>
                    </a:lnTo>
                    <a:cubicBezTo>
                      <a:pt x="16015" y="354214"/>
                      <a:pt x="0" y="338199"/>
                      <a:pt x="0" y="318444"/>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17" name="TextBox 17"/>
              <p:cNvSpPr txBox="1"/>
              <p:nvPr/>
            </p:nvSpPr>
            <p:spPr>
              <a:xfrm>
                <a:off x="0" y="19050"/>
                <a:ext cx="1185649" cy="335164"/>
              </a:xfrm>
              <a:prstGeom prst="rect">
                <a:avLst/>
              </a:prstGeom>
            </p:spPr>
            <p:txBody>
              <a:bodyPr lIns="50800" tIns="50800" rIns="50800" bIns="50800" rtlCol="0" anchor="ctr"/>
              <a:lstStyle/>
              <a:p>
                <a:pPr algn="ctr">
                  <a:lnSpc>
                    <a:spcPts val="1387"/>
                  </a:lnSpc>
                </a:pPr>
                <a:endParaRPr/>
              </a:p>
            </p:txBody>
          </p:sp>
        </p:grpSp>
        <p:sp>
          <p:nvSpPr>
            <p:cNvPr id="18" name="TextBox 18"/>
            <p:cNvSpPr txBox="1"/>
            <p:nvPr/>
          </p:nvSpPr>
          <p:spPr>
            <a:xfrm>
              <a:off x="436558" y="32108"/>
              <a:ext cx="5186680" cy="162242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hasNext() return true if the iterator is not at the end of the array and vice versa</a:t>
              </a:r>
            </a:p>
          </p:txBody>
        </p:sp>
      </p:grpSp>
      <p:grpSp>
        <p:nvGrpSpPr>
          <p:cNvPr id="19" name="Group 19"/>
          <p:cNvGrpSpPr/>
          <p:nvPr/>
        </p:nvGrpSpPr>
        <p:grpSpPr>
          <a:xfrm>
            <a:off x="12452923" y="7809627"/>
            <a:ext cx="4545081" cy="1357849"/>
            <a:chOff x="0" y="0"/>
            <a:chExt cx="6060107" cy="1810466"/>
          </a:xfrm>
        </p:grpSpPr>
        <p:grpSp>
          <p:nvGrpSpPr>
            <p:cNvPr id="20" name="Group 20"/>
            <p:cNvGrpSpPr/>
            <p:nvPr/>
          </p:nvGrpSpPr>
          <p:grpSpPr>
            <a:xfrm>
              <a:off x="0" y="0"/>
              <a:ext cx="6060107" cy="1810466"/>
              <a:chOff x="0" y="0"/>
              <a:chExt cx="1185649" cy="354214"/>
            </a:xfrm>
          </p:grpSpPr>
          <p:sp>
            <p:nvSpPr>
              <p:cNvPr id="21" name="Freeform 21"/>
              <p:cNvSpPr/>
              <p:nvPr/>
            </p:nvSpPr>
            <p:spPr>
              <a:xfrm>
                <a:off x="0" y="0"/>
                <a:ext cx="1185649" cy="354214"/>
              </a:xfrm>
              <a:custGeom>
                <a:avLst/>
                <a:gdLst/>
                <a:ahLst/>
                <a:cxnLst/>
                <a:rect l="l" t="t" r="r" b="b"/>
                <a:pathLst>
                  <a:path w="1185649" h="354214">
                    <a:moveTo>
                      <a:pt x="35771" y="0"/>
                    </a:moveTo>
                    <a:lnTo>
                      <a:pt x="1149878" y="0"/>
                    </a:lnTo>
                    <a:cubicBezTo>
                      <a:pt x="1159365" y="0"/>
                      <a:pt x="1168464" y="3769"/>
                      <a:pt x="1175172" y="10477"/>
                    </a:cubicBezTo>
                    <a:cubicBezTo>
                      <a:pt x="1181880" y="17185"/>
                      <a:pt x="1185649" y="26284"/>
                      <a:pt x="1185649" y="35771"/>
                    </a:cubicBezTo>
                    <a:lnTo>
                      <a:pt x="1185649" y="318444"/>
                    </a:lnTo>
                    <a:cubicBezTo>
                      <a:pt x="1185649" y="327931"/>
                      <a:pt x="1181880" y="337029"/>
                      <a:pt x="1175172" y="343737"/>
                    </a:cubicBezTo>
                    <a:cubicBezTo>
                      <a:pt x="1168464" y="350446"/>
                      <a:pt x="1159365" y="354214"/>
                      <a:pt x="1149878" y="354214"/>
                    </a:cubicBezTo>
                    <a:lnTo>
                      <a:pt x="35771" y="354214"/>
                    </a:lnTo>
                    <a:cubicBezTo>
                      <a:pt x="16015" y="354214"/>
                      <a:pt x="0" y="338199"/>
                      <a:pt x="0" y="318444"/>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22" name="TextBox 22"/>
              <p:cNvSpPr txBox="1"/>
              <p:nvPr/>
            </p:nvSpPr>
            <p:spPr>
              <a:xfrm>
                <a:off x="0" y="19050"/>
                <a:ext cx="1185649" cy="335164"/>
              </a:xfrm>
              <a:prstGeom prst="rect">
                <a:avLst/>
              </a:prstGeom>
            </p:spPr>
            <p:txBody>
              <a:bodyPr lIns="50800" tIns="50800" rIns="50800" bIns="50800" rtlCol="0" anchor="ctr"/>
              <a:lstStyle/>
              <a:p>
                <a:pPr algn="ctr">
                  <a:lnSpc>
                    <a:spcPts val="1387"/>
                  </a:lnSpc>
                </a:pPr>
                <a:endParaRPr/>
              </a:p>
            </p:txBody>
          </p:sp>
        </p:grpSp>
        <p:sp>
          <p:nvSpPr>
            <p:cNvPr id="23" name="TextBox 23"/>
            <p:cNvSpPr txBox="1"/>
            <p:nvPr/>
          </p:nvSpPr>
          <p:spPr>
            <a:xfrm>
              <a:off x="436558" y="32108"/>
              <a:ext cx="5186680" cy="162242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And current() return the element of the array at which it is staying</a:t>
              </a:r>
            </a:p>
          </p:txBody>
        </p:sp>
      </p:gr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334F5E">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1595402" y="3168019"/>
            <a:ext cx="4545081" cy="1765519"/>
            <a:chOff x="0" y="0"/>
            <a:chExt cx="6060107" cy="2354026"/>
          </a:xfrm>
        </p:grpSpPr>
        <p:grpSp>
          <p:nvGrpSpPr>
            <p:cNvPr id="3" name="Group 3"/>
            <p:cNvGrpSpPr/>
            <p:nvPr/>
          </p:nvGrpSpPr>
          <p:grpSpPr>
            <a:xfrm>
              <a:off x="0" y="0"/>
              <a:ext cx="6060107" cy="2354026"/>
              <a:chOff x="0" y="0"/>
              <a:chExt cx="1185649" cy="460561"/>
            </a:xfrm>
          </p:grpSpPr>
          <p:sp>
            <p:nvSpPr>
              <p:cNvPr id="4" name="Freeform 4"/>
              <p:cNvSpPr/>
              <p:nvPr/>
            </p:nvSpPr>
            <p:spPr>
              <a:xfrm>
                <a:off x="0" y="0"/>
                <a:ext cx="1185649" cy="460561"/>
              </a:xfrm>
              <a:custGeom>
                <a:avLst/>
                <a:gdLst/>
                <a:ahLst/>
                <a:cxnLst/>
                <a:rect l="l" t="t" r="r" b="b"/>
                <a:pathLst>
                  <a:path w="1185649" h="460561">
                    <a:moveTo>
                      <a:pt x="35771" y="0"/>
                    </a:moveTo>
                    <a:lnTo>
                      <a:pt x="1149878" y="0"/>
                    </a:lnTo>
                    <a:cubicBezTo>
                      <a:pt x="1159365" y="0"/>
                      <a:pt x="1168464" y="3769"/>
                      <a:pt x="1175172" y="10477"/>
                    </a:cubicBezTo>
                    <a:cubicBezTo>
                      <a:pt x="1181880" y="17185"/>
                      <a:pt x="1185649" y="26284"/>
                      <a:pt x="1185649" y="35771"/>
                    </a:cubicBezTo>
                    <a:lnTo>
                      <a:pt x="1185649" y="424790"/>
                    </a:lnTo>
                    <a:cubicBezTo>
                      <a:pt x="1185649" y="434277"/>
                      <a:pt x="1181880" y="443376"/>
                      <a:pt x="1175172" y="450084"/>
                    </a:cubicBezTo>
                    <a:cubicBezTo>
                      <a:pt x="1168464" y="456792"/>
                      <a:pt x="1159365" y="460561"/>
                      <a:pt x="1149878" y="460561"/>
                    </a:cubicBezTo>
                    <a:lnTo>
                      <a:pt x="35771" y="460561"/>
                    </a:lnTo>
                    <a:cubicBezTo>
                      <a:pt x="26284" y="460561"/>
                      <a:pt x="17185" y="456792"/>
                      <a:pt x="10477" y="450084"/>
                    </a:cubicBezTo>
                    <a:cubicBezTo>
                      <a:pt x="3769" y="443376"/>
                      <a:pt x="0" y="434277"/>
                      <a:pt x="0" y="424790"/>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5" name="TextBox 5"/>
              <p:cNvSpPr txBox="1"/>
              <p:nvPr/>
            </p:nvSpPr>
            <p:spPr>
              <a:xfrm>
                <a:off x="0" y="19050"/>
                <a:ext cx="1185649" cy="441511"/>
              </a:xfrm>
              <a:prstGeom prst="rect">
                <a:avLst/>
              </a:prstGeom>
            </p:spPr>
            <p:txBody>
              <a:bodyPr lIns="50800" tIns="50800" rIns="50800" bIns="50800" rtlCol="0" anchor="ctr"/>
              <a:lstStyle/>
              <a:p>
                <a:pPr algn="ctr">
                  <a:lnSpc>
                    <a:spcPts val="1387"/>
                  </a:lnSpc>
                </a:pPr>
                <a:endParaRPr/>
              </a:p>
            </p:txBody>
          </p:sp>
        </p:grpSp>
        <p:sp>
          <p:nvSpPr>
            <p:cNvPr id="6" name="TextBox 6"/>
            <p:cNvSpPr txBox="1"/>
            <p:nvPr/>
          </p:nvSpPr>
          <p:spPr>
            <a:xfrm>
              <a:off x="436558" y="303888"/>
              <a:ext cx="5186991" cy="162242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The sorting algorithms are added to these iterators inside their constructors</a:t>
              </a:r>
            </a:p>
          </p:txBody>
        </p:sp>
      </p:grpSp>
      <p:sp>
        <p:nvSpPr>
          <p:cNvPr id="7" name="Freeform 7"/>
          <p:cNvSpPr/>
          <p:nvPr/>
        </p:nvSpPr>
        <p:spPr>
          <a:xfrm>
            <a:off x="1028700" y="1233220"/>
            <a:ext cx="9868216" cy="7820561"/>
          </a:xfrm>
          <a:custGeom>
            <a:avLst/>
            <a:gdLst/>
            <a:ahLst/>
            <a:cxnLst/>
            <a:rect l="l" t="t" r="r" b="b"/>
            <a:pathLst>
              <a:path w="9868216" h="7820561">
                <a:moveTo>
                  <a:pt x="0" y="0"/>
                </a:moveTo>
                <a:lnTo>
                  <a:pt x="9868216" y="0"/>
                </a:lnTo>
                <a:lnTo>
                  <a:pt x="9868216" y="7820560"/>
                </a:lnTo>
                <a:lnTo>
                  <a:pt x="0" y="7820560"/>
                </a:lnTo>
                <a:lnTo>
                  <a:pt x="0" y="0"/>
                </a:lnTo>
                <a:close/>
              </a:path>
            </a:pathLst>
          </a:custGeom>
          <a:blipFill>
            <a:blip r:embed="rId2"/>
            <a:stretch>
              <a:fillRect/>
            </a:stretch>
          </a:blipFill>
        </p:spPr>
        <p:txBody>
          <a:bodyPr/>
          <a:lstStyle/>
          <a:p>
            <a:endParaRPr lang="en-US"/>
          </a:p>
        </p:txBody>
      </p:sp>
      <p:sp>
        <p:nvSpPr>
          <p:cNvPr id="8" name="TextBox 8"/>
          <p:cNvSpPr txBox="1"/>
          <p:nvPr/>
        </p:nvSpPr>
        <p:spPr>
          <a:xfrm>
            <a:off x="11595402" y="1118920"/>
            <a:ext cx="5353423" cy="1165860"/>
          </a:xfrm>
          <a:prstGeom prst="rect">
            <a:avLst/>
          </a:prstGeom>
        </p:spPr>
        <p:txBody>
          <a:bodyPr lIns="0" tIns="0" rIns="0" bIns="0" rtlCol="0" anchor="t">
            <a:spAutoFit/>
          </a:bodyPr>
          <a:lstStyle/>
          <a:p>
            <a:pPr algn="l">
              <a:lnSpc>
                <a:spcPts val="4770"/>
              </a:lnSpc>
            </a:pPr>
            <a:r>
              <a:rPr lang="en-US" sz="3000" b="1">
                <a:solidFill>
                  <a:srgbClr val="FFFFFF"/>
                </a:solidFill>
                <a:latin typeface="Aileron Bold"/>
                <a:ea typeface="Aileron Bold"/>
                <a:cs typeface="Aileron Bold"/>
                <a:sym typeface="Aileron Bold"/>
              </a:rPr>
              <a:t>These are </a:t>
            </a:r>
            <a:r>
              <a:rPr lang="en-US" sz="3000" b="1">
                <a:solidFill>
                  <a:srgbClr val="17E3B2"/>
                </a:solidFill>
                <a:latin typeface="Aileron Bold"/>
                <a:ea typeface="Aileron Bold"/>
                <a:cs typeface="Aileron Bold"/>
                <a:sym typeface="Aileron Bold"/>
              </a:rPr>
              <a:t>iterators </a:t>
            </a:r>
            <a:r>
              <a:rPr lang="en-US" sz="3000" b="1">
                <a:solidFill>
                  <a:srgbClr val="FFFFFF"/>
                </a:solidFill>
                <a:latin typeface="Aileron Bold"/>
                <a:ea typeface="Aileron Bold"/>
                <a:cs typeface="Aileron Bold"/>
                <a:sym typeface="Aileron Bold"/>
              </a:rPr>
              <a:t>inherited from </a:t>
            </a:r>
            <a:r>
              <a:rPr lang="en-US" sz="3000" b="1">
                <a:solidFill>
                  <a:srgbClr val="17E3B2"/>
                </a:solidFill>
                <a:latin typeface="Aileron Bold"/>
                <a:ea typeface="Aileron Bold"/>
                <a:cs typeface="Aileron Bold"/>
                <a:sym typeface="Aileron Bold"/>
              </a:rPr>
              <a:t>Concrete Iterator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334F5E">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1595402" y="3168019"/>
            <a:ext cx="4545081" cy="1357849"/>
            <a:chOff x="0" y="0"/>
            <a:chExt cx="6060107" cy="1810466"/>
          </a:xfrm>
        </p:grpSpPr>
        <p:grpSp>
          <p:nvGrpSpPr>
            <p:cNvPr id="3" name="Group 3"/>
            <p:cNvGrpSpPr/>
            <p:nvPr/>
          </p:nvGrpSpPr>
          <p:grpSpPr>
            <a:xfrm>
              <a:off x="0" y="0"/>
              <a:ext cx="6060107" cy="1810466"/>
              <a:chOff x="0" y="0"/>
              <a:chExt cx="1185649" cy="354214"/>
            </a:xfrm>
          </p:grpSpPr>
          <p:sp>
            <p:nvSpPr>
              <p:cNvPr id="4" name="Freeform 4"/>
              <p:cNvSpPr/>
              <p:nvPr/>
            </p:nvSpPr>
            <p:spPr>
              <a:xfrm>
                <a:off x="0" y="0"/>
                <a:ext cx="1185649" cy="354214"/>
              </a:xfrm>
              <a:custGeom>
                <a:avLst/>
                <a:gdLst/>
                <a:ahLst/>
                <a:cxnLst/>
                <a:rect l="l" t="t" r="r" b="b"/>
                <a:pathLst>
                  <a:path w="1185649" h="354214">
                    <a:moveTo>
                      <a:pt x="35771" y="0"/>
                    </a:moveTo>
                    <a:lnTo>
                      <a:pt x="1149878" y="0"/>
                    </a:lnTo>
                    <a:cubicBezTo>
                      <a:pt x="1159365" y="0"/>
                      <a:pt x="1168464" y="3769"/>
                      <a:pt x="1175172" y="10477"/>
                    </a:cubicBezTo>
                    <a:cubicBezTo>
                      <a:pt x="1181880" y="17185"/>
                      <a:pt x="1185649" y="26284"/>
                      <a:pt x="1185649" y="35771"/>
                    </a:cubicBezTo>
                    <a:lnTo>
                      <a:pt x="1185649" y="318444"/>
                    </a:lnTo>
                    <a:cubicBezTo>
                      <a:pt x="1185649" y="327931"/>
                      <a:pt x="1181880" y="337029"/>
                      <a:pt x="1175172" y="343737"/>
                    </a:cubicBezTo>
                    <a:cubicBezTo>
                      <a:pt x="1168464" y="350446"/>
                      <a:pt x="1159365" y="354214"/>
                      <a:pt x="1149878" y="354214"/>
                    </a:cubicBezTo>
                    <a:lnTo>
                      <a:pt x="35771" y="354214"/>
                    </a:lnTo>
                    <a:cubicBezTo>
                      <a:pt x="16015" y="354214"/>
                      <a:pt x="0" y="338199"/>
                      <a:pt x="0" y="318444"/>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5" name="TextBox 5"/>
              <p:cNvSpPr txBox="1"/>
              <p:nvPr/>
            </p:nvSpPr>
            <p:spPr>
              <a:xfrm>
                <a:off x="0" y="19050"/>
                <a:ext cx="1185649" cy="335164"/>
              </a:xfrm>
              <a:prstGeom prst="rect">
                <a:avLst/>
              </a:prstGeom>
            </p:spPr>
            <p:txBody>
              <a:bodyPr lIns="50800" tIns="50800" rIns="50800" bIns="50800" rtlCol="0" anchor="ctr"/>
              <a:lstStyle/>
              <a:p>
                <a:pPr algn="ctr">
                  <a:lnSpc>
                    <a:spcPts val="1387"/>
                  </a:lnSpc>
                </a:pPr>
                <a:endParaRPr/>
              </a:p>
            </p:txBody>
          </p:sp>
        </p:grpSp>
        <p:sp>
          <p:nvSpPr>
            <p:cNvPr id="6" name="TextBox 6"/>
            <p:cNvSpPr txBox="1"/>
            <p:nvPr/>
          </p:nvSpPr>
          <p:spPr>
            <a:xfrm>
              <a:off x="436558" y="303888"/>
              <a:ext cx="5186991" cy="107886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It has 3 iterators, each for a traverse mode that we want </a:t>
              </a:r>
            </a:p>
          </p:txBody>
        </p:sp>
      </p:grpSp>
      <p:sp>
        <p:nvSpPr>
          <p:cNvPr id="7" name="Freeform 7"/>
          <p:cNvSpPr/>
          <p:nvPr/>
        </p:nvSpPr>
        <p:spPr>
          <a:xfrm>
            <a:off x="1028700" y="1233220"/>
            <a:ext cx="9566435" cy="7820561"/>
          </a:xfrm>
          <a:custGeom>
            <a:avLst/>
            <a:gdLst/>
            <a:ahLst/>
            <a:cxnLst/>
            <a:rect l="l" t="t" r="r" b="b"/>
            <a:pathLst>
              <a:path w="9566435" h="7820561">
                <a:moveTo>
                  <a:pt x="0" y="0"/>
                </a:moveTo>
                <a:lnTo>
                  <a:pt x="9566435" y="0"/>
                </a:lnTo>
                <a:lnTo>
                  <a:pt x="9566435" y="7820560"/>
                </a:lnTo>
                <a:lnTo>
                  <a:pt x="0" y="7820560"/>
                </a:lnTo>
                <a:lnTo>
                  <a:pt x="0" y="0"/>
                </a:lnTo>
                <a:close/>
              </a:path>
            </a:pathLst>
          </a:custGeom>
          <a:blipFill>
            <a:blip r:embed="rId2"/>
            <a:stretch>
              <a:fillRect/>
            </a:stretch>
          </a:blipFill>
        </p:spPr>
        <p:txBody>
          <a:bodyPr/>
          <a:lstStyle/>
          <a:p>
            <a:endParaRPr lang="en-US"/>
          </a:p>
        </p:txBody>
      </p:sp>
      <p:sp>
        <p:nvSpPr>
          <p:cNvPr id="8" name="TextBox 8"/>
          <p:cNvSpPr txBox="1"/>
          <p:nvPr/>
        </p:nvSpPr>
        <p:spPr>
          <a:xfrm>
            <a:off x="11595402" y="1118920"/>
            <a:ext cx="5353423" cy="1165860"/>
          </a:xfrm>
          <a:prstGeom prst="rect">
            <a:avLst/>
          </a:prstGeom>
        </p:spPr>
        <p:txBody>
          <a:bodyPr lIns="0" tIns="0" rIns="0" bIns="0" rtlCol="0" anchor="t">
            <a:spAutoFit/>
          </a:bodyPr>
          <a:lstStyle/>
          <a:p>
            <a:pPr algn="l">
              <a:lnSpc>
                <a:spcPts val="4770"/>
              </a:lnSpc>
            </a:pPr>
            <a:r>
              <a:rPr lang="en-US" sz="3000" b="1">
                <a:solidFill>
                  <a:srgbClr val="FFFFFF"/>
                </a:solidFill>
                <a:latin typeface="Aileron Bold"/>
                <a:ea typeface="Aileron Bold"/>
                <a:cs typeface="Aileron Bold"/>
                <a:sym typeface="Aileron Bold"/>
              </a:rPr>
              <a:t>This is the </a:t>
            </a:r>
            <a:r>
              <a:rPr lang="en-US" sz="3000" b="1">
                <a:solidFill>
                  <a:srgbClr val="17E3B2"/>
                </a:solidFill>
                <a:latin typeface="Aileron Bold"/>
                <a:ea typeface="Aileron Bold"/>
                <a:cs typeface="Aileron Bold"/>
                <a:sym typeface="Aileron Bold"/>
              </a:rPr>
              <a:t>Playlist</a:t>
            </a:r>
            <a:r>
              <a:rPr lang="en-US" sz="3000" b="1">
                <a:solidFill>
                  <a:srgbClr val="FFFFFF"/>
                </a:solidFill>
                <a:latin typeface="Aileron Bold"/>
                <a:ea typeface="Aileron Bold"/>
                <a:cs typeface="Aileron Bold"/>
                <a:sym typeface="Aileron Bold"/>
              </a:rPr>
              <a:t> class inherited from </a:t>
            </a:r>
            <a:r>
              <a:rPr lang="en-US" sz="3000" b="1">
                <a:solidFill>
                  <a:srgbClr val="17E3B2"/>
                </a:solidFill>
                <a:latin typeface="Aileron Bold"/>
                <a:ea typeface="Aileron Bold"/>
                <a:cs typeface="Aileron Bold"/>
                <a:sym typeface="Aileron Bold"/>
              </a:rPr>
              <a:t>Container</a:t>
            </a:r>
          </a:p>
        </p:txBody>
      </p:sp>
      <p:grpSp>
        <p:nvGrpSpPr>
          <p:cNvPr id="9" name="Group 9"/>
          <p:cNvGrpSpPr/>
          <p:nvPr/>
        </p:nvGrpSpPr>
        <p:grpSpPr>
          <a:xfrm>
            <a:off x="11999573" y="4988973"/>
            <a:ext cx="4545081" cy="2173189"/>
            <a:chOff x="0" y="0"/>
            <a:chExt cx="6060107" cy="2897586"/>
          </a:xfrm>
        </p:grpSpPr>
        <p:grpSp>
          <p:nvGrpSpPr>
            <p:cNvPr id="10" name="Group 10"/>
            <p:cNvGrpSpPr/>
            <p:nvPr/>
          </p:nvGrpSpPr>
          <p:grpSpPr>
            <a:xfrm>
              <a:off x="0" y="0"/>
              <a:ext cx="6060107" cy="2897586"/>
              <a:chOff x="0" y="0"/>
              <a:chExt cx="1185649" cy="566907"/>
            </a:xfrm>
          </p:grpSpPr>
          <p:sp>
            <p:nvSpPr>
              <p:cNvPr id="11" name="Freeform 11"/>
              <p:cNvSpPr/>
              <p:nvPr/>
            </p:nvSpPr>
            <p:spPr>
              <a:xfrm>
                <a:off x="0" y="0"/>
                <a:ext cx="1185649" cy="566907"/>
              </a:xfrm>
              <a:custGeom>
                <a:avLst/>
                <a:gdLst/>
                <a:ahLst/>
                <a:cxnLst/>
                <a:rect l="l" t="t" r="r" b="b"/>
                <a:pathLst>
                  <a:path w="1185649" h="566907">
                    <a:moveTo>
                      <a:pt x="35771" y="0"/>
                    </a:moveTo>
                    <a:lnTo>
                      <a:pt x="1149878" y="0"/>
                    </a:lnTo>
                    <a:cubicBezTo>
                      <a:pt x="1159365" y="0"/>
                      <a:pt x="1168464" y="3769"/>
                      <a:pt x="1175172" y="10477"/>
                    </a:cubicBezTo>
                    <a:cubicBezTo>
                      <a:pt x="1181880" y="17185"/>
                      <a:pt x="1185649" y="26284"/>
                      <a:pt x="1185649" y="35771"/>
                    </a:cubicBezTo>
                    <a:lnTo>
                      <a:pt x="1185649" y="531137"/>
                    </a:lnTo>
                    <a:cubicBezTo>
                      <a:pt x="1185649" y="540624"/>
                      <a:pt x="1181880" y="549722"/>
                      <a:pt x="1175172" y="556430"/>
                    </a:cubicBezTo>
                    <a:cubicBezTo>
                      <a:pt x="1168464" y="563139"/>
                      <a:pt x="1159365" y="566907"/>
                      <a:pt x="1149878" y="566907"/>
                    </a:cubicBezTo>
                    <a:lnTo>
                      <a:pt x="35771" y="566907"/>
                    </a:lnTo>
                    <a:cubicBezTo>
                      <a:pt x="26284" y="566907"/>
                      <a:pt x="17185" y="563139"/>
                      <a:pt x="10477" y="556430"/>
                    </a:cubicBezTo>
                    <a:cubicBezTo>
                      <a:pt x="3769" y="549722"/>
                      <a:pt x="0" y="540624"/>
                      <a:pt x="0" y="531137"/>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12" name="TextBox 12"/>
              <p:cNvSpPr txBox="1"/>
              <p:nvPr/>
            </p:nvSpPr>
            <p:spPr>
              <a:xfrm>
                <a:off x="0" y="19050"/>
                <a:ext cx="1185649" cy="547857"/>
              </a:xfrm>
              <a:prstGeom prst="rect">
                <a:avLst/>
              </a:prstGeom>
            </p:spPr>
            <p:txBody>
              <a:bodyPr lIns="50800" tIns="50800" rIns="50800" bIns="50800" rtlCol="0" anchor="ctr"/>
              <a:lstStyle/>
              <a:p>
                <a:pPr algn="ctr">
                  <a:lnSpc>
                    <a:spcPts val="1387"/>
                  </a:lnSpc>
                </a:pPr>
                <a:endParaRPr/>
              </a:p>
            </p:txBody>
          </p:sp>
        </p:grpSp>
        <p:sp>
          <p:nvSpPr>
            <p:cNvPr id="13" name="TextBox 13"/>
            <p:cNvSpPr txBox="1"/>
            <p:nvPr/>
          </p:nvSpPr>
          <p:spPr>
            <a:xfrm>
              <a:off x="436558" y="303888"/>
              <a:ext cx="5186991" cy="216598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We also declare friend from those iterator so that they can access our collection (privatePlaylist)</a:t>
              </a:r>
            </a:p>
          </p:txBody>
        </p:sp>
      </p:gr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334F5E">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1595402" y="3168019"/>
            <a:ext cx="4545081" cy="1765519"/>
            <a:chOff x="0" y="0"/>
            <a:chExt cx="6060107" cy="2354026"/>
          </a:xfrm>
        </p:grpSpPr>
        <p:grpSp>
          <p:nvGrpSpPr>
            <p:cNvPr id="3" name="Group 3"/>
            <p:cNvGrpSpPr/>
            <p:nvPr/>
          </p:nvGrpSpPr>
          <p:grpSpPr>
            <a:xfrm>
              <a:off x="0" y="0"/>
              <a:ext cx="6060107" cy="2354026"/>
              <a:chOff x="0" y="0"/>
              <a:chExt cx="1185649" cy="460561"/>
            </a:xfrm>
          </p:grpSpPr>
          <p:sp>
            <p:nvSpPr>
              <p:cNvPr id="4" name="Freeform 4"/>
              <p:cNvSpPr/>
              <p:nvPr/>
            </p:nvSpPr>
            <p:spPr>
              <a:xfrm>
                <a:off x="0" y="0"/>
                <a:ext cx="1185649" cy="460561"/>
              </a:xfrm>
              <a:custGeom>
                <a:avLst/>
                <a:gdLst/>
                <a:ahLst/>
                <a:cxnLst/>
                <a:rect l="l" t="t" r="r" b="b"/>
                <a:pathLst>
                  <a:path w="1185649" h="460561">
                    <a:moveTo>
                      <a:pt x="35771" y="0"/>
                    </a:moveTo>
                    <a:lnTo>
                      <a:pt x="1149878" y="0"/>
                    </a:lnTo>
                    <a:cubicBezTo>
                      <a:pt x="1159365" y="0"/>
                      <a:pt x="1168464" y="3769"/>
                      <a:pt x="1175172" y="10477"/>
                    </a:cubicBezTo>
                    <a:cubicBezTo>
                      <a:pt x="1181880" y="17185"/>
                      <a:pt x="1185649" y="26284"/>
                      <a:pt x="1185649" y="35771"/>
                    </a:cubicBezTo>
                    <a:lnTo>
                      <a:pt x="1185649" y="424790"/>
                    </a:lnTo>
                    <a:cubicBezTo>
                      <a:pt x="1185649" y="434277"/>
                      <a:pt x="1181880" y="443376"/>
                      <a:pt x="1175172" y="450084"/>
                    </a:cubicBezTo>
                    <a:cubicBezTo>
                      <a:pt x="1168464" y="456792"/>
                      <a:pt x="1159365" y="460561"/>
                      <a:pt x="1149878" y="460561"/>
                    </a:cubicBezTo>
                    <a:lnTo>
                      <a:pt x="35771" y="460561"/>
                    </a:lnTo>
                    <a:cubicBezTo>
                      <a:pt x="26284" y="460561"/>
                      <a:pt x="17185" y="456792"/>
                      <a:pt x="10477" y="450084"/>
                    </a:cubicBezTo>
                    <a:cubicBezTo>
                      <a:pt x="3769" y="443376"/>
                      <a:pt x="0" y="434277"/>
                      <a:pt x="0" y="424790"/>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5" name="TextBox 5"/>
              <p:cNvSpPr txBox="1"/>
              <p:nvPr/>
            </p:nvSpPr>
            <p:spPr>
              <a:xfrm>
                <a:off x="0" y="19050"/>
                <a:ext cx="1185649" cy="441511"/>
              </a:xfrm>
              <a:prstGeom prst="rect">
                <a:avLst/>
              </a:prstGeom>
            </p:spPr>
            <p:txBody>
              <a:bodyPr lIns="50800" tIns="50800" rIns="50800" bIns="50800" rtlCol="0" anchor="ctr"/>
              <a:lstStyle/>
              <a:p>
                <a:pPr algn="ctr">
                  <a:lnSpc>
                    <a:spcPts val="1387"/>
                  </a:lnSpc>
                </a:pPr>
                <a:endParaRPr/>
              </a:p>
            </p:txBody>
          </p:sp>
        </p:grpSp>
        <p:sp>
          <p:nvSpPr>
            <p:cNvPr id="6" name="TextBox 6"/>
            <p:cNvSpPr txBox="1"/>
            <p:nvPr/>
          </p:nvSpPr>
          <p:spPr>
            <a:xfrm>
              <a:off x="436558" y="303888"/>
              <a:ext cx="5186991" cy="162242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It stores the reference of the privatePlaylist  (Playlist’s member)</a:t>
              </a:r>
            </a:p>
          </p:txBody>
        </p:sp>
      </p:grpSp>
      <p:grpSp>
        <p:nvGrpSpPr>
          <p:cNvPr id="7" name="Group 7"/>
          <p:cNvGrpSpPr/>
          <p:nvPr/>
        </p:nvGrpSpPr>
        <p:grpSpPr>
          <a:xfrm>
            <a:off x="11999573" y="5362209"/>
            <a:ext cx="4545081" cy="1357849"/>
            <a:chOff x="0" y="0"/>
            <a:chExt cx="6060107" cy="1810466"/>
          </a:xfrm>
        </p:grpSpPr>
        <p:grpSp>
          <p:nvGrpSpPr>
            <p:cNvPr id="8" name="Group 8"/>
            <p:cNvGrpSpPr/>
            <p:nvPr/>
          </p:nvGrpSpPr>
          <p:grpSpPr>
            <a:xfrm>
              <a:off x="0" y="0"/>
              <a:ext cx="6060107" cy="1810466"/>
              <a:chOff x="0" y="0"/>
              <a:chExt cx="1185649" cy="354214"/>
            </a:xfrm>
          </p:grpSpPr>
          <p:sp>
            <p:nvSpPr>
              <p:cNvPr id="9" name="Freeform 9"/>
              <p:cNvSpPr/>
              <p:nvPr/>
            </p:nvSpPr>
            <p:spPr>
              <a:xfrm>
                <a:off x="0" y="0"/>
                <a:ext cx="1185649" cy="354214"/>
              </a:xfrm>
              <a:custGeom>
                <a:avLst/>
                <a:gdLst/>
                <a:ahLst/>
                <a:cxnLst/>
                <a:rect l="l" t="t" r="r" b="b"/>
                <a:pathLst>
                  <a:path w="1185649" h="354214">
                    <a:moveTo>
                      <a:pt x="35771" y="0"/>
                    </a:moveTo>
                    <a:lnTo>
                      <a:pt x="1149878" y="0"/>
                    </a:lnTo>
                    <a:cubicBezTo>
                      <a:pt x="1159365" y="0"/>
                      <a:pt x="1168464" y="3769"/>
                      <a:pt x="1175172" y="10477"/>
                    </a:cubicBezTo>
                    <a:cubicBezTo>
                      <a:pt x="1181880" y="17185"/>
                      <a:pt x="1185649" y="26284"/>
                      <a:pt x="1185649" y="35771"/>
                    </a:cubicBezTo>
                    <a:lnTo>
                      <a:pt x="1185649" y="318444"/>
                    </a:lnTo>
                    <a:cubicBezTo>
                      <a:pt x="1185649" y="327931"/>
                      <a:pt x="1181880" y="337029"/>
                      <a:pt x="1175172" y="343737"/>
                    </a:cubicBezTo>
                    <a:cubicBezTo>
                      <a:pt x="1168464" y="350446"/>
                      <a:pt x="1159365" y="354214"/>
                      <a:pt x="1149878" y="354214"/>
                    </a:cubicBezTo>
                    <a:lnTo>
                      <a:pt x="35771" y="354214"/>
                    </a:lnTo>
                    <a:cubicBezTo>
                      <a:pt x="16015" y="354214"/>
                      <a:pt x="0" y="338199"/>
                      <a:pt x="0" y="318444"/>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10" name="TextBox 10"/>
              <p:cNvSpPr txBox="1"/>
              <p:nvPr/>
            </p:nvSpPr>
            <p:spPr>
              <a:xfrm>
                <a:off x="0" y="19050"/>
                <a:ext cx="1185649" cy="335164"/>
              </a:xfrm>
              <a:prstGeom prst="rect">
                <a:avLst/>
              </a:prstGeom>
            </p:spPr>
            <p:txBody>
              <a:bodyPr lIns="50800" tIns="50800" rIns="50800" bIns="50800" rtlCol="0" anchor="ctr"/>
              <a:lstStyle/>
              <a:p>
                <a:pPr algn="ctr">
                  <a:lnSpc>
                    <a:spcPts val="1387"/>
                  </a:lnSpc>
                </a:pPr>
                <a:endParaRPr/>
              </a:p>
            </p:txBody>
          </p:sp>
        </p:grpSp>
        <p:sp>
          <p:nvSpPr>
            <p:cNvPr id="11" name="TextBox 11"/>
            <p:cNvSpPr txBox="1"/>
            <p:nvPr/>
          </p:nvSpPr>
          <p:spPr>
            <a:xfrm>
              <a:off x="436558" y="303888"/>
              <a:ext cx="5186991" cy="107886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It also set the index for every element in the collection</a:t>
              </a:r>
            </a:p>
          </p:txBody>
        </p:sp>
      </p:grpSp>
      <p:sp>
        <p:nvSpPr>
          <p:cNvPr id="12" name="Freeform 12"/>
          <p:cNvSpPr/>
          <p:nvPr/>
        </p:nvSpPr>
        <p:spPr>
          <a:xfrm>
            <a:off x="1028700" y="3566942"/>
            <a:ext cx="9566435" cy="3153116"/>
          </a:xfrm>
          <a:custGeom>
            <a:avLst/>
            <a:gdLst/>
            <a:ahLst/>
            <a:cxnLst/>
            <a:rect l="l" t="t" r="r" b="b"/>
            <a:pathLst>
              <a:path w="9566435" h="3153116">
                <a:moveTo>
                  <a:pt x="0" y="0"/>
                </a:moveTo>
                <a:lnTo>
                  <a:pt x="9566435" y="0"/>
                </a:lnTo>
                <a:lnTo>
                  <a:pt x="9566435" y="3153116"/>
                </a:lnTo>
                <a:lnTo>
                  <a:pt x="0" y="3153116"/>
                </a:lnTo>
                <a:lnTo>
                  <a:pt x="0" y="0"/>
                </a:lnTo>
                <a:close/>
              </a:path>
            </a:pathLst>
          </a:custGeom>
          <a:blipFill>
            <a:blip r:embed="rId2"/>
            <a:stretch>
              <a:fillRect/>
            </a:stretch>
          </a:blipFill>
        </p:spPr>
        <p:txBody>
          <a:bodyPr/>
          <a:lstStyle/>
          <a:p>
            <a:endParaRPr lang="en-US"/>
          </a:p>
        </p:txBody>
      </p:sp>
      <p:sp>
        <p:nvSpPr>
          <p:cNvPr id="13" name="TextBox 13"/>
          <p:cNvSpPr txBox="1"/>
          <p:nvPr/>
        </p:nvSpPr>
        <p:spPr>
          <a:xfrm>
            <a:off x="11595402" y="1118920"/>
            <a:ext cx="5353423" cy="1165860"/>
          </a:xfrm>
          <a:prstGeom prst="rect">
            <a:avLst/>
          </a:prstGeom>
        </p:spPr>
        <p:txBody>
          <a:bodyPr lIns="0" tIns="0" rIns="0" bIns="0" rtlCol="0" anchor="t">
            <a:spAutoFit/>
          </a:bodyPr>
          <a:lstStyle/>
          <a:p>
            <a:pPr algn="l">
              <a:lnSpc>
                <a:spcPts val="4770"/>
              </a:lnSpc>
            </a:pPr>
            <a:r>
              <a:rPr lang="en-US" sz="3000" b="1">
                <a:solidFill>
                  <a:srgbClr val="FFFFFF"/>
                </a:solidFill>
                <a:latin typeface="Aileron Bold"/>
                <a:ea typeface="Aileron Bold"/>
                <a:cs typeface="Aileron Bold"/>
                <a:sym typeface="Aileron Bold"/>
              </a:rPr>
              <a:t>This is the implementation of Concrete Iterator </a:t>
            </a:r>
            <a:r>
              <a:rPr lang="en-US" sz="3000" b="1">
                <a:solidFill>
                  <a:srgbClr val="17E3B2"/>
                </a:solidFill>
                <a:latin typeface="Aileron Bold"/>
                <a:ea typeface="Aileron Bold"/>
                <a:cs typeface="Aileron Bold"/>
                <a:sym typeface="Aileron Bold"/>
              </a:rPr>
              <a:t>constructor</a:t>
            </a:r>
          </a:p>
        </p:txBody>
      </p:sp>
      <p:grpSp>
        <p:nvGrpSpPr>
          <p:cNvPr id="14" name="Group 14"/>
          <p:cNvGrpSpPr/>
          <p:nvPr/>
        </p:nvGrpSpPr>
        <p:grpSpPr>
          <a:xfrm>
            <a:off x="12403744" y="7148683"/>
            <a:ext cx="4545081" cy="1357849"/>
            <a:chOff x="0" y="0"/>
            <a:chExt cx="6060107" cy="1810466"/>
          </a:xfrm>
        </p:grpSpPr>
        <p:grpSp>
          <p:nvGrpSpPr>
            <p:cNvPr id="15" name="Group 15"/>
            <p:cNvGrpSpPr/>
            <p:nvPr/>
          </p:nvGrpSpPr>
          <p:grpSpPr>
            <a:xfrm>
              <a:off x="0" y="0"/>
              <a:ext cx="6060107" cy="1810466"/>
              <a:chOff x="0" y="0"/>
              <a:chExt cx="1185649" cy="354214"/>
            </a:xfrm>
          </p:grpSpPr>
          <p:sp>
            <p:nvSpPr>
              <p:cNvPr id="16" name="Freeform 16"/>
              <p:cNvSpPr/>
              <p:nvPr/>
            </p:nvSpPr>
            <p:spPr>
              <a:xfrm>
                <a:off x="0" y="0"/>
                <a:ext cx="1185649" cy="354214"/>
              </a:xfrm>
              <a:custGeom>
                <a:avLst/>
                <a:gdLst/>
                <a:ahLst/>
                <a:cxnLst/>
                <a:rect l="l" t="t" r="r" b="b"/>
                <a:pathLst>
                  <a:path w="1185649" h="354214">
                    <a:moveTo>
                      <a:pt x="35771" y="0"/>
                    </a:moveTo>
                    <a:lnTo>
                      <a:pt x="1149878" y="0"/>
                    </a:lnTo>
                    <a:cubicBezTo>
                      <a:pt x="1159365" y="0"/>
                      <a:pt x="1168464" y="3769"/>
                      <a:pt x="1175172" y="10477"/>
                    </a:cubicBezTo>
                    <a:cubicBezTo>
                      <a:pt x="1181880" y="17185"/>
                      <a:pt x="1185649" y="26284"/>
                      <a:pt x="1185649" y="35771"/>
                    </a:cubicBezTo>
                    <a:lnTo>
                      <a:pt x="1185649" y="318444"/>
                    </a:lnTo>
                    <a:cubicBezTo>
                      <a:pt x="1185649" y="327931"/>
                      <a:pt x="1181880" y="337029"/>
                      <a:pt x="1175172" y="343737"/>
                    </a:cubicBezTo>
                    <a:cubicBezTo>
                      <a:pt x="1168464" y="350446"/>
                      <a:pt x="1159365" y="354214"/>
                      <a:pt x="1149878" y="354214"/>
                    </a:cubicBezTo>
                    <a:lnTo>
                      <a:pt x="35771" y="354214"/>
                    </a:lnTo>
                    <a:cubicBezTo>
                      <a:pt x="16015" y="354214"/>
                      <a:pt x="0" y="338199"/>
                      <a:pt x="0" y="318444"/>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17" name="TextBox 17"/>
              <p:cNvSpPr txBox="1"/>
              <p:nvPr/>
            </p:nvSpPr>
            <p:spPr>
              <a:xfrm>
                <a:off x="0" y="19050"/>
                <a:ext cx="1185649" cy="335164"/>
              </a:xfrm>
              <a:prstGeom prst="rect">
                <a:avLst/>
              </a:prstGeom>
            </p:spPr>
            <p:txBody>
              <a:bodyPr lIns="50800" tIns="50800" rIns="50800" bIns="50800" rtlCol="0" anchor="ctr"/>
              <a:lstStyle/>
              <a:p>
                <a:pPr algn="ctr">
                  <a:lnSpc>
                    <a:spcPts val="1387"/>
                  </a:lnSpc>
                </a:pPr>
                <a:endParaRPr/>
              </a:p>
            </p:txBody>
          </p:sp>
        </p:grpSp>
        <p:sp>
          <p:nvSpPr>
            <p:cNvPr id="18" name="TextBox 18"/>
            <p:cNvSpPr txBox="1"/>
            <p:nvPr/>
          </p:nvSpPr>
          <p:spPr>
            <a:xfrm>
              <a:off x="436558" y="303888"/>
              <a:ext cx="5186991" cy="107886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Finally, it sets itself to point to the beginning of the colection</a:t>
              </a:r>
            </a:p>
          </p:txBody>
        </p:sp>
      </p:gr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334F5E">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1595402" y="3168019"/>
            <a:ext cx="4545081" cy="1765519"/>
            <a:chOff x="0" y="0"/>
            <a:chExt cx="6060107" cy="2354026"/>
          </a:xfrm>
        </p:grpSpPr>
        <p:grpSp>
          <p:nvGrpSpPr>
            <p:cNvPr id="3" name="Group 3"/>
            <p:cNvGrpSpPr/>
            <p:nvPr/>
          </p:nvGrpSpPr>
          <p:grpSpPr>
            <a:xfrm>
              <a:off x="0" y="0"/>
              <a:ext cx="6060107" cy="2354026"/>
              <a:chOff x="0" y="0"/>
              <a:chExt cx="1185649" cy="460561"/>
            </a:xfrm>
          </p:grpSpPr>
          <p:sp>
            <p:nvSpPr>
              <p:cNvPr id="4" name="Freeform 4"/>
              <p:cNvSpPr/>
              <p:nvPr/>
            </p:nvSpPr>
            <p:spPr>
              <a:xfrm>
                <a:off x="0" y="0"/>
                <a:ext cx="1185649" cy="460561"/>
              </a:xfrm>
              <a:custGeom>
                <a:avLst/>
                <a:gdLst/>
                <a:ahLst/>
                <a:cxnLst/>
                <a:rect l="l" t="t" r="r" b="b"/>
                <a:pathLst>
                  <a:path w="1185649" h="460561">
                    <a:moveTo>
                      <a:pt x="35771" y="0"/>
                    </a:moveTo>
                    <a:lnTo>
                      <a:pt x="1149878" y="0"/>
                    </a:lnTo>
                    <a:cubicBezTo>
                      <a:pt x="1159365" y="0"/>
                      <a:pt x="1168464" y="3769"/>
                      <a:pt x="1175172" y="10477"/>
                    </a:cubicBezTo>
                    <a:cubicBezTo>
                      <a:pt x="1181880" y="17185"/>
                      <a:pt x="1185649" y="26284"/>
                      <a:pt x="1185649" y="35771"/>
                    </a:cubicBezTo>
                    <a:lnTo>
                      <a:pt x="1185649" y="424790"/>
                    </a:lnTo>
                    <a:cubicBezTo>
                      <a:pt x="1185649" y="434277"/>
                      <a:pt x="1181880" y="443376"/>
                      <a:pt x="1175172" y="450084"/>
                    </a:cubicBezTo>
                    <a:cubicBezTo>
                      <a:pt x="1168464" y="456792"/>
                      <a:pt x="1159365" y="460561"/>
                      <a:pt x="1149878" y="460561"/>
                    </a:cubicBezTo>
                    <a:lnTo>
                      <a:pt x="35771" y="460561"/>
                    </a:lnTo>
                    <a:cubicBezTo>
                      <a:pt x="26284" y="460561"/>
                      <a:pt x="17185" y="456792"/>
                      <a:pt x="10477" y="450084"/>
                    </a:cubicBezTo>
                    <a:cubicBezTo>
                      <a:pt x="3769" y="443376"/>
                      <a:pt x="0" y="434277"/>
                      <a:pt x="0" y="424790"/>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5" name="TextBox 5"/>
              <p:cNvSpPr txBox="1"/>
              <p:nvPr/>
            </p:nvSpPr>
            <p:spPr>
              <a:xfrm>
                <a:off x="0" y="19050"/>
                <a:ext cx="1185649" cy="441511"/>
              </a:xfrm>
              <a:prstGeom prst="rect">
                <a:avLst/>
              </a:prstGeom>
            </p:spPr>
            <p:txBody>
              <a:bodyPr lIns="50800" tIns="50800" rIns="50800" bIns="50800" rtlCol="0" anchor="ctr"/>
              <a:lstStyle/>
              <a:p>
                <a:pPr algn="ctr">
                  <a:lnSpc>
                    <a:spcPts val="1387"/>
                  </a:lnSpc>
                </a:pPr>
                <a:endParaRPr/>
              </a:p>
            </p:txBody>
          </p:sp>
        </p:grpSp>
        <p:sp>
          <p:nvSpPr>
            <p:cNvPr id="6" name="TextBox 6"/>
            <p:cNvSpPr txBox="1"/>
            <p:nvPr/>
          </p:nvSpPr>
          <p:spPr>
            <a:xfrm>
              <a:off x="436558" y="303888"/>
              <a:ext cx="5186991" cy="162242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Later, when you pass the comparison for sorting, it will sort the index array</a:t>
              </a:r>
            </a:p>
          </p:txBody>
        </p:sp>
      </p:grpSp>
      <p:grpSp>
        <p:nvGrpSpPr>
          <p:cNvPr id="7" name="Group 7"/>
          <p:cNvGrpSpPr/>
          <p:nvPr/>
        </p:nvGrpSpPr>
        <p:grpSpPr>
          <a:xfrm>
            <a:off x="11999573" y="5362209"/>
            <a:ext cx="4545081" cy="2173189"/>
            <a:chOff x="0" y="0"/>
            <a:chExt cx="6060107" cy="2897586"/>
          </a:xfrm>
        </p:grpSpPr>
        <p:grpSp>
          <p:nvGrpSpPr>
            <p:cNvPr id="8" name="Group 8"/>
            <p:cNvGrpSpPr/>
            <p:nvPr/>
          </p:nvGrpSpPr>
          <p:grpSpPr>
            <a:xfrm>
              <a:off x="0" y="0"/>
              <a:ext cx="6060107" cy="2897586"/>
              <a:chOff x="0" y="0"/>
              <a:chExt cx="1185649" cy="566907"/>
            </a:xfrm>
          </p:grpSpPr>
          <p:sp>
            <p:nvSpPr>
              <p:cNvPr id="9" name="Freeform 9"/>
              <p:cNvSpPr/>
              <p:nvPr/>
            </p:nvSpPr>
            <p:spPr>
              <a:xfrm>
                <a:off x="0" y="0"/>
                <a:ext cx="1185649" cy="566907"/>
              </a:xfrm>
              <a:custGeom>
                <a:avLst/>
                <a:gdLst/>
                <a:ahLst/>
                <a:cxnLst/>
                <a:rect l="l" t="t" r="r" b="b"/>
                <a:pathLst>
                  <a:path w="1185649" h="566907">
                    <a:moveTo>
                      <a:pt x="35771" y="0"/>
                    </a:moveTo>
                    <a:lnTo>
                      <a:pt x="1149878" y="0"/>
                    </a:lnTo>
                    <a:cubicBezTo>
                      <a:pt x="1159365" y="0"/>
                      <a:pt x="1168464" y="3769"/>
                      <a:pt x="1175172" y="10477"/>
                    </a:cubicBezTo>
                    <a:cubicBezTo>
                      <a:pt x="1181880" y="17185"/>
                      <a:pt x="1185649" y="26284"/>
                      <a:pt x="1185649" y="35771"/>
                    </a:cubicBezTo>
                    <a:lnTo>
                      <a:pt x="1185649" y="531137"/>
                    </a:lnTo>
                    <a:cubicBezTo>
                      <a:pt x="1185649" y="540624"/>
                      <a:pt x="1181880" y="549722"/>
                      <a:pt x="1175172" y="556430"/>
                    </a:cubicBezTo>
                    <a:cubicBezTo>
                      <a:pt x="1168464" y="563139"/>
                      <a:pt x="1159365" y="566907"/>
                      <a:pt x="1149878" y="566907"/>
                    </a:cubicBezTo>
                    <a:lnTo>
                      <a:pt x="35771" y="566907"/>
                    </a:lnTo>
                    <a:cubicBezTo>
                      <a:pt x="26284" y="566907"/>
                      <a:pt x="17185" y="563139"/>
                      <a:pt x="10477" y="556430"/>
                    </a:cubicBezTo>
                    <a:cubicBezTo>
                      <a:pt x="3769" y="549722"/>
                      <a:pt x="0" y="540624"/>
                      <a:pt x="0" y="531137"/>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10" name="TextBox 10"/>
              <p:cNvSpPr txBox="1"/>
              <p:nvPr/>
            </p:nvSpPr>
            <p:spPr>
              <a:xfrm>
                <a:off x="0" y="19050"/>
                <a:ext cx="1185649" cy="547857"/>
              </a:xfrm>
              <a:prstGeom prst="rect">
                <a:avLst/>
              </a:prstGeom>
            </p:spPr>
            <p:txBody>
              <a:bodyPr lIns="50800" tIns="50800" rIns="50800" bIns="50800" rtlCol="0" anchor="ctr"/>
              <a:lstStyle/>
              <a:p>
                <a:pPr algn="ctr">
                  <a:lnSpc>
                    <a:spcPts val="1387"/>
                  </a:lnSpc>
                </a:pPr>
                <a:endParaRPr/>
              </a:p>
            </p:txBody>
          </p:sp>
        </p:grpSp>
        <p:sp>
          <p:nvSpPr>
            <p:cNvPr id="11" name="TextBox 11"/>
            <p:cNvSpPr txBox="1"/>
            <p:nvPr/>
          </p:nvSpPr>
          <p:spPr>
            <a:xfrm>
              <a:off x="436558" y="303888"/>
              <a:ext cx="5186991" cy="216598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Note that this will sort the index array (ConcreteIterator’s member), not privatePlaylist (Playlist’s member)</a:t>
              </a:r>
            </a:p>
          </p:txBody>
        </p:sp>
      </p:grpSp>
      <p:sp>
        <p:nvSpPr>
          <p:cNvPr id="12" name="Freeform 12"/>
          <p:cNvSpPr/>
          <p:nvPr/>
        </p:nvSpPr>
        <p:spPr>
          <a:xfrm>
            <a:off x="1028700" y="3557689"/>
            <a:ext cx="9566435" cy="3171621"/>
          </a:xfrm>
          <a:custGeom>
            <a:avLst/>
            <a:gdLst/>
            <a:ahLst/>
            <a:cxnLst/>
            <a:rect l="l" t="t" r="r" b="b"/>
            <a:pathLst>
              <a:path w="9566435" h="3171621">
                <a:moveTo>
                  <a:pt x="0" y="0"/>
                </a:moveTo>
                <a:lnTo>
                  <a:pt x="9566435" y="0"/>
                </a:lnTo>
                <a:lnTo>
                  <a:pt x="9566435" y="3171622"/>
                </a:lnTo>
                <a:lnTo>
                  <a:pt x="0" y="3171622"/>
                </a:lnTo>
                <a:lnTo>
                  <a:pt x="0" y="0"/>
                </a:lnTo>
                <a:close/>
              </a:path>
            </a:pathLst>
          </a:custGeom>
          <a:blipFill>
            <a:blip r:embed="rId2"/>
            <a:stretch>
              <a:fillRect/>
            </a:stretch>
          </a:blipFill>
        </p:spPr>
        <p:txBody>
          <a:bodyPr/>
          <a:lstStyle/>
          <a:p>
            <a:endParaRPr lang="en-US"/>
          </a:p>
        </p:txBody>
      </p:sp>
      <p:sp>
        <p:nvSpPr>
          <p:cNvPr id="13" name="TextBox 13"/>
          <p:cNvSpPr txBox="1"/>
          <p:nvPr/>
        </p:nvSpPr>
        <p:spPr>
          <a:xfrm>
            <a:off x="11595402" y="1118920"/>
            <a:ext cx="5353423" cy="1165860"/>
          </a:xfrm>
          <a:prstGeom prst="rect">
            <a:avLst/>
          </a:prstGeom>
        </p:spPr>
        <p:txBody>
          <a:bodyPr lIns="0" tIns="0" rIns="0" bIns="0" rtlCol="0" anchor="t">
            <a:spAutoFit/>
          </a:bodyPr>
          <a:lstStyle/>
          <a:p>
            <a:pPr algn="l">
              <a:lnSpc>
                <a:spcPts val="4770"/>
              </a:lnSpc>
            </a:pPr>
            <a:r>
              <a:rPr lang="en-US" sz="3000" b="1">
                <a:solidFill>
                  <a:srgbClr val="FFFFFF"/>
                </a:solidFill>
                <a:latin typeface="Aileron Bold"/>
                <a:ea typeface="Aileron Bold"/>
                <a:cs typeface="Aileron Bold"/>
                <a:sym typeface="Aileron Bold"/>
              </a:rPr>
              <a:t>This is the sorting </a:t>
            </a:r>
            <a:r>
              <a:rPr lang="en-US" sz="3000" b="1">
                <a:solidFill>
                  <a:srgbClr val="17E3B2"/>
                </a:solidFill>
                <a:latin typeface="Aileron Bold"/>
                <a:ea typeface="Aileron Bold"/>
                <a:cs typeface="Aileron Bold"/>
                <a:sym typeface="Aileron Bold"/>
              </a:rPr>
              <a:t>“blueprint”</a:t>
            </a:r>
            <a:r>
              <a:rPr lang="en-US" sz="3000" b="1">
                <a:solidFill>
                  <a:srgbClr val="FFFFFF"/>
                </a:solidFill>
                <a:latin typeface="Aileron Bold"/>
                <a:ea typeface="Aileron Bold"/>
                <a:cs typeface="Aileron Bold"/>
                <a:sym typeface="Aileron Bold"/>
              </a:rPr>
              <a:t> for later sorting logic.</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334F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1617193"/>
            <a:ext cx="8502318" cy="7052614"/>
          </a:xfrm>
          <a:custGeom>
            <a:avLst/>
            <a:gdLst/>
            <a:ahLst/>
            <a:cxnLst/>
            <a:rect l="l" t="t" r="r" b="b"/>
            <a:pathLst>
              <a:path w="8502318" h="7052614">
                <a:moveTo>
                  <a:pt x="0" y="0"/>
                </a:moveTo>
                <a:lnTo>
                  <a:pt x="8502318" y="0"/>
                </a:lnTo>
                <a:lnTo>
                  <a:pt x="8502318" y="7052614"/>
                </a:lnTo>
                <a:lnTo>
                  <a:pt x="0" y="7052614"/>
                </a:lnTo>
                <a:lnTo>
                  <a:pt x="0" y="0"/>
                </a:lnTo>
                <a:close/>
              </a:path>
            </a:pathLst>
          </a:custGeom>
          <a:blipFill>
            <a:blip r:embed="rId2"/>
            <a:stretch>
              <a:fillRect/>
            </a:stretch>
          </a:blipFill>
        </p:spPr>
        <p:txBody>
          <a:bodyPr/>
          <a:lstStyle/>
          <a:p>
            <a:endParaRPr lang="en-US"/>
          </a:p>
        </p:txBody>
      </p:sp>
      <p:sp>
        <p:nvSpPr>
          <p:cNvPr id="3" name="Freeform 3"/>
          <p:cNvSpPr/>
          <p:nvPr/>
        </p:nvSpPr>
        <p:spPr>
          <a:xfrm>
            <a:off x="10178576" y="5789297"/>
            <a:ext cx="7080724" cy="2880510"/>
          </a:xfrm>
          <a:custGeom>
            <a:avLst/>
            <a:gdLst/>
            <a:ahLst/>
            <a:cxnLst/>
            <a:rect l="l" t="t" r="r" b="b"/>
            <a:pathLst>
              <a:path w="7080724" h="2880510">
                <a:moveTo>
                  <a:pt x="0" y="0"/>
                </a:moveTo>
                <a:lnTo>
                  <a:pt x="7080724" y="0"/>
                </a:lnTo>
                <a:lnTo>
                  <a:pt x="7080724" y="2880510"/>
                </a:lnTo>
                <a:lnTo>
                  <a:pt x="0" y="288051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1042227" y="2777490"/>
            <a:ext cx="5353423" cy="2366010"/>
          </a:xfrm>
          <a:prstGeom prst="rect">
            <a:avLst/>
          </a:prstGeom>
        </p:spPr>
        <p:txBody>
          <a:bodyPr lIns="0" tIns="0" rIns="0" bIns="0" rtlCol="0" anchor="t">
            <a:spAutoFit/>
          </a:bodyPr>
          <a:lstStyle/>
          <a:p>
            <a:pPr algn="l">
              <a:lnSpc>
                <a:spcPts val="4770"/>
              </a:lnSpc>
            </a:pPr>
            <a:r>
              <a:rPr lang="en-US" sz="3000" b="1">
                <a:solidFill>
                  <a:srgbClr val="FFFFFF"/>
                </a:solidFill>
                <a:latin typeface="Aileron Bold"/>
                <a:ea typeface="Aileron Bold"/>
                <a:cs typeface="Aileron Bold"/>
                <a:sym typeface="Aileron Bold"/>
              </a:rPr>
              <a:t>These are functions that we use to move our </a:t>
            </a:r>
            <a:r>
              <a:rPr lang="en-US" sz="3000" b="1">
                <a:solidFill>
                  <a:srgbClr val="17E3B2"/>
                </a:solidFill>
                <a:latin typeface="Aileron Bold"/>
                <a:ea typeface="Aileron Bold"/>
                <a:cs typeface="Aileron Bold"/>
                <a:sym typeface="Aileron Bold"/>
              </a:rPr>
              <a:t>iterator </a:t>
            </a:r>
            <a:r>
              <a:rPr lang="en-US" sz="3000" b="1">
                <a:solidFill>
                  <a:srgbClr val="FFFFFF"/>
                </a:solidFill>
                <a:latin typeface="Aileron Bold"/>
                <a:ea typeface="Aileron Bold"/>
                <a:cs typeface="Aileron Bold"/>
                <a:sym typeface="Aileron Bold"/>
              </a:rPr>
              <a:t>or get the </a:t>
            </a:r>
            <a:r>
              <a:rPr lang="en-US" sz="3000" b="1">
                <a:solidFill>
                  <a:srgbClr val="17E3B2"/>
                </a:solidFill>
                <a:latin typeface="Aileron Bold"/>
                <a:ea typeface="Aileron Bold"/>
                <a:cs typeface="Aileron Bold"/>
                <a:sym typeface="Aileron Bold"/>
              </a:rPr>
              <a:t>data</a:t>
            </a:r>
            <a:r>
              <a:rPr lang="en-US" sz="3000" b="1">
                <a:solidFill>
                  <a:srgbClr val="FFFFFF"/>
                </a:solidFill>
                <a:latin typeface="Aileron Bold"/>
                <a:ea typeface="Aileron Bold"/>
                <a:cs typeface="Aileron Bold"/>
                <a:sym typeface="Aileron Bold"/>
              </a:rPr>
              <a:t> that it is pointing to</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334F5E">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1595402" y="2405181"/>
            <a:ext cx="4545081" cy="1765519"/>
            <a:chOff x="0" y="0"/>
            <a:chExt cx="6060107" cy="2354026"/>
          </a:xfrm>
        </p:grpSpPr>
        <p:grpSp>
          <p:nvGrpSpPr>
            <p:cNvPr id="3" name="Group 3"/>
            <p:cNvGrpSpPr/>
            <p:nvPr/>
          </p:nvGrpSpPr>
          <p:grpSpPr>
            <a:xfrm>
              <a:off x="0" y="0"/>
              <a:ext cx="6060107" cy="2354026"/>
              <a:chOff x="0" y="0"/>
              <a:chExt cx="1185649" cy="460561"/>
            </a:xfrm>
          </p:grpSpPr>
          <p:sp>
            <p:nvSpPr>
              <p:cNvPr id="4" name="Freeform 4"/>
              <p:cNvSpPr/>
              <p:nvPr/>
            </p:nvSpPr>
            <p:spPr>
              <a:xfrm>
                <a:off x="0" y="0"/>
                <a:ext cx="1185649" cy="460561"/>
              </a:xfrm>
              <a:custGeom>
                <a:avLst/>
                <a:gdLst/>
                <a:ahLst/>
                <a:cxnLst/>
                <a:rect l="l" t="t" r="r" b="b"/>
                <a:pathLst>
                  <a:path w="1185649" h="460561">
                    <a:moveTo>
                      <a:pt x="35771" y="0"/>
                    </a:moveTo>
                    <a:lnTo>
                      <a:pt x="1149878" y="0"/>
                    </a:lnTo>
                    <a:cubicBezTo>
                      <a:pt x="1159365" y="0"/>
                      <a:pt x="1168464" y="3769"/>
                      <a:pt x="1175172" y="10477"/>
                    </a:cubicBezTo>
                    <a:cubicBezTo>
                      <a:pt x="1181880" y="17185"/>
                      <a:pt x="1185649" y="26284"/>
                      <a:pt x="1185649" y="35771"/>
                    </a:cubicBezTo>
                    <a:lnTo>
                      <a:pt x="1185649" y="424790"/>
                    </a:lnTo>
                    <a:cubicBezTo>
                      <a:pt x="1185649" y="434277"/>
                      <a:pt x="1181880" y="443376"/>
                      <a:pt x="1175172" y="450084"/>
                    </a:cubicBezTo>
                    <a:cubicBezTo>
                      <a:pt x="1168464" y="456792"/>
                      <a:pt x="1159365" y="460561"/>
                      <a:pt x="1149878" y="460561"/>
                    </a:cubicBezTo>
                    <a:lnTo>
                      <a:pt x="35771" y="460561"/>
                    </a:lnTo>
                    <a:cubicBezTo>
                      <a:pt x="26284" y="460561"/>
                      <a:pt x="17185" y="456792"/>
                      <a:pt x="10477" y="450084"/>
                    </a:cubicBezTo>
                    <a:cubicBezTo>
                      <a:pt x="3769" y="443376"/>
                      <a:pt x="0" y="434277"/>
                      <a:pt x="0" y="424790"/>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5" name="TextBox 5"/>
              <p:cNvSpPr txBox="1"/>
              <p:nvPr/>
            </p:nvSpPr>
            <p:spPr>
              <a:xfrm>
                <a:off x="0" y="19050"/>
                <a:ext cx="1185649" cy="441511"/>
              </a:xfrm>
              <a:prstGeom prst="rect">
                <a:avLst/>
              </a:prstGeom>
            </p:spPr>
            <p:txBody>
              <a:bodyPr lIns="50800" tIns="50800" rIns="50800" bIns="50800" rtlCol="0" anchor="ctr"/>
              <a:lstStyle/>
              <a:p>
                <a:pPr algn="ctr">
                  <a:lnSpc>
                    <a:spcPts val="1387"/>
                  </a:lnSpc>
                </a:pPr>
                <a:endParaRPr/>
              </a:p>
            </p:txBody>
          </p:sp>
        </p:grpSp>
        <p:sp>
          <p:nvSpPr>
            <p:cNvPr id="6" name="TextBox 6"/>
            <p:cNvSpPr txBox="1"/>
            <p:nvPr/>
          </p:nvSpPr>
          <p:spPr>
            <a:xfrm>
              <a:off x="436558" y="303888"/>
              <a:ext cx="5186991" cy="162242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We pass the comparison logic here so that the sorting algorithm can run.</a:t>
              </a:r>
            </a:p>
          </p:txBody>
        </p:sp>
      </p:grpSp>
      <p:sp>
        <p:nvSpPr>
          <p:cNvPr id="7" name="Freeform 7"/>
          <p:cNvSpPr/>
          <p:nvPr/>
        </p:nvSpPr>
        <p:spPr>
          <a:xfrm>
            <a:off x="1028700" y="7020442"/>
            <a:ext cx="9566435" cy="2220780"/>
          </a:xfrm>
          <a:custGeom>
            <a:avLst/>
            <a:gdLst/>
            <a:ahLst/>
            <a:cxnLst/>
            <a:rect l="l" t="t" r="r" b="b"/>
            <a:pathLst>
              <a:path w="9566435" h="2220780">
                <a:moveTo>
                  <a:pt x="0" y="0"/>
                </a:moveTo>
                <a:lnTo>
                  <a:pt x="9566435" y="0"/>
                </a:lnTo>
                <a:lnTo>
                  <a:pt x="9566435" y="2220780"/>
                </a:lnTo>
                <a:lnTo>
                  <a:pt x="0" y="2220780"/>
                </a:lnTo>
                <a:lnTo>
                  <a:pt x="0" y="0"/>
                </a:lnTo>
                <a:close/>
              </a:path>
            </a:pathLst>
          </a:custGeom>
          <a:blipFill>
            <a:blip r:embed="rId2"/>
            <a:stretch>
              <a:fillRect/>
            </a:stretch>
          </a:blipFill>
        </p:spPr>
        <p:txBody>
          <a:bodyPr/>
          <a:lstStyle/>
          <a:p>
            <a:endParaRPr lang="en-US"/>
          </a:p>
        </p:txBody>
      </p:sp>
      <p:sp>
        <p:nvSpPr>
          <p:cNvPr id="8" name="Freeform 8"/>
          <p:cNvSpPr/>
          <p:nvPr/>
        </p:nvSpPr>
        <p:spPr>
          <a:xfrm>
            <a:off x="1028700" y="4170701"/>
            <a:ext cx="9566435" cy="2383016"/>
          </a:xfrm>
          <a:custGeom>
            <a:avLst/>
            <a:gdLst/>
            <a:ahLst/>
            <a:cxnLst/>
            <a:rect l="l" t="t" r="r" b="b"/>
            <a:pathLst>
              <a:path w="9566435" h="2383016">
                <a:moveTo>
                  <a:pt x="0" y="0"/>
                </a:moveTo>
                <a:lnTo>
                  <a:pt x="9566435" y="0"/>
                </a:lnTo>
                <a:lnTo>
                  <a:pt x="9566435" y="2383016"/>
                </a:lnTo>
                <a:lnTo>
                  <a:pt x="0" y="2383016"/>
                </a:lnTo>
                <a:lnTo>
                  <a:pt x="0" y="0"/>
                </a:lnTo>
                <a:close/>
              </a:path>
            </a:pathLst>
          </a:custGeom>
          <a:blipFill>
            <a:blip r:embed="rId3"/>
            <a:stretch>
              <a:fillRect/>
            </a:stretch>
          </a:blipFill>
        </p:spPr>
        <p:txBody>
          <a:bodyPr/>
          <a:lstStyle/>
          <a:p>
            <a:endParaRPr lang="en-US"/>
          </a:p>
        </p:txBody>
      </p:sp>
      <p:sp>
        <p:nvSpPr>
          <p:cNvPr id="9" name="Freeform 9"/>
          <p:cNvSpPr/>
          <p:nvPr/>
        </p:nvSpPr>
        <p:spPr>
          <a:xfrm>
            <a:off x="1028700" y="1483196"/>
            <a:ext cx="9566435" cy="2220780"/>
          </a:xfrm>
          <a:custGeom>
            <a:avLst/>
            <a:gdLst/>
            <a:ahLst/>
            <a:cxnLst/>
            <a:rect l="l" t="t" r="r" b="b"/>
            <a:pathLst>
              <a:path w="9566435" h="2220780">
                <a:moveTo>
                  <a:pt x="0" y="0"/>
                </a:moveTo>
                <a:lnTo>
                  <a:pt x="9566435" y="0"/>
                </a:lnTo>
                <a:lnTo>
                  <a:pt x="9566435" y="2220780"/>
                </a:lnTo>
                <a:lnTo>
                  <a:pt x="0" y="2220780"/>
                </a:lnTo>
                <a:lnTo>
                  <a:pt x="0" y="0"/>
                </a:lnTo>
                <a:close/>
              </a:path>
            </a:pathLst>
          </a:custGeom>
          <a:blipFill>
            <a:blip r:embed="rId4"/>
            <a:stretch>
              <a:fillRect/>
            </a:stretch>
          </a:blipFill>
        </p:spPr>
        <p:txBody>
          <a:bodyPr/>
          <a:lstStyle/>
          <a:p>
            <a:endParaRPr lang="en-US"/>
          </a:p>
        </p:txBody>
      </p:sp>
      <p:sp>
        <p:nvSpPr>
          <p:cNvPr id="10" name="TextBox 10"/>
          <p:cNvSpPr txBox="1"/>
          <p:nvPr/>
        </p:nvSpPr>
        <p:spPr>
          <a:xfrm>
            <a:off x="11595402" y="914400"/>
            <a:ext cx="5353423" cy="1165860"/>
          </a:xfrm>
          <a:prstGeom prst="rect">
            <a:avLst/>
          </a:prstGeom>
        </p:spPr>
        <p:txBody>
          <a:bodyPr lIns="0" tIns="0" rIns="0" bIns="0" rtlCol="0" anchor="t">
            <a:spAutoFit/>
          </a:bodyPr>
          <a:lstStyle/>
          <a:p>
            <a:pPr algn="l">
              <a:lnSpc>
                <a:spcPts val="4770"/>
              </a:lnSpc>
            </a:pPr>
            <a:r>
              <a:rPr lang="en-US" sz="3000" b="1">
                <a:solidFill>
                  <a:srgbClr val="FFFFFF"/>
                </a:solidFill>
                <a:latin typeface="Aileron Bold"/>
                <a:ea typeface="Aileron Bold"/>
                <a:cs typeface="Aileron Bold"/>
                <a:sym typeface="Aileron Bold"/>
              </a:rPr>
              <a:t>These are the </a:t>
            </a:r>
            <a:r>
              <a:rPr lang="en-US" sz="3000" b="1">
                <a:solidFill>
                  <a:srgbClr val="17E3B2"/>
                </a:solidFill>
                <a:latin typeface="Aileron Bold"/>
                <a:ea typeface="Aileron Bold"/>
                <a:cs typeface="Aileron Bold"/>
                <a:sym typeface="Aileron Bold"/>
              </a:rPr>
              <a:t>constructors</a:t>
            </a:r>
            <a:r>
              <a:rPr lang="en-US" sz="3000" b="1">
                <a:solidFill>
                  <a:srgbClr val="FFFFFF"/>
                </a:solidFill>
                <a:latin typeface="Aileron Bold"/>
                <a:ea typeface="Aileron Bold"/>
                <a:cs typeface="Aileron Bold"/>
                <a:sym typeface="Aileron Bold"/>
              </a:rPr>
              <a:t> of our 3 iterators</a:t>
            </a:r>
          </a:p>
        </p:txBody>
      </p:sp>
      <p:grpSp>
        <p:nvGrpSpPr>
          <p:cNvPr id="11" name="Group 11"/>
          <p:cNvGrpSpPr/>
          <p:nvPr/>
        </p:nvGrpSpPr>
        <p:grpSpPr>
          <a:xfrm>
            <a:off x="11999573" y="4494551"/>
            <a:ext cx="4545081" cy="1357849"/>
            <a:chOff x="0" y="0"/>
            <a:chExt cx="6060107" cy="1810466"/>
          </a:xfrm>
        </p:grpSpPr>
        <p:grpSp>
          <p:nvGrpSpPr>
            <p:cNvPr id="12" name="Group 12"/>
            <p:cNvGrpSpPr/>
            <p:nvPr/>
          </p:nvGrpSpPr>
          <p:grpSpPr>
            <a:xfrm>
              <a:off x="0" y="0"/>
              <a:ext cx="6060107" cy="1810466"/>
              <a:chOff x="0" y="0"/>
              <a:chExt cx="1185649" cy="354214"/>
            </a:xfrm>
          </p:grpSpPr>
          <p:sp>
            <p:nvSpPr>
              <p:cNvPr id="13" name="Freeform 13"/>
              <p:cNvSpPr/>
              <p:nvPr/>
            </p:nvSpPr>
            <p:spPr>
              <a:xfrm>
                <a:off x="0" y="0"/>
                <a:ext cx="1185649" cy="354214"/>
              </a:xfrm>
              <a:custGeom>
                <a:avLst/>
                <a:gdLst/>
                <a:ahLst/>
                <a:cxnLst/>
                <a:rect l="l" t="t" r="r" b="b"/>
                <a:pathLst>
                  <a:path w="1185649" h="354214">
                    <a:moveTo>
                      <a:pt x="35771" y="0"/>
                    </a:moveTo>
                    <a:lnTo>
                      <a:pt x="1149878" y="0"/>
                    </a:lnTo>
                    <a:cubicBezTo>
                      <a:pt x="1159365" y="0"/>
                      <a:pt x="1168464" y="3769"/>
                      <a:pt x="1175172" y="10477"/>
                    </a:cubicBezTo>
                    <a:cubicBezTo>
                      <a:pt x="1181880" y="17185"/>
                      <a:pt x="1185649" y="26284"/>
                      <a:pt x="1185649" y="35771"/>
                    </a:cubicBezTo>
                    <a:lnTo>
                      <a:pt x="1185649" y="318444"/>
                    </a:lnTo>
                    <a:cubicBezTo>
                      <a:pt x="1185649" y="327931"/>
                      <a:pt x="1181880" y="337029"/>
                      <a:pt x="1175172" y="343737"/>
                    </a:cubicBezTo>
                    <a:cubicBezTo>
                      <a:pt x="1168464" y="350446"/>
                      <a:pt x="1159365" y="354214"/>
                      <a:pt x="1149878" y="354214"/>
                    </a:cubicBezTo>
                    <a:lnTo>
                      <a:pt x="35771" y="354214"/>
                    </a:lnTo>
                    <a:cubicBezTo>
                      <a:pt x="16015" y="354214"/>
                      <a:pt x="0" y="338199"/>
                      <a:pt x="0" y="318444"/>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14" name="TextBox 14"/>
              <p:cNvSpPr txBox="1"/>
              <p:nvPr/>
            </p:nvSpPr>
            <p:spPr>
              <a:xfrm>
                <a:off x="0" y="19050"/>
                <a:ext cx="1185649" cy="335164"/>
              </a:xfrm>
              <a:prstGeom prst="rect">
                <a:avLst/>
              </a:prstGeom>
            </p:spPr>
            <p:txBody>
              <a:bodyPr lIns="50800" tIns="50800" rIns="50800" bIns="50800" rtlCol="0" anchor="ctr"/>
              <a:lstStyle/>
              <a:p>
                <a:pPr algn="ctr">
                  <a:lnSpc>
                    <a:spcPts val="1387"/>
                  </a:lnSpc>
                </a:pPr>
                <a:endParaRPr/>
              </a:p>
            </p:txBody>
          </p:sp>
        </p:grpSp>
        <p:sp>
          <p:nvSpPr>
            <p:cNvPr id="15" name="TextBox 15"/>
            <p:cNvSpPr txBox="1"/>
            <p:nvPr/>
          </p:nvSpPr>
          <p:spPr>
            <a:xfrm>
              <a:off x="436558" y="303888"/>
              <a:ext cx="5186991" cy="107886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AlphabeticIterator sort the index array in alphabetic order </a:t>
              </a:r>
            </a:p>
          </p:txBody>
        </p:sp>
      </p:grpSp>
      <p:grpSp>
        <p:nvGrpSpPr>
          <p:cNvPr id="16" name="Group 16"/>
          <p:cNvGrpSpPr/>
          <p:nvPr/>
        </p:nvGrpSpPr>
        <p:grpSpPr>
          <a:xfrm>
            <a:off x="12403744" y="6176250"/>
            <a:ext cx="4545081" cy="1765519"/>
            <a:chOff x="0" y="0"/>
            <a:chExt cx="6060107" cy="2354026"/>
          </a:xfrm>
        </p:grpSpPr>
        <p:grpSp>
          <p:nvGrpSpPr>
            <p:cNvPr id="17" name="Group 17"/>
            <p:cNvGrpSpPr/>
            <p:nvPr/>
          </p:nvGrpSpPr>
          <p:grpSpPr>
            <a:xfrm>
              <a:off x="0" y="0"/>
              <a:ext cx="6060107" cy="2354026"/>
              <a:chOff x="0" y="0"/>
              <a:chExt cx="1185649" cy="460561"/>
            </a:xfrm>
          </p:grpSpPr>
          <p:sp>
            <p:nvSpPr>
              <p:cNvPr id="18" name="Freeform 18"/>
              <p:cNvSpPr/>
              <p:nvPr/>
            </p:nvSpPr>
            <p:spPr>
              <a:xfrm>
                <a:off x="0" y="0"/>
                <a:ext cx="1185649" cy="460561"/>
              </a:xfrm>
              <a:custGeom>
                <a:avLst/>
                <a:gdLst/>
                <a:ahLst/>
                <a:cxnLst/>
                <a:rect l="l" t="t" r="r" b="b"/>
                <a:pathLst>
                  <a:path w="1185649" h="460561">
                    <a:moveTo>
                      <a:pt x="35771" y="0"/>
                    </a:moveTo>
                    <a:lnTo>
                      <a:pt x="1149878" y="0"/>
                    </a:lnTo>
                    <a:cubicBezTo>
                      <a:pt x="1159365" y="0"/>
                      <a:pt x="1168464" y="3769"/>
                      <a:pt x="1175172" y="10477"/>
                    </a:cubicBezTo>
                    <a:cubicBezTo>
                      <a:pt x="1181880" y="17185"/>
                      <a:pt x="1185649" y="26284"/>
                      <a:pt x="1185649" y="35771"/>
                    </a:cubicBezTo>
                    <a:lnTo>
                      <a:pt x="1185649" y="424790"/>
                    </a:lnTo>
                    <a:cubicBezTo>
                      <a:pt x="1185649" y="434277"/>
                      <a:pt x="1181880" y="443376"/>
                      <a:pt x="1175172" y="450084"/>
                    </a:cubicBezTo>
                    <a:cubicBezTo>
                      <a:pt x="1168464" y="456792"/>
                      <a:pt x="1159365" y="460561"/>
                      <a:pt x="1149878" y="460561"/>
                    </a:cubicBezTo>
                    <a:lnTo>
                      <a:pt x="35771" y="460561"/>
                    </a:lnTo>
                    <a:cubicBezTo>
                      <a:pt x="26284" y="460561"/>
                      <a:pt x="17185" y="456792"/>
                      <a:pt x="10477" y="450084"/>
                    </a:cubicBezTo>
                    <a:cubicBezTo>
                      <a:pt x="3769" y="443376"/>
                      <a:pt x="0" y="434277"/>
                      <a:pt x="0" y="424790"/>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19" name="TextBox 19"/>
              <p:cNvSpPr txBox="1"/>
              <p:nvPr/>
            </p:nvSpPr>
            <p:spPr>
              <a:xfrm>
                <a:off x="0" y="19050"/>
                <a:ext cx="1185649" cy="441511"/>
              </a:xfrm>
              <a:prstGeom prst="rect">
                <a:avLst/>
              </a:prstGeom>
            </p:spPr>
            <p:txBody>
              <a:bodyPr lIns="50800" tIns="50800" rIns="50800" bIns="50800" rtlCol="0" anchor="ctr"/>
              <a:lstStyle/>
              <a:p>
                <a:pPr algn="ctr">
                  <a:lnSpc>
                    <a:spcPts val="1387"/>
                  </a:lnSpc>
                </a:pPr>
                <a:endParaRPr/>
              </a:p>
            </p:txBody>
          </p:sp>
        </p:grpSp>
        <p:sp>
          <p:nvSpPr>
            <p:cNvPr id="20" name="TextBox 20"/>
            <p:cNvSpPr txBox="1"/>
            <p:nvPr/>
          </p:nvSpPr>
          <p:spPr>
            <a:xfrm>
              <a:off x="436558" y="303888"/>
              <a:ext cx="5186991" cy="162242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LengthIterator sorts the index array in length order, from  shortest to longest</a:t>
              </a:r>
            </a:p>
          </p:txBody>
        </p:sp>
      </p:grpSp>
      <p:grpSp>
        <p:nvGrpSpPr>
          <p:cNvPr id="21" name="Group 21"/>
          <p:cNvGrpSpPr/>
          <p:nvPr/>
        </p:nvGrpSpPr>
        <p:grpSpPr>
          <a:xfrm>
            <a:off x="12714219" y="8265619"/>
            <a:ext cx="4545081" cy="1765519"/>
            <a:chOff x="0" y="0"/>
            <a:chExt cx="6060107" cy="2354026"/>
          </a:xfrm>
        </p:grpSpPr>
        <p:grpSp>
          <p:nvGrpSpPr>
            <p:cNvPr id="22" name="Group 22"/>
            <p:cNvGrpSpPr/>
            <p:nvPr/>
          </p:nvGrpSpPr>
          <p:grpSpPr>
            <a:xfrm>
              <a:off x="0" y="0"/>
              <a:ext cx="6060107" cy="2354026"/>
              <a:chOff x="0" y="0"/>
              <a:chExt cx="1185649" cy="460561"/>
            </a:xfrm>
          </p:grpSpPr>
          <p:sp>
            <p:nvSpPr>
              <p:cNvPr id="23" name="Freeform 23"/>
              <p:cNvSpPr/>
              <p:nvPr/>
            </p:nvSpPr>
            <p:spPr>
              <a:xfrm>
                <a:off x="0" y="0"/>
                <a:ext cx="1185649" cy="460561"/>
              </a:xfrm>
              <a:custGeom>
                <a:avLst/>
                <a:gdLst/>
                <a:ahLst/>
                <a:cxnLst/>
                <a:rect l="l" t="t" r="r" b="b"/>
                <a:pathLst>
                  <a:path w="1185649" h="460561">
                    <a:moveTo>
                      <a:pt x="35771" y="0"/>
                    </a:moveTo>
                    <a:lnTo>
                      <a:pt x="1149878" y="0"/>
                    </a:lnTo>
                    <a:cubicBezTo>
                      <a:pt x="1159365" y="0"/>
                      <a:pt x="1168464" y="3769"/>
                      <a:pt x="1175172" y="10477"/>
                    </a:cubicBezTo>
                    <a:cubicBezTo>
                      <a:pt x="1181880" y="17185"/>
                      <a:pt x="1185649" y="26284"/>
                      <a:pt x="1185649" y="35771"/>
                    </a:cubicBezTo>
                    <a:lnTo>
                      <a:pt x="1185649" y="424790"/>
                    </a:lnTo>
                    <a:cubicBezTo>
                      <a:pt x="1185649" y="434277"/>
                      <a:pt x="1181880" y="443376"/>
                      <a:pt x="1175172" y="450084"/>
                    </a:cubicBezTo>
                    <a:cubicBezTo>
                      <a:pt x="1168464" y="456792"/>
                      <a:pt x="1159365" y="460561"/>
                      <a:pt x="1149878" y="460561"/>
                    </a:cubicBezTo>
                    <a:lnTo>
                      <a:pt x="35771" y="460561"/>
                    </a:lnTo>
                    <a:cubicBezTo>
                      <a:pt x="26284" y="460561"/>
                      <a:pt x="17185" y="456792"/>
                      <a:pt x="10477" y="450084"/>
                    </a:cubicBezTo>
                    <a:cubicBezTo>
                      <a:pt x="3769" y="443376"/>
                      <a:pt x="0" y="434277"/>
                      <a:pt x="0" y="424790"/>
                    </a:cubicBezTo>
                    <a:lnTo>
                      <a:pt x="0" y="35771"/>
                    </a:lnTo>
                    <a:cubicBezTo>
                      <a:pt x="0" y="26284"/>
                      <a:pt x="3769" y="17185"/>
                      <a:pt x="10477" y="10477"/>
                    </a:cubicBezTo>
                    <a:cubicBezTo>
                      <a:pt x="17185" y="3769"/>
                      <a:pt x="26284" y="0"/>
                      <a:pt x="35771" y="0"/>
                    </a:cubicBezTo>
                    <a:close/>
                  </a:path>
                </a:pathLst>
              </a:custGeom>
              <a:solidFill>
                <a:srgbClr val="17E3B2"/>
              </a:solidFill>
            </p:spPr>
            <p:txBody>
              <a:bodyPr/>
              <a:lstStyle/>
              <a:p>
                <a:endParaRPr lang="en-US"/>
              </a:p>
            </p:txBody>
          </p:sp>
          <p:sp>
            <p:nvSpPr>
              <p:cNvPr id="24" name="TextBox 24"/>
              <p:cNvSpPr txBox="1"/>
              <p:nvPr/>
            </p:nvSpPr>
            <p:spPr>
              <a:xfrm>
                <a:off x="0" y="19050"/>
                <a:ext cx="1185649" cy="441511"/>
              </a:xfrm>
              <a:prstGeom prst="rect">
                <a:avLst/>
              </a:prstGeom>
            </p:spPr>
            <p:txBody>
              <a:bodyPr lIns="50800" tIns="50800" rIns="50800" bIns="50800" rtlCol="0" anchor="ctr"/>
              <a:lstStyle/>
              <a:p>
                <a:pPr algn="ctr">
                  <a:lnSpc>
                    <a:spcPts val="1387"/>
                  </a:lnSpc>
                </a:pPr>
                <a:endParaRPr/>
              </a:p>
            </p:txBody>
          </p:sp>
        </p:grpSp>
        <p:sp>
          <p:nvSpPr>
            <p:cNvPr id="25" name="TextBox 25"/>
            <p:cNvSpPr txBox="1"/>
            <p:nvPr/>
          </p:nvSpPr>
          <p:spPr>
            <a:xfrm>
              <a:off x="436558" y="303888"/>
              <a:ext cx="5186991" cy="1622425"/>
            </a:xfrm>
            <a:prstGeom prst="rect">
              <a:avLst/>
            </a:prstGeom>
          </p:spPr>
          <p:txBody>
            <a:bodyPr lIns="0" tIns="0" rIns="0" bIns="0" rtlCol="0" anchor="t">
              <a:spAutoFit/>
            </a:bodyPr>
            <a:lstStyle/>
            <a:p>
              <a:pPr algn="l">
                <a:lnSpc>
                  <a:spcPts val="3180"/>
                </a:lnSpc>
              </a:pPr>
              <a:r>
                <a:rPr lang="en-US" sz="2000" b="1">
                  <a:solidFill>
                    <a:srgbClr val="FFFFFF"/>
                  </a:solidFill>
                  <a:latin typeface="Akzidenz-Grotesk Bold"/>
                  <a:ea typeface="Akzidenz-Grotesk Bold"/>
                  <a:cs typeface="Akzidenz-Grotesk Bold"/>
                  <a:sym typeface="Akzidenz-Grotesk Bold"/>
                </a:rPr>
                <a:t>PopularityIterator sorts the index array in popularity order, from least to most</a:t>
              </a:r>
            </a:p>
          </p:txBody>
        </p:sp>
      </p:gr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334F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3368070"/>
            <a:ext cx="9566435" cy="3550860"/>
          </a:xfrm>
          <a:custGeom>
            <a:avLst/>
            <a:gdLst/>
            <a:ahLst/>
            <a:cxnLst/>
            <a:rect l="l" t="t" r="r" b="b"/>
            <a:pathLst>
              <a:path w="9566435" h="3550860">
                <a:moveTo>
                  <a:pt x="0" y="0"/>
                </a:moveTo>
                <a:lnTo>
                  <a:pt x="9566435" y="0"/>
                </a:lnTo>
                <a:lnTo>
                  <a:pt x="9566435" y="3550860"/>
                </a:lnTo>
                <a:lnTo>
                  <a:pt x="0" y="355086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1905877" y="4503420"/>
            <a:ext cx="5353423" cy="1165860"/>
          </a:xfrm>
          <a:prstGeom prst="rect">
            <a:avLst/>
          </a:prstGeom>
        </p:spPr>
        <p:txBody>
          <a:bodyPr lIns="0" tIns="0" rIns="0" bIns="0" rtlCol="0" anchor="t">
            <a:spAutoFit/>
          </a:bodyPr>
          <a:lstStyle/>
          <a:p>
            <a:pPr algn="l">
              <a:lnSpc>
                <a:spcPts val="4770"/>
              </a:lnSpc>
            </a:pPr>
            <a:r>
              <a:rPr lang="en-US" sz="3000" b="1">
                <a:solidFill>
                  <a:srgbClr val="FFFFFF"/>
                </a:solidFill>
                <a:latin typeface="Aileron Bold"/>
                <a:ea typeface="Aileron Bold"/>
                <a:cs typeface="Aileron Bold"/>
                <a:sym typeface="Aileron Bold"/>
              </a:rPr>
              <a:t>This is the function we use to </a:t>
            </a:r>
            <a:r>
              <a:rPr lang="en-US" sz="3000" b="1">
                <a:solidFill>
                  <a:srgbClr val="17E3B2"/>
                </a:solidFill>
                <a:latin typeface="Aileron Bold"/>
                <a:ea typeface="Aileron Bold"/>
                <a:cs typeface="Aileron Bold"/>
                <a:sym typeface="Aileron Bold"/>
              </a:rPr>
              <a:t>add</a:t>
            </a:r>
            <a:r>
              <a:rPr lang="en-US" sz="3000" b="1">
                <a:solidFill>
                  <a:srgbClr val="FFFFFF"/>
                </a:solidFill>
                <a:latin typeface="Aileron Bold"/>
                <a:ea typeface="Aileron Bold"/>
                <a:cs typeface="Aileron Bold"/>
                <a:sym typeface="Aileron Bold"/>
              </a:rPr>
              <a:t> elements to our Playlist</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334F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2048261"/>
            <a:ext cx="9715610" cy="6190477"/>
          </a:xfrm>
          <a:custGeom>
            <a:avLst/>
            <a:gdLst/>
            <a:ahLst/>
            <a:cxnLst/>
            <a:rect l="l" t="t" r="r" b="b"/>
            <a:pathLst>
              <a:path w="9715610" h="6190477">
                <a:moveTo>
                  <a:pt x="0" y="0"/>
                </a:moveTo>
                <a:lnTo>
                  <a:pt x="9715610" y="0"/>
                </a:lnTo>
                <a:lnTo>
                  <a:pt x="9715610" y="6190478"/>
                </a:lnTo>
                <a:lnTo>
                  <a:pt x="0" y="6190478"/>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1905877" y="4503420"/>
            <a:ext cx="5353423" cy="1165860"/>
          </a:xfrm>
          <a:prstGeom prst="rect">
            <a:avLst/>
          </a:prstGeom>
        </p:spPr>
        <p:txBody>
          <a:bodyPr lIns="0" tIns="0" rIns="0" bIns="0" rtlCol="0" anchor="t">
            <a:spAutoFit/>
          </a:bodyPr>
          <a:lstStyle/>
          <a:p>
            <a:pPr algn="l">
              <a:lnSpc>
                <a:spcPts val="4770"/>
              </a:lnSpc>
            </a:pPr>
            <a:r>
              <a:rPr lang="en-US" sz="3000" b="1">
                <a:solidFill>
                  <a:srgbClr val="FFFFFF"/>
                </a:solidFill>
                <a:latin typeface="Aileron Bold"/>
                <a:ea typeface="Aileron Bold"/>
                <a:cs typeface="Aileron Bold"/>
                <a:sym typeface="Aileron Bold"/>
              </a:rPr>
              <a:t>And these are functions that create </a:t>
            </a:r>
            <a:r>
              <a:rPr lang="en-US" sz="3000" b="1">
                <a:solidFill>
                  <a:srgbClr val="17E3B2"/>
                </a:solidFill>
                <a:latin typeface="Aileron Bold"/>
                <a:ea typeface="Aileron Bold"/>
                <a:cs typeface="Aileron Bold"/>
                <a:sym typeface="Aileron Bold"/>
              </a:rPr>
              <a:t>iterators</a:t>
            </a:r>
            <a:r>
              <a:rPr lang="en-US" sz="3000" b="1">
                <a:solidFill>
                  <a:srgbClr val="FFFFFF"/>
                </a:solidFill>
                <a:latin typeface="Aileron Bold"/>
                <a:ea typeface="Aileron Bold"/>
                <a:cs typeface="Aileron Bold"/>
                <a:sym typeface="Aileron Bold"/>
              </a:rPr>
              <a:t> inside Playlist</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334F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1420966"/>
            <a:ext cx="16370410" cy="7837334"/>
          </a:xfrm>
          <a:custGeom>
            <a:avLst/>
            <a:gdLst/>
            <a:ahLst/>
            <a:cxnLst/>
            <a:rect l="l" t="t" r="r" b="b"/>
            <a:pathLst>
              <a:path w="16370410" h="7837334">
                <a:moveTo>
                  <a:pt x="0" y="0"/>
                </a:moveTo>
                <a:lnTo>
                  <a:pt x="16370410" y="0"/>
                </a:lnTo>
                <a:lnTo>
                  <a:pt x="16370410" y="7837334"/>
                </a:lnTo>
                <a:lnTo>
                  <a:pt x="0" y="7837334"/>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6018326" y="-217968"/>
            <a:ext cx="6554673" cy="1547411"/>
          </a:xfrm>
          <a:prstGeom prst="rect">
            <a:avLst/>
          </a:prstGeom>
        </p:spPr>
        <p:txBody>
          <a:bodyPr wrap="square" lIns="0" tIns="0" rIns="0" bIns="0" rtlCol="0" anchor="t">
            <a:spAutoFit/>
          </a:bodyPr>
          <a:lstStyle/>
          <a:p>
            <a:pPr algn="ctr">
              <a:lnSpc>
                <a:spcPts val="12880"/>
              </a:lnSpc>
            </a:pPr>
            <a:r>
              <a:rPr lang="en-US" sz="9200" b="1" dirty="0">
                <a:solidFill>
                  <a:srgbClr val="17E3B2"/>
                </a:solidFill>
                <a:latin typeface="Akzidenz-Grotesk Bold"/>
                <a:ea typeface="Akzidenz-Grotesk Bold"/>
                <a:cs typeface="Akzidenz-Grotesk Bold"/>
                <a:sym typeface="Akzidenz-Grotesk Bold"/>
              </a:rPr>
              <a:t>Client </a:t>
            </a:r>
            <a:r>
              <a:rPr lang="en-US" sz="9200" b="1" dirty="0">
                <a:solidFill>
                  <a:srgbClr val="FFFFFF"/>
                </a:solidFill>
                <a:latin typeface="Akzidenz-Grotesk Bold"/>
                <a:ea typeface="Akzidenz-Grotesk Bold"/>
                <a:cs typeface="Akzidenz-Grotesk Bold"/>
                <a:sym typeface="Akzidenz-Grotesk Bold"/>
              </a:rPr>
              <a:t>code</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334F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958795" y="1593296"/>
            <a:ext cx="16370410" cy="7665004"/>
          </a:xfrm>
          <a:custGeom>
            <a:avLst/>
            <a:gdLst/>
            <a:ahLst/>
            <a:cxnLst/>
            <a:rect l="l" t="t" r="r" b="b"/>
            <a:pathLst>
              <a:path w="16370410" h="7665004">
                <a:moveTo>
                  <a:pt x="0" y="0"/>
                </a:moveTo>
                <a:lnTo>
                  <a:pt x="16370410" y="0"/>
                </a:lnTo>
                <a:lnTo>
                  <a:pt x="16370410" y="7665004"/>
                </a:lnTo>
                <a:lnTo>
                  <a:pt x="0" y="7665004"/>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6018326" y="-217968"/>
            <a:ext cx="6478473" cy="1547411"/>
          </a:xfrm>
          <a:prstGeom prst="rect">
            <a:avLst/>
          </a:prstGeom>
        </p:spPr>
        <p:txBody>
          <a:bodyPr wrap="square" lIns="0" tIns="0" rIns="0" bIns="0" rtlCol="0" anchor="t">
            <a:spAutoFit/>
          </a:bodyPr>
          <a:lstStyle/>
          <a:p>
            <a:pPr algn="ctr">
              <a:lnSpc>
                <a:spcPts val="12880"/>
              </a:lnSpc>
            </a:pPr>
            <a:r>
              <a:rPr lang="en-US" sz="9200" b="1" dirty="0">
                <a:solidFill>
                  <a:srgbClr val="17E3B2"/>
                </a:solidFill>
                <a:latin typeface="Akzidenz-Grotesk Bold"/>
                <a:ea typeface="Akzidenz-Grotesk Bold"/>
                <a:cs typeface="Akzidenz-Grotesk Bold"/>
                <a:sym typeface="Akzidenz-Grotesk Bold"/>
              </a:rPr>
              <a:t>Client </a:t>
            </a:r>
            <a:r>
              <a:rPr lang="en-US" sz="9200" b="1" dirty="0">
                <a:solidFill>
                  <a:srgbClr val="FFFFFF"/>
                </a:solidFill>
                <a:latin typeface="Akzidenz-Grotesk Bold"/>
                <a:ea typeface="Akzidenz-Grotesk Bold"/>
                <a:cs typeface="Akzidenz-Grotesk Bold"/>
                <a:sym typeface="Akzidenz-Grotesk Bold"/>
              </a:rPr>
              <a:t>code</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532020">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243700" y="2363355"/>
            <a:ext cx="10564860" cy="7923645"/>
          </a:xfrm>
          <a:custGeom>
            <a:avLst/>
            <a:gdLst/>
            <a:ahLst/>
            <a:cxnLst/>
            <a:rect l="l" t="t" r="r" b="b"/>
            <a:pathLst>
              <a:path w="10564860" h="7923645">
                <a:moveTo>
                  <a:pt x="0" y="0"/>
                </a:moveTo>
                <a:lnTo>
                  <a:pt x="10564860" y="0"/>
                </a:lnTo>
                <a:lnTo>
                  <a:pt x="10564860" y="7923645"/>
                </a:lnTo>
                <a:lnTo>
                  <a:pt x="0" y="7923645"/>
                </a:lnTo>
                <a:lnTo>
                  <a:pt x="0" y="0"/>
                </a:lnTo>
                <a:close/>
              </a:path>
            </a:pathLst>
          </a:custGeom>
          <a:blipFill>
            <a:blip r:embed="rId2"/>
            <a:stretch>
              <a:fillRect l="-3892" r="-3218" b="-8361"/>
            </a:stretch>
          </a:blipFill>
        </p:spPr>
        <p:txBody>
          <a:bodyPr/>
          <a:lstStyle/>
          <a:p>
            <a:endParaRPr lang="en-US"/>
          </a:p>
        </p:txBody>
      </p:sp>
      <p:sp>
        <p:nvSpPr>
          <p:cNvPr id="3" name="TextBox 3"/>
          <p:cNvSpPr txBox="1"/>
          <p:nvPr/>
        </p:nvSpPr>
        <p:spPr>
          <a:xfrm>
            <a:off x="5312745" y="1315288"/>
            <a:ext cx="8426769" cy="1547411"/>
          </a:xfrm>
          <a:prstGeom prst="rect">
            <a:avLst/>
          </a:prstGeom>
        </p:spPr>
        <p:txBody>
          <a:bodyPr wrap="square" lIns="0" tIns="0" rIns="0" bIns="0" rtlCol="0" anchor="t">
            <a:spAutoFit/>
          </a:bodyPr>
          <a:lstStyle/>
          <a:p>
            <a:pPr algn="ctr">
              <a:lnSpc>
                <a:spcPts val="12880"/>
              </a:lnSpc>
            </a:pPr>
            <a:r>
              <a:rPr lang="en-US" sz="9200" b="1" dirty="0">
                <a:solidFill>
                  <a:srgbClr val="68CA83"/>
                </a:solidFill>
                <a:latin typeface="Akzidenz-Grotesk Bold"/>
                <a:ea typeface="Akzidenz-Grotesk Bold"/>
                <a:cs typeface="Akzidenz-Grotesk Bold"/>
                <a:sym typeface="Akzidenz-Grotesk Bold"/>
              </a:rPr>
              <a:t>PROS </a:t>
            </a:r>
            <a:r>
              <a:rPr lang="en-US" sz="9200" b="1" dirty="0">
                <a:solidFill>
                  <a:srgbClr val="FFFFFF"/>
                </a:solidFill>
                <a:latin typeface="Akzidenz-Grotesk Bold"/>
                <a:ea typeface="Akzidenz-Grotesk Bold"/>
                <a:cs typeface="Akzidenz-Grotesk Bold"/>
                <a:sym typeface="Akzidenz-Grotesk Bold"/>
              </a:rPr>
              <a:t>&amp; </a:t>
            </a:r>
            <a:r>
              <a:rPr lang="en-US" sz="9200" b="1" dirty="0">
                <a:solidFill>
                  <a:srgbClr val="E65D58"/>
                </a:solidFill>
                <a:latin typeface="Akzidenz-Grotesk Bold"/>
                <a:ea typeface="Akzidenz-Grotesk Bold"/>
                <a:cs typeface="Akzidenz-Grotesk Bold"/>
                <a:sym typeface="Akzidenz-Grotesk Bold"/>
              </a:rPr>
              <a:t>CONS</a:t>
            </a:r>
          </a:p>
        </p:txBody>
      </p:sp>
      <p:sp>
        <p:nvSpPr>
          <p:cNvPr id="4" name="TextBox 4"/>
          <p:cNvSpPr txBox="1"/>
          <p:nvPr/>
        </p:nvSpPr>
        <p:spPr>
          <a:xfrm>
            <a:off x="5365431" y="1315288"/>
            <a:ext cx="3384828" cy="1753234"/>
          </a:xfrm>
          <a:prstGeom prst="rect">
            <a:avLst/>
          </a:prstGeom>
        </p:spPr>
        <p:txBody>
          <a:bodyPr lIns="0" tIns="0" rIns="0" bIns="0" rtlCol="0" anchor="t">
            <a:spAutoFit/>
          </a:bodyPr>
          <a:lstStyle/>
          <a:p>
            <a:pPr algn="ctr">
              <a:lnSpc>
                <a:spcPts val="12880"/>
              </a:lnSpc>
            </a:pPr>
            <a:r>
              <a:rPr lang="en-US" sz="9200" b="1">
                <a:solidFill>
                  <a:srgbClr val="68CA83"/>
                </a:solidFill>
                <a:latin typeface="Akzidenz-Grotesk Bold"/>
                <a:ea typeface="Akzidenz-Grotesk Bold"/>
                <a:cs typeface="Akzidenz-Grotesk Bold"/>
                <a:sym typeface="Akzidenz-Grotesk Bold"/>
              </a:rPr>
              <a:t>PROS</a:t>
            </a:r>
          </a:p>
        </p:txBody>
      </p:sp>
      <p:sp>
        <p:nvSpPr>
          <p:cNvPr id="5" name="TextBox 5">
            <a:extLst>
              <a:ext uri="{FF2B5EF4-FFF2-40B4-BE49-F238E27FC236}">
                <a16:creationId xmlns:a16="http://schemas.microsoft.com/office/drawing/2014/main" id="{AE0532CE-6AF8-7792-A3AA-1CF242E357A6}"/>
              </a:ext>
            </a:extLst>
          </p:cNvPr>
          <p:cNvSpPr txBox="1"/>
          <p:nvPr/>
        </p:nvSpPr>
        <p:spPr>
          <a:xfrm>
            <a:off x="10129268" y="1296479"/>
            <a:ext cx="3631466" cy="1547411"/>
          </a:xfrm>
          <a:prstGeom prst="rect">
            <a:avLst/>
          </a:prstGeom>
        </p:spPr>
        <p:txBody>
          <a:bodyPr wrap="square" lIns="0" tIns="0" rIns="0" bIns="0" rtlCol="0" anchor="t">
            <a:spAutoFit/>
          </a:bodyPr>
          <a:lstStyle/>
          <a:p>
            <a:pPr algn="ctr">
              <a:lnSpc>
                <a:spcPts val="12880"/>
              </a:lnSpc>
            </a:pPr>
            <a:r>
              <a:rPr lang="en-US" sz="9200" b="1" dirty="0">
                <a:solidFill>
                  <a:srgbClr val="E65D58"/>
                </a:solidFill>
                <a:latin typeface="Akzidenz-Grotesk Bold"/>
                <a:ea typeface="Akzidenz-Grotesk Bold"/>
                <a:cs typeface="Akzidenz-Grotesk Bold"/>
                <a:sym typeface="Akzidenz-Grotesk Bold"/>
              </a:rPr>
              <a:t>CONS</a:t>
            </a: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334F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1438753" y="1665808"/>
            <a:ext cx="14885758" cy="11164319"/>
          </a:xfrm>
          <a:custGeom>
            <a:avLst/>
            <a:gdLst/>
            <a:ahLst/>
            <a:cxnLst/>
            <a:rect l="l" t="t" r="r" b="b"/>
            <a:pathLst>
              <a:path w="14885758" h="11164319">
                <a:moveTo>
                  <a:pt x="0" y="0"/>
                </a:moveTo>
                <a:lnTo>
                  <a:pt x="14885758" y="0"/>
                </a:lnTo>
                <a:lnTo>
                  <a:pt x="14885758" y="11164319"/>
                </a:lnTo>
                <a:lnTo>
                  <a:pt x="0" y="11164319"/>
                </a:lnTo>
                <a:lnTo>
                  <a:pt x="0" y="0"/>
                </a:lnTo>
                <a:close/>
              </a:path>
            </a:pathLst>
          </a:custGeom>
          <a:blipFill>
            <a:blip r:embed="rId2"/>
            <a:stretch>
              <a:fillRect l="-3892" r="-3218" b="-8361"/>
            </a:stretch>
          </a:blipFill>
        </p:spPr>
        <p:txBody>
          <a:bodyPr/>
          <a:lstStyle/>
          <a:p>
            <a:endParaRPr lang="en-US"/>
          </a:p>
        </p:txBody>
      </p:sp>
      <p:sp>
        <p:nvSpPr>
          <p:cNvPr id="3" name="Freeform 3"/>
          <p:cNvSpPr/>
          <p:nvPr/>
        </p:nvSpPr>
        <p:spPr>
          <a:xfrm>
            <a:off x="1613854" y="2625061"/>
            <a:ext cx="13492500" cy="6633239"/>
          </a:xfrm>
          <a:custGeom>
            <a:avLst/>
            <a:gdLst/>
            <a:ahLst/>
            <a:cxnLst/>
            <a:rect l="l" t="t" r="r" b="b"/>
            <a:pathLst>
              <a:path w="13492500" h="6633239">
                <a:moveTo>
                  <a:pt x="0" y="0"/>
                </a:moveTo>
                <a:lnTo>
                  <a:pt x="13492500" y="0"/>
                </a:lnTo>
                <a:lnTo>
                  <a:pt x="13492500" y="6633239"/>
                </a:lnTo>
                <a:lnTo>
                  <a:pt x="0" y="6633239"/>
                </a:lnTo>
                <a:lnTo>
                  <a:pt x="0" y="0"/>
                </a:lnTo>
                <a:close/>
              </a:path>
            </a:pathLst>
          </a:custGeom>
          <a:blipFill>
            <a:blip r:embed="rId3"/>
            <a:stretch>
              <a:fillRect t="-15933" b="-10178"/>
            </a:stretch>
          </a:blipFill>
        </p:spPr>
        <p:txBody>
          <a:bodyPr/>
          <a:lstStyle/>
          <a:p>
            <a:endParaRPr lang="en-US"/>
          </a:p>
        </p:txBody>
      </p:sp>
      <p:sp>
        <p:nvSpPr>
          <p:cNvPr id="4" name="TextBox 4"/>
          <p:cNvSpPr txBox="1"/>
          <p:nvPr/>
        </p:nvSpPr>
        <p:spPr>
          <a:xfrm>
            <a:off x="7451585" y="617741"/>
            <a:ext cx="3508979" cy="1547411"/>
          </a:xfrm>
          <a:prstGeom prst="rect">
            <a:avLst/>
          </a:prstGeom>
        </p:spPr>
        <p:txBody>
          <a:bodyPr wrap="square" lIns="0" tIns="0" rIns="0" bIns="0" rtlCol="0" anchor="t">
            <a:spAutoFit/>
          </a:bodyPr>
          <a:lstStyle/>
          <a:p>
            <a:pPr algn="ctr">
              <a:lnSpc>
                <a:spcPts val="12880"/>
              </a:lnSpc>
            </a:pPr>
            <a:r>
              <a:rPr lang="en-US" sz="9200" b="1" dirty="0">
                <a:solidFill>
                  <a:srgbClr val="68CA83"/>
                </a:solidFill>
                <a:latin typeface="Akzidenz-Grotesk Bold"/>
                <a:ea typeface="Akzidenz-Grotesk Bold"/>
                <a:cs typeface="Akzidenz-Grotesk Bold"/>
                <a:sym typeface="Akzidenz-Grotesk Bold"/>
              </a:rPr>
              <a:t>PROS</a:t>
            </a:r>
          </a:p>
        </p:txBody>
      </p:sp>
      <p:sp>
        <p:nvSpPr>
          <p:cNvPr id="5" name="TextBox 5"/>
          <p:cNvSpPr txBox="1"/>
          <p:nvPr/>
        </p:nvSpPr>
        <p:spPr>
          <a:xfrm>
            <a:off x="7375386" y="617740"/>
            <a:ext cx="8626614" cy="1547411"/>
          </a:xfrm>
          <a:prstGeom prst="rect">
            <a:avLst/>
          </a:prstGeom>
        </p:spPr>
        <p:txBody>
          <a:bodyPr wrap="square" lIns="0" tIns="0" rIns="0" bIns="0" rtlCol="0" anchor="t">
            <a:spAutoFit/>
          </a:bodyPr>
          <a:lstStyle/>
          <a:p>
            <a:pPr algn="ctr">
              <a:lnSpc>
                <a:spcPts val="12880"/>
              </a:lnSpc>
            </a:pPr>
            <a:r>
              <a:rPr lang="en-US" sz="9200" b="1" dirty="0">
                <a:solidFill>
                  <a:srgbClr val="68CA83">
                    <a:alpha val="0"/>
                  </a:srgbClr>
                </a:solidFill>
                <a:latin typeface="Akzidenz-Grotesk Bold"/>
                <a:ea typeface="Akzidenz-Grotesk Bold"/>
                <a:cs typeface="Akzidenz-Grotesk Bold"/>
                <a:sym typeface="Akzidenz-Grotesk Bold"/>
              </a:rPr>
              <a:t>PROS </a:t>
            </a:r>
            <a:r>
              <a:rPr lang="en-US" sz="9200" b="1" dirty="0">
                <a:solidFill>
                  <a:srgbClr val="FFFFFF">
                    <a:alpha val="0"/>
                  </a:srgbClr>
                </a:solidFill>
                <a:latin typeface="Akzidenz-Grotesk Bold"/>
                <a:ea typeface="Akzidenz-Grotesk Bold"/>
                <a:cs typeface="Akzidenz-Grotesk Bold"/>
                <a:sym typeface="Akzidenz-Grotesk Bold"/>
              </a:rPr>
              <a:t>&amp; </a:t>
            </a:r>
            <a:r>
              <a:rPr lang="en-US" sz="9200" b="1" dirty="0">
                <a:solidFill>
                  <a:srgbClr val="E65D58">
                    <a:alpha val="0"/>
                  </a:srgbClr>
                </a:solidFill>
                <a:latin typeface="Akzidenz-Grotesk Bold"/>
                <a:ea typeface="Akzidenz-Grotesk Bold"/>
                <a:cs typeface="Akzidenz-Grotesk Bold"/>
                <a:sym typeface="Akzidenz-Grotesk Bold"/>
              </a:rPr>
              <a:t>CONS</a:t>
            </a:r>
          </a:p>
        </p:txBody>
      </p:sp>
      <p:sp>
        <p:nvSpPr>
          <p:cNvPr id="6" name="TextBox 5">
            <a:extLst>
              <a:ext uri="{FF2B5EF4-FFF2-40B4-BE49-F238E27FC236}">
                <a16:creationId xmlns:a16="http://schemas.microsoft.com/office/drawing/2014/main" id="{979A4F5A-8206-AF79-DBD3-26CFB62CEC8F}"/>
              </a:ext>
            </a:extLst>
          </p:cNvPr>
          <p:cNvSpPr txBox="1"/>
          <p:nvPr/>
        </p:nvSpPr>
        <p:spPr>
          <a:xfrm>
            <a:off x="12294334" y="617739"/>
            <a:ext cx="3631466" cy="1547411"/>
          </a:xfrm>
          <a:prstGeom prst="rect">
            <a:avLst/>
          </a:prstGeom>
        </p:spPr>
        <p:txBody>
          <a:bodyPr wrap="square" lIns="0" tIns="0" rIns="0" bIns="0" rtlCol="0" anchor="t">
            <a:spAutoFit/>
          </a:bodyPr>
          <a:lstStyle/>
          <a:p>
            <a:pPr algn="ctr">
              <a:lnSpc>
                <a:spcPts val="12880"/>
              </a:lnSpc>
            </a:pPr>
            <a:r>
              <a:rPr lang="en-US" sz="9200" b="1" dirty="0">
                <a:solidFill>
                  <a:srgbClr val="E65D58">
                    <a:alpha val="0"/>
                  </a:srgbClr>
                </a:solidFill>
                <a:latin typeface="Akzidenz-Grotesk Bold"/>
                <a:ea typeface="Akzidenz-Grotesk Bold"/>
                <a:cs typeface="Akzidenz-Grotesk Bold"/>
                <a:sym typeface="Akzidenz-Grotesk Bold"/>
              </a:rPr>
              <a:t>CONS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334F5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1438753" y="1665808"/>
            <a:ext cx="14885758" cy="11164319"/>
          </a:xfrm>
          <a:custGeom>
            <a:avLst/>
            <a:gdLst/>
            <a:ahLst/>
            <a:cxnLst/>
            <a:rect l="l" t="t" r="r" b="b"/>
            <a:pathLst>
              <a:path w="14885758" h="11164319">
                <a:moveTo>
                  <a:pt x="0" y="0"/>
                </a:moveTo>
                <a:lnTo>
                  <a:pt x="14885758" y="0"/>
                </a:lnTo>
                <a:lnTo>
                  <a:pt x="14885758" y="11164319"/>
                </a:lnTo>
                <a:lnTo>
                  <a:pt x="0" y="11164319"/>
                </a:lnTo>
                <a:lnTo>
                  <a:pt x="0" y="0"/>
                </a:lnTo>
                <a:close/>
              </a:path>
            </a:pathLst>
          </a:custGeom>
          <a:blipFill>
            <a:blip r:embed="rId2"/>
            <a:stretch>
              <a:fillRect l="-3892" r="-3218" b="-8361"/>
            </a:stretch>
          </a:blipFill>
        </p:spPr>
        <p:txBody>
          <a:bodyPr/>
          <a:lstStyle/>
          <a:p>
            <a:endParaRPr lang="en-US"/>
          </a:p>
        </p:txBody>
      </p:sp>
      <p:sp>
        <p:nvSpPr>
          <p:cNvPr id="3" name="Freeform 3"/>
          <p:cNvSpPr/>
          <p:nvPr/>
        </p:nvSpPr>
        <p:spPr>
          <a:xfrm>
            <a:off x="1613535" y="2625090"/>
            <a:ext cx="13455743" cy="6622123"/>
          </a:xfrm>
          <a:custGeom>
            <a:avLst/>
            <a:gdLst/>
            <a:ahLst/>
            <a:cxnLst/>
            <a:rect l="l" t="t" r="r" b="b"/>
            <a:pathLst>
              <a:path w="13455743" h="6622123">
                <a:moveTo>
                  <a:pt x="0" y="0"/>
                </a:moveTo>
                <a:lnTo>
                  <a:pt x="13455743" y="0"/>
                </a:lnTo>
                <a:lnTo>
                  <a:pt x="13455743" y="6622123"/>
                </a:lnTo>
                <a:lnTo>
                  <a:pt x="0" y="6622123"/>
                </a:lnTo>
                <a:lnTo>
                  <a:pt x="0" y="0"/>
                </a:lnTo>
                <a:close/>
              </a:path>
            </a:pathLst>
          </a:custGeom>
          <a:blipFill>
            <a:blip r:embed="rId3"/>
            <a:stretch>
              <a:fillRect l="-4302" t="-24503" r="-1475" b="-31056"/>
            </a:stretch>
          </a:blipFill>
        </p:spPr>
        <p:txBody>
          <a:bodyPr/>
          <a:lstStyle/>
          <a:p>
            <a:endParaRPr lang="en-US"/>
          </a:p>
        </p:txBody>
      </p:sp>
      <p:sp>
        <p:nvSpPr>
          <p:cNvPr id="10" name="TextBox 4">
            <a:extLst>
              <a:ext uri="{FF2B5EF4-FFF2-40B4-BE49-F238E27FC236}">
                <a16:creationId xmlns:a16="http://schemas.microsoft.com/office/drawing/2014/main" id="{C3160131-A49A-C07A-7DC1-D362105F3461}"/>
              </a:ext>
            </a:extLst>
          </p:cNvPr>
          <p:cNvSpPr txBox="1"/>
          <p:nvPr/>
        </p:nvSpPr>
        <p:spPr>
          <a:xfrm>
            <a:off x="7451585" y="617741"/>
            <a:ext cx="3508979" cy="1547411"/>
          </a:xfrm>
          <a:prstGeom prst="rect">
            <a:avLst/>
          </a:prstGeom>
        </p:spPr>
        <p:txBody>
          <a:bodyPr wrap="square" lIns="0" tIns="0" rIns="0" bIns="0" rtlCol="0" anchor="t">
            <a:spAutoFit/>
          </a:bodyPr>
          <a:lstStyle/>
          <a:p>
            <a:pPr algn="ctr">
              <a:lnSpc>
                <a:spcPts val="12880"/>
              </a:lnSpc>
            </a:pPr>
            <a:r>
              <a:rPr lang="en-US" sz="9200" b="1" dirty="0">
                <a:solidFill>
                  <a:srgbClr val="68CA83"/>
                </a:solidFill>
                <a:latin typeface="Akzidenz-Grotesk Bold"/>
                <a:ea typeface="Akzidenz-Grotesk Bold"/>
                <a:cs typeface="Akzidenz-Grotesk Bold"/>
                <a:sym typeface="Akzidenz-Grotesk Bold"/>
              </a:rPr>
              <a:t>PROS</a:t>
            </a:r>
          </a:p>
        </p:txBody>
      </p:sp>
      <p:sp>
        <p:nvSpPr>
          <p:cNvPr id="11" name="TextBox 5">
            <a:extLst>
              <a:ext uri="{FF2B5EF4-FFF2-40B4-BE49-F238E27FC236}">
                <a16:creationId xmlns:a16="http://schemas.microsoft.com/office/drawing/2014/main" id="{0F034196-EA10-804E-3136-DB8B5A5BEA87}"/>
              </a:ext>
            </a:extLst>
          </p:cNvPr>
          <p:cNvSpPr txBox="1"/>
          <p:nvPr/>
        </p:nvSpPr>
        <p:spPr>
          <a:xfrm>
            <a:off x="7375386" y="617740"/>
            <a:ext cx="8626614" cy="1547411"/>
          </a:xfrm>
          <a:prstGeom prst="rect">
            <a:avLst/>
          </a:prstGeom>
        </p:spPr>
        <p:txBody>
          <a:bodyPr wrap="square" lIns="0" tIns="0" rIns="0" bIns="0" rtlCol="0" anchor="t">
            <a:spAutoFit/>
          </a:bodyPr>
          <a:lstStyle/>
          <a:p>
            <a:pPr algn="ctr">
              <a:lnSpc>
                <a:spcPts val="12880"/>
              </a:lnSpc>
            </a:pPr>
            <a:r>
              <a:rPr lang="en-US" sz="9200" b="1" dirty="0">
                <a:solidFill>
                  <a:srgbClr val="68CA83">
                    <a:alpha val="0"/>
                  </a:srgbClr>
                </a:solidFill>
                <a:latin typeface="Akzidenz-Grotesk Bold"/>
                <a:ea typeface="Akzidenz-Grotesk Bold"/>
                <a:cs typeface="Akzidenz-Grotesk Bold"/>
                <a:sym typeface="Akzidenz-Grotesk Bold"/>
              </a:rPr>
              <a:t>PROS </a:t>
            </a:r>
            <a:r>
              <a:rPr lang="en-US" sz="9200" b="1" dirty="0">
                <a:solidFill>
                  <a:srgbClr val="FFFFFF">
                    <a:alpha val="0"/>
                  </a:srgbClr>
                </a:solidFill>
                <a:latin typeface="Akzidenz-Grotesk Bold"/>
                <a:ea typeface="Akzidenz-Grotesk Bold"/>
                <a:cs typeface="Akzidenz-Grotesk Bold"/>
                <a:sym typeface="Akzidenz-Grotesk Bold"/>
              </a:rPr>
              <a:t>&amp; </a:t>
            </a:r>
            <a:r>
              <a:rPr lang="en-US" sz="9200" b="1" dirty="0">
                <a:solidFill>
                  <a:srgbClr val="E65D58">
                    <a:alpha val="0"/>
                  </a:srgbClr>
                </a:solidFill>
                <a:latin typeface="Akzidenz-Grotesk Bold"/>
                <a:ea typeface="Akzidenz-Grotesk Bold"/>
                <a:cs typeface="Akzidenz-Grotesk Bold"/>
                <a:sym typeface="Akzidenz-Grotesk Bold"/>
              </a:rPr>
              <a:t>CONS</a:t>
            </a:r>
          </a:p>
        </p:txBody>
      </p:sp>
      <p:sp>
        <p:nvSpPr>
          <p:cNvPr id="12" name="TextBox 11">
            <a:extLst>
              <a:ext uri="{FF2B5EF4-FFF2-40B4-BE49-F238E27FC236}">
                <a16:creationId xmlns:a16="http://schemas.microsoft.com/office/drawing/2014/main" id="{0D1E47DE-ECDC-F8BC-5B42-EC60AD35294D}"/>
              </a:ext>
            </a:extLst>
          </p:cNvPr>
          <p:cNvSpPr txBox="1"/>
          <p:nvPr/>
        </p:nvSpPr>
        <p:spPr>
          <a:xfrm>
            <a:off x="12294334" y="617739"/>
            <a:ext cx="3631466" cy="1547411"/>
          </a:xfrm>
          <a:prstGeom prst="rect">
            <a:avLst/>
          </a:prstGeom>
        </p:spPr>
        <p:txBody>
          <a:bodyPr wrap="square" lIns="0" tIns="0" rIns="0" bIns="0" rtlCol="0" anchor="t">
            <a:spAutoFit/>
          </a:bodyPr>
          <a:lstStyle/>
          <a:p>
            <a:pPr algn="ctr">
              <a:lnSpc>
                <a:spcPts val="12880"/>
              </a:lnSpc>
            </a:pPr>
            <a:r>
              <a:rPr lang="en-US" sz="9200" b="1" dirty="0">
                <a:solidFill>
                  <a:srgbClr val="E65D58">
                    <a:alpha val="0"/>
                  </a:srgbClr>
                </a:solidFill>
                <a:latin typeface="Akzidenz-Grotesk Bold"/>
                <a:ea typeface="Akzidenz-Grotesk Bold"/>
                <a:cs typeface="Akzidenz-Grotesk Bold"/>
                <a:sym typeface="Akzidenz-Grotesk Bold"/>
              </a:rPr>
              <a:t>CONS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532020">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243700" y="2363355"/>
            <a:ext cx="10564860" cy="7923645"/>
          </a:xfrm>
          <a:custGeom>
            <a:avLst/>
            <a:gdLst/>
            <a:ahLst/>
            <a:cxnLst/>
            <a:rect l="l" t="t" r="r" b="b"/>
            <a:pathLst>
              <a:path w="10564860" h="7923645">
                <a:moveTo>
                  <a:pt x="0" y="0"/>
                </a:moveTo>
                <a:lnTo>
                  <a:pt x="10564860" y="0"/>
                </a:lnTo>
                <a:lnTo>
                  <a:pt x="10564860" y="7923645"/>
                </a:lnTo>
                <a:lnTo>
                  <a:pt x="0" y="7923645"/>
                </a:lnTo>
                <a:lnTo>
                  <a:pt x="0" y="0"/>
                </a:lnTo>
                <a:close/>
              </a:path>
            </a:pathLst>
          </a:custGeom>
          <a:blipFill>
            <a:blip r:embed="rId2"/>
            <a:stretch>
              <a:fillRect l="-3892" r="-3218" b="-8361"/>
            </a:stretch>
          </a:blipFill>
        </p:spPr>
        <p:txBody>
          <a:bodyPr/>
          <a:lstStyle/>
          <a:p>
            <a:endParaRPr lang="en-US"/>
          </a:p>
        </p:txBody>
      </p:sp>
      <p:sp>
        <p:nvSpPr>
          <p:cNvPr id="6" name="TextBox 3">
            <a:extLst>
              <a:ext uri="{FF2B5EF4-FFF2-40B4-BE49-F238E27FC236}">
                <a16:creationId xmlns:a16="http://schemas.microsoft.com/office/drawing/2014/main" id="{3E8232A4-8F29-4E7B-0A1F-BF3B3CEFE6DF}"/>
              </a:ext>
            </a:extLst>
          </p:cNvPr>
          <p:cNvSpPr txBox="1"/>
          <p:nvPr/>
        </p:nvSpPr>
        <p:spPr>
          <a:xfrm>
            <a:off x="5312745" y="1315288"/>
            <a:ext cx="8426769" cy="1547411"/>
          </a:xfrm>
          <a:prstGeom prst="rect">
            <a:avLst/>
          </a:prstGeom>
        </p:spPr>
        <p:txBody>
          <a:bodyPr wrap="square" lIns="0" tIns="0" rIns="0" bIns="0" rtlCol="0" anchor="t">
            <a:spAutoFit/>
          </a:bodyPr>
          <a:lstStyle/>
          <a:p>
            <a:pPr algn="ctr">
              <a:lnSpc>
                <a:spcPts val="12880"/>
              </a:lnSpc>
            </a:pPr>
            <a:r>
              <a:rPr lang="en-US" sz="9200" b="1" dirty="0">
                <a:solidFill>
                  <a:srgbClr val="68CA83"/>
                </a:solidFill>
                <a:latin typeface="Akzidenz-Grotesk Bold"/>
                <a:ea typeface="Akzidenz-Grotesk Bold"/>
                <a:cs typeface="Akzidenz-Grotesk Bold"/>
                <a:sym typeface="Akzidenz-Grotesk Bold"/>
              </a:rPr>
              <a:t>PROS </a:t>
            </a:r>
            <a:r>
              <a:rPr lang="en-US" sz="9200" b="1" dirty="0">
                <a:solidFill>
                  <a:srgbClr val="FFFFFF"/>
                </a:solidFill>
                <a:latin typeface="Akzidenz-Grotesk Bold"/>
                <a:ea typeface="Akzidenz-Grotesk Bold"/>
                <a:cs typeface="Akzidenz-Grotesk Bold"/>
                <a:sym typeface="Akzidenz-Grotesk Bold"/>
              </a:rPr>
              <a:t>&amp; </a:t>
            </a:r>
            <a:r>
              <a:rPr lang="en-US" sz="9200" b="1" dirty="0">
                <a:solidFill>
                  <a:srgbClr val="E65D58"/>
                </a:solidFill>
                <a:latin typeface="Akzidenz-Grotesk Bold"/>
                <a:ea typeface="Akzidenz-Grotesk Bold"/>
                <a:cs typeface="Akzidenz-Grotesk Bold"/>
                <a:sym typeface="Akzidenz-Grotesk Bold"/>
              </a:rPr>
              <a:t>CONS</a:t>
            </a:r>
          </a:p>
        </p:txBody>
      </p:sp>
      <p:sp>
        <p:nvSpPr>
          <p:cNvPr id="7" name="TextBox 4">
            <a:extLst>
              <a:ext uri="{FF2B5EF4-FFF2-40B4-BE49-F238E27FC236}">
                <a16:creationId xmlns:a16="http://schemas.microsoft.com/office/drawing/2014/main" id="{F6805005-B5A2-1211-B69D-9CA05E6F094D}"/>
              </a:ext>
            </a:extLst>
          </p:cNvPr>
          <p:cNvSpPr txBox="1"/>
          <p:nvPr/>
        </p:nvSpPr>
        <p:spPr>
          <a:xfrm>
            <a:off x="5365431" y="1315288"/>
            <a:ext cx="3384828" cy="1753234"/>
          </a:xfrm>
          <a:prstGeom prst="rect">
            <a:avLst/>
          </a:prstGeom>
        </p:spPr>
        <p:txBody>
          <a:bodyPr lIns="0" tIns="0" rIns="0" bIns="0" rtlCol="0" anchor="t">
            <a:spAutoFit/>
          </a:bodyPr>
          <a:lstStyle/>
          <a:p>
            <a:pPr algn="ctr">
              <a:lnSpc>
                <a:spcPts val="12880"/>
              </a:lnSpc>
            </a:pPr>
            <a:r>
              <a:rPr lang="en-US" sz="9200" b="1" dirty="0">
                <a:solidFill>
                  <a:srgbClr val="68CA83"/>
                </a:solidFill>
                <a:latin typeface="Akzidenz-Grotesk Bold"/>
                <a:ea typeface="Akzidenz-Grotesk Bold"/>
                <a:cs typeface="Akzidenz-Grotesk Bold"/>
                <a:sym typeface="Akzidenz-Grotesk Bold"/>
              </a:rPr>
              <a:t>PROS</a:t>
            </a:r>
          </a:p>
        </p:txBody>
      </p:sp>
      <p:sp>
        <p:nvSpPr>
          <p:cNvPr id="8" name="TextBox 5">
            <a:extLst>
              <a:ext uri="{FF2B5EF4-FFF2-40B4-BE49-F238E27FC236}">
                <a16:creationId xmlns:a16="http://schemas.microsoft.com/office/drawing/2014/main" id="{215F140C-D99B-2D86-05DD-4F28F6973FF4}"/>
              </a:ext>
            </a:extLst>
          </p:cNvPr>
          <p:cNvSpPr txBox="1"/>
          <p:nvPr/>
        </p:nvSpPr>
        <p:spPr>
          <a:xfrm>
            <a:off x="10160734" y="1315287"/>
            <a:ext cx="3631466" cy="1547411"/>
          </a:xfrm>
          <a:prstGeom prst="rect">
            <a:avLst/>
          </a:prstGeom>
        </p:spPr>
        <p:txBody>
          <a:bodyPr wrap="square" lIns="0" tIns="0" rIns="0" bIns="0" rtlCol="0" anchor="t">
            <a:spAutoFit/>
          </a:bodyPr>
          <a:lstStyle/>
          <a:p>
            <a:pPr algn="ctr">
              <a:lnSpc>
                <a:spcPts val="12880"/>
              </a:lnSpc>
            </a:pPr>
            <a:r>
              <a:rPr lang="en-US" sz="9200" b="1" dirty="0">
                <a:solidFill>
                  <a:srgbClr val="E65D58"/>
                </a:solidFill>
                <a:latin typeface="Akzidenz-Grotesk Bold"/>
                <a:ea typeface="Akzidenz-Grotesk Bold"/>
                <a:cs typeface="Akzidenz-Grotesk Bold"/>
                <a:sym typeface="Akzidenz-Grotesk Bold"/>
              </a:rPr>
              <a:t>CONS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1D40">
                <a:alpha val="100000"/>
              </a:srgbClr>
            </a:gs>
            <a:gs pos="100000">
              <a:srgbClr val="532020">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7608574" y="2370975"/>
            <a:ext cx="14846266" cy="11134700"/>
          </a:xfrm>
          <a:custGeom>
            <a:avLst/>
            <a:gdLst/>
            <a:ahLst/>
            <a:cxnLst/>
            <a:rect l="l" t="t" r="r" b="b"/>
            <a:pathLst>
              <a:path w="14846266" h="11134700">
                <a:moveTo>
                  <a:pt x="0" y="0"/>
                </a:moveTo>
                <a:lnTo>
                  <a:pt x="14846266" y="0"/>
                </a:lnTo>
                <a:lnTo>
                  <a:pt x="14846266" y="11134700"/>
                </a:lnTo>
                <a:lnTo>
                  <a:pt x="0" y="11134700"/>
                </a:lnTo>
                <a:lnTo>
                  <a:pt x="0" y="0"/>
                </a:lnTo>
                <a:close/>
              </a:path>
            </a:pathLst>
          </a:custGeom>
          <a:blipFill>
            <a:blip r:embed="rId2"/>
            <a:stretch>
              <a:fillRect l="-3892" r="-3218" b="-8361"/>
            </a:stretch>
          </a:blipFill>
        </p:spPr>
        <p:txBody>
          <a:bodyPr/>
          <a:lstStyle/>
          <a:p>
            <a:endParaRPr lang="en-US"/>
          </a:p>
        </p:txBody>
      </p:sp>
      <p:sp>
        <p:nvSpPr>
          <p:cNvPr id="3" name="Freeform 3"/>
          <p:cNvSpPr/>
          <p:nvPr/>
        </p:nvSpPr>
        <p:spPr>
          <a:xfrm>
            <a:off x="3919135" y="1491655"/>
            <a:ext cx="10449730" cy="8795345"/>
          </a:xfrm>
          <a:custGeom>
            <a:avLst/>
            <a:gdLst/>
            <a:ahLst/>
            <a:cxnLst/>
            <a:rect l="l" t="t" r="r" b="b"/>
            <a:pathLst>
              <a:path w="10449730" h="8795345">
                <a:moveTo>
                  <a:pt x="0" y="0"/>
                </a:moveTo>
                <a:lnTo>
                  <a:pt x="10449730" y="0"/>
                </a:lnTo>
                <a:lnTo>
                  <a:pt x="10449730" y="8795345"/>
                </a:lnTo>
                <a:lnTo>
                  <a:pt x="0" y="8795345"/>
                </a:lnTo>
                <a:lnTo>
                  <a:pt x="0" y="0"/>
                </a:lnTo>
                <a:close/>
              </a:path>
            </a:pathLst>
          </a:custGeom>
          <a:blipFill>
            <a:blip r:embed="rId3"/>
            <a:stretch>
              <a:fillRect t="-11731" b="-5444"/>
            </a:stretch>
          </a:blipFill>
        </p:spPr>
        <p:txBody>
          <a:bodyPr/>
          <a:lstStyle/>
          <a:p>
            <a:endParaRPr lang="en-US"/>
          </a:p>
        </p:txBody>
      </p:sp>
      <p:sp>
        <p:nvSpPr>
          <p:cNvPr id="4" name="TextBox 4"/>
          <p:cNvSpPr txBox="1"/>
          <p:nvPr/>
        </p:nvSpPr>
        <p:spPr>
          <a:xfrm>
            <a:off x="2547759" y="617741"/>
            <a:ext cx="8502551" cy="1547411"/>
          </a:xfrm>
          <a:prstGeom prst="rect">
            <a:avLst/>
          </a:prstGeom>
        </p:spPr>
        <p:txBody>
          <a:bodyPr wrap="square" lIns="0" tIns="0" rIns="0" bIns="0" rtlCol="0" anchor="t">
            <a:spAutoFit/>
          </a:bodyPr>
          <a:lstStyle/>
          <a:p>
            <a:pPr algn="ctr">
              <a:lnSpc>
                <a:spcPts val="12880"/>
              </a:lnSpc>
            </a:pPr>
            <a:r>
              <a:rPr lang="en-US" sz="9200" b="1" dirty="0">
                <a:solidFill>
                  <a:srgbClr val="68CA83">
                    <a:alpha val="0"/>
                  </a:srgbClr>
                </a:solidFill>
                <a:latin typeface="Akzidenz-Grotesk Bold"/>
                <a:ea typeface="Akzidenz-Grotesk Bold"/>
                <a:cs typeface="Akzidenz-Grotesk Bold"/>
                <a:sym typeface="Akzidenz-Grotesk Bold"/>
              </a:rPr>
              <a:t>PROS </a:t>
            </a:r>
            <a:r>
              <a:rPr lang="en-US" sz="9200" b="1" dirty="0">
                <a:solidFill>
                  <a:srgbClr val="FFFFFF">
                    <a:alpha val="0"/>
                  </a:srgbClr>
                </a:solidFill>
                <a:latin typeface="Akzidenz-Grotesk Bold"/>
                <a:ea typeface="Akzidenz-Grotesk Bold"/>
                <a:cs typeface="Akzidenz-Grotesk Bold"/>
                <a:sym typeface="Akzidenz-Grotesk Bold"/>
              </a:rPr>
              <a:t>&amp; </a:t>
            </a:r>
            <a:r>
              <a:rPr lang="en-US" sz="9200" b="1" dirty="0">
                <a:solidFill>
                  <a:srgbClr val="E65D58">
                    <a:alpha val="0"/>
                  </a:srgbClr>
                </a:solidFill>
                <a:latin typeface="Akzidenz-Grotesk Bold"/>
                <a:ea typeface="Akzidenz-Grotesk Bold"/>
                <a:cs typeface="Akzidenz-Grotesk Bold"/>
                <a:sym typeface="Akzidenz-Grotesk Bold"/>
              </a:rPr>
              <a:t>CONS</a:t>
            </a:r>
          </a:p>
        </p:txBody>
      </p:sp>
      <p:sp>
        <p:nvSpPr>
          <p:cNvPr id="5" name="TextBox 5"/>
          <p:cNvSpPr txBox="1"/>
          <p:nvPr/>
        </p:nvSpPr>
        <p:spPr>
          <a:xfrm>
            <a:off x="7418844" y="617741"/>
            <a:ext cx="3631466" cy="1547411"/>
          </a:xfrm>
          <a:prstGeom prst="rect">
            <a:avLst/>
          </a:prstGeom>
        </p:spPr>
        <p:txBody>
          <a:bodyPr wrap="square" lIns="0" tIns="0" rIns="0" bIns="0" rtlCol="0" anchor="t">
            <a:spAutoFit/>
          </a:bodyPr>
          <a:lstStyle/>
          <a:p>
            <a:pPr algn="ctr">
              <a:lnSpc>
                <a:spcPts val="12880"/>
              </a:lnSpc>
            </a:pPr>
            <a:r>
              <a:rPr lang="en-US" sz="9200" b="1" dirty="0">
                <a:solidFill>
                  <a:srgbClr val="E65D58"/>
                </a:solidFill>
                <a:latin typeface="Akzidenz-Grotesk Bold"/>
                <a:ea typeface="Akzidenz-Grotesk Bold"/>
                <a:cs typeface="Akzidenz-Grotesk Bold"/>
                <a:sym typeface="Akzidenz-Grotesk Bold"/>
              </a:rPr>
              <a:t>CONS</a:t>
            </a:r>
          </a:p>
        </p:txBody>
      </p:sp>
      <p:sp>
        <p:nvSpPr>
          <p:cNvPr id="6" name="TextBox 6"/>
          <p:cNvSpPr txBox="1"/>
          <p:nvPr/>
        </p:nvSpPr>
        <p:spPr>
          <a:xfrm>
            <a:off x="2634972" y="617741"/>
            <a:ext cx="3384828" cy="1547411"/>
          </a:xfrm>
          <a:prstGeom prst="rect">
            <a:avLst/>
          </a:prstGeom>
        </p:spPr>
        <p:txBody>
          <a:bodyPr lIns="0" tIns="0" rIns="0" bIns="0" rtlCol="0" anchor="t">
            <a:spAutoFit/>
          </a:bodyPr>
          <a:lstStyle/>
          <a:p>
            <a:pPr algn="ctr">
              <a:lnSpc>
                <a:spcPts val="12880"/>
              </a:lnSpc>
            </a:pPr>
            <a:r>
              <a:rPr lang="en-US" sz="9200" b="1" dirty="0">
                <a:solidFill>
                  <a:srgbClr val="68CA83">
                    <a:alpha val="0"/>
                  </a:srgbClr>
                </a:solidFill>
                <a:latin typeface="Akzidenz-Grotesk Bold"/>
                <a:ea typeface="Akzidenz-Grotesk Bold"/>
                <a:cs typeface="Akzidenz-Grotesk Bold"/>
                <a:sym typeface="Akzidenz-Grotesk Bold"/>
              </a:rPr>
              <a:t>PROS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sp>
        <p:nvSpPr>
          <p:cNvPr id="2" name="Freeform 2"/>
          <p:cNvSpPr/>
          <p:nvPr/>
        </p:nvSpPr>
        <p:spPr>
          <a:xfrm>
            <a:off x="7640554" y="1297534"/>
            <a:ext cx="11404113" cy="11487660"/>
          </a:xfrm>
          <a:custGeom>
            <a:avLst/>
            <a:gdLst/>
            <a:ahLst/>
            <a:cxnLst/>
            <a:rect l="l" t="t" r="r" b="b"/>
            <a:pathLst>
              <a:path w="11404113" h="11487660">
                <a:moveTo>
                  <a:pt x="0" y="0"/>
                </a:moveTo>
                <a:lnTo>
                  <a:pt x="11404113" y="0"/>
                </a:lnTo>
                <a:lnTo>
                  <a:pt x="11404113" y="11487660"/>
                </a:lnTo>
                <a:lnTo>
                  <a:pt x="0" y="11487660"/>
                </a:lnTo>
                <a:lnTo>
                  <a:pt x="0" y="0"/>
                </a:lnTo>
                <a:close/>
              </a:path>
            </a:pathLst>
          </a:custGeom>
          <a:blipFill>
            <a:blip r:embed="rId2">
              <a:alphaModFix amt="60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rot="1383774">
            <a:off x="7565571" y="197405"/>
            <a:ext cx="11226909" cy="14341591"/>
            <a:chOff x="0" y="0"/>
            <a:chExt cx="2956881" cy="3777209"/>
          </a:xfrm>
        </p:grpSpPr>
        <p:sp>
          <p:nvSpPr>
            <p:cNvPr id="4" name="Freeform 4"/>
            <p:cNvSpPr/>
            <p:nvPr/>
          </p:nvSpPr>
          <p:spPr>
            <a:xfrm>
              <a:off x="0" y="0"/>
              <a:ext cx="2956881" cy="3777209"/>
            </a:xfrm>
            <a:custGeom>
              <a:avLst/>
              <a:gdLst/>
              <a:ahLst/>
              <a:cxnLst/>
              <a:rect l="l" t="t" r="r" b="b"/>
              <a:pathLst>
                <a:path w="2956881" h="3777209">
                  <a:moveTo>
                    <a:pt x="0" y="0"/>
                  </a:moveTo>
                  <a:lnTo>
                    <a:pt x="2956881" y="0"/>
                  </a:lnTo>
                  <a:lnTo>
                    <a:pt x="2956881" y="3777209"/>
                  </a:lnTo>
                  <a:lnTo>
                    <a:pt x="0" y="3777209"/>
                  </a:lnTo>
                  <a:close/>
                </a:path>
              </a:pathLst>
            </a:custGeom>
            <a:gradFill rotWithShape="1">
              <a:gsLst>
                <a:gs pos="0">
                  <a:srgbClr val="141519">
                    <a:alpha val="100000"/>
                  </a:srgbClr>
                </a:gs>
                <a:gs pos="100000">
                  <a:srgbClr val="141519">
                    <a:alpha val="0"/>
                  </a:srgbClr>
                </a:gs>
              </a:gsLst>
              <a:lin ang="0"/>
            </a:gradFill>
          </p:spPr>
          <p:txBody>
            <a:bodyPr/>
            <a:lstStyle/>
            <a:p>
              <a:endParaRPr lang="en-US"/>
            </a:p>
          </p:txBody>
        </p:sp>
        <p:sp>
          <p:nvSpPr>
            <p:cNvPr id="5" name="TextBox 5"/>
            <p:cNvSpPr txBox="1"/>
            <p:nvPr/>
          </p:nvSpPr>
          <p:spPr>
            <a:xfrm>
              <a:off x="0" y="28575"/>
              <a:ext cx="2956881" cy="3748634"/>
            </a:xfrm>
            <a:prstGeom prst="rect">
              <a:avLst/>
            </a:prstGeom>
          </p:spPr>
          <p:txBody>
            <a:bodyPr lIns="50800" tIns="50800" rIns="50800" bIns="50800" rtlCol="0" anchor="ctr"/>
            <a:lstStyle/>
            <a:p>
              <a:pPr algn="ctr">
                <a:lnSpc>
                  <a:spcPts val="2267"/>
                </a:lnSpc>
              </a:pPr>
              <a:endParaRPr/>
            </a:p>
          </p:txBody>
        </p:sp>
      </p:grpSp>
      <p:grpSp>
        <p:nvGrpSpPr>
          <p:cNvPr id="6" name="Group 6"/>
          <p:cNvGrpSpPr/>
          <p:nvPr/>
        </p:nvGrpSpPr>
        <p:grpSpPr>
          <a:xfrm rot="1383774">
            <a:off x="7012072" y="108644"/>
            <a:ext cx="10773748" cy="14341591"/>
            <a:chOff x="0" y="0"/>
            <a:chExt cx="2837530" cy="3777209"/>
          </a:xfrm>
        </p:grpSpPr>
        <p:sp>
          <p:nvSpPr>
            <p:cNvPr id="7" name="Freeform 7"/>
            <p:cNvSpPr/>
            <p:nvPr/>
          </p:nvSpPr>
          <p:spPr>
            <a:xfrm>
              <a:off x="0" y="0"/>
              <a:ext cx="2837530" cy="3777209"/>
            </a:xfrm>
            <a:custGeom>
              <a:avLst/>
              <a:gdLst/>
              <a:ahLst/>
              <a:cxnLst/>
              <a:rect l="l" t="t" r="r" b="b"/>
              <a:pathLst>
                <a:path w="2837530" h="3777209">
                  <a:moveTo>
                    <a:pt x="0" y="0"/>
                  </a:moveTo>
                  <a:lnTo>
                    <a:pt x="2837530" y="0"/>
                  </a:lnTo>
                  <a:lnTo>
                    <a:pt x="2837530" y="3777209"/>
                  </a:lnTo>
                  <a:lnTo>
                    <a:pt x="0" y="3777209"/>
                  </a:lnTo>
                  <a:close/>
                </a:path>
              </a:pathLst>
            </a:custGeom>
            <a:gradFill rotWithShape="1">
              <a:gsLst>
                <a:gs pos="0">
                  <a:srgbClr val="141519">
                    <a:alpha val="100000"/>
                  </a:srgbClr>
                </a:gs>
                <a:gs pos="100000">
                  <a:srgbClr val="141519">
                    <a:alpha val="0"/>
                  </a:srgbClr>
                </a:gs>
              </a:gsLst>
              <a:lin ang="0"/>
            </a:gradFill>
          </p:spPr>
          <p:txBody>
            <a:bodyPr/>
            <a:lstStyle/>
            <a:p>
              <a:endParaRPr lang="en-US"/>
            </a:p>
          </p:txBody>
        </p:sp>
        <p:sp>
          <p:nvSpPr>
            <p:cNvPr id="8" name="TextBox 8"/>
            <p:cNvSpPr txBox="1"/>
            <p:nvPr/>
          </p:nvSpPr>
          <p:spPr>
            <a:xfrm>
              <a:off x="0" y="28575"/>
              <a:ext cx="2837530" cy="3748634"/>
            </a:xfrm>
            <a:prstGeom prst="rect">
              <a:avLst/>
            </a:prstGeom>
          </p:spPr>
          <p:txBody>
            <a:bodyPr lIns="50800" tIns="50800" rIns="50800" bIns="50800" rtlCol="0" anchor="ctr"/>
            <a:lstStyle/>
            <a:p>
              <a:pPr algn="ctr">
                <a:lnSpc>
                  <a:spcPts val="2267"/>
                </a:lnSpc>
              </a:pPr>
              <a:endParaRPr/>
            </a:p>
          </p:txBody>
        </p:sp>
      </p:grpSp>
      <p:sp>
        <p:nvSpPr>
          <p:cNvPr id="9" name="TextBox 9"/>
          <p:cNvSpPr txBox="1"/>
          <p:nvPr/>
        </p:nvSpPr>
        <p:spPr>
          <a:xfrm>
            <a:off x="2054482" y="3277263"/>
            <a:ext cx="8369885" cy="3097125"/>
          </a:xfrm>
          <a:prstGeom prst="rect">
            <a:avLst/>
          </a:prstGeom>
        </p:spPr>
        <p:txBody>
          <a:bodyPr lIns="0" tIns="0" rIns="0" bIns="0" rtlCol="0" anchor="t">
            <a:spAutoFit/>
          </a:bodyPr>
          <a:lstStyle/>
          <a:p>
            <a:pPr algn="l">
              <a:lnSpc>
                <a:spcPts val="10716"/>
              </a:lnSpc>
            </a:pPr>
            <a:r>
              <a:rPr lang="en-US" sz="12177" b="1" spc="-194">
                <a:solidFill>
                  <a:srgbClr val="FFFFFF"/>
                </a:solidFill>
                <a:latin typeface="Akzidenz-Grotesk Bold"/>
                <a:ea typeface="Akzidenz-Grotesk Bold"/>
                <a:cs typeface="Akzidenz-Grotesk Bold"/>
                <a:sym typeface="Akzidenz-Grotesk Bold"/>
              </a:rPr>
              <a:t>Real-world</a:t>
            </a:r>
          </a:p>
          <a:p>
            <a:pPr algn="l">
              <a:lnSpc>
                <a:spcPts val="10716"/>
              </a:lnSpc>
            </a:pPr>
            <a:r>
              <a:rPr lang="en-US" sz="12177" b="1" spc="-194">
                <a:solidFill>
                  <a:srgbClr val="FFFFFF"/>
                </a:solidFill>
                <a:latin typeface="Akzidenz-Grotesk Bold"/>
                <a:ea typeface="Akzidenz-Grotesk Bold"/>
                <a:cs typeface="Akzidenz-Grotesk Bold"/>
                <a:sym typeface="Akzidenz-Grotesk Bold"/>
              </a:rPr>
              <a:t>Application</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grpSp>
        <p:nvGrpSpPr>
          <p:cNvPr id="2" name="Group 2"/>
          <p:cNvGrpSpPr/>
          <p:nvPr/>
        </p:nvGrpSpPr>
        <p:grpSpPr>
          <a:xfrm rot="-4011154">
            <a:off x="13868322" y="-181707"/>
            <a:ext cx="17403374" cy="18180272"/>
            <a:chOff x="0" y="0"/>
            <a:chExt cx="4583605" cy="4788220"/>
          </a:xfrm>
        </p:grpSpPr>
        <p:sp>
          <p:nvSpPr>
            <p:cNvPr id="3" name="Freeform 3"/>
            <p:cNvSpPr/>
            <p:nvPr/>
          </p:nvSpPr>
          <p:spPr>
            <a:xfrm>
              <a:off x="0" y="0"/>
              <a:ext cx="4583605" cy="4788220"/>
            </a:xfrm>
            <a:custGeom>
              <a:avLst/>
              <a:gdLst/>
              <a:ahLst/>
              <a:cxnLst/>
              <a:rect l="l" t="t" r="r" b="b"/>
              <a:pathLst>
                <a:path w="4583605" h="4788220">
                  <a:moveTo>
                    <a:pt x="0" y="0"/>
                  </a:moveTo>
                  <a:lnTo>
                    <a:pt x="4583605" y="0"/>
                  </a:lnTo>
                  <a:lnTo>
                    <a:pt x="4583605" y="4788220"/>
                  </a:lnTo>
                  <a:lnTo>
                    <a:pt x="0" y="4788220"/>
                  </a:lnTo>
                  <a:close/>
                </a:path>
              </a:pathLst>
            </a:custGeom>
            <a:gradFill rotWithShape="1">
              <a:gsLst>
                <a:gs pos="0">
                  <a:srgbClr val="27DDDF">
                    <a:alpha val="0"/>
                  </a:srgbClr>
                </a:gs>
                <a:gs pos="100000">
                  <a:srgbClr val="27DDDF">
                    <a:alpha val="100000"/>
                  </a:srgbClr>
                </a:gs>
              </a:gsLst>
              <a:lin ang="5400000"/>
            </a:gradFill>
          </p:spPr>
          <p:txBody>
            <a:bodyPr/>
            <a:lstStyle/>
            <a:p>
              <a:endParaRPr lang="en-US"/>
            </a:p>
          </p:txBody>
        </p:sp>
        <p:sp>
          <p:nvSpPr>
            <p:cNvPr id="4" name="TextBox 4"/>
            <p:cNvSpPr txBox="1"/>
            <p:nvPr/>
          </p:nvSpPr>
          <p:spPr>
            <a:xfrm>
              <a:off x="0" y="19050"/>
              <a:ext cx="4583605" cy="4769170"/>
            </a:xfrm>
            <a:prstGeom prst="rect">
              <a:avLst/>
            </a:prstGeom>
          </p:spPr>
          <p:txBody>
            <a:bodyPr lIns="50800" tIns="50800" rIns="50800" bIns="50800" rtlCol="0" anchor="ctr"/>
            <a:lstStyle/>
            <a:p>
              <a:pPr algn="ctr">
                <a:lnSpc>
                  <a:spcPts val="1387"/>
                </a:lnSpc>
              </a:pPr>
              <a:endParaRPr/>
            </a:p>
          </p:txBody>
        </p:sp>
      </p:grpSp>
      <p:grpSp>
        <p:nvGrpSpPr>
          <p:cNvPr id="5" name="Group 5"/>
          <p:cNvGrpSpPr/>
          <p:nvPr/>
        </p:nvGrpSpPr>
        <p:grpSpPr>
          <a:xfrm>
            <a:off x="2054482" y="2262850"/>
            <a:ext cx="5784422" cy="6645580"/>
            <a:chOff x="0" y="0"/>
            <a:chExt cx="812800" cy="933806"/>
          </a:xfrm>
        </p:grpSpPr>
        <p:sp>
          <p:nvSpPr>
            <p:cNvPr id="6" name="Freeform 6"/>
            <p:cNvSpPr/>
            <p:nvPr/>
          </p:nvSpPr>
          <p:spPr>
            <a:xfrm>
              <a:off x="0" y="0"/>
              <a:ext cx="812800" cy="933806"/>
            </a:xfrm>
            <a:custGeom>
              <a:avLst/>
              <a:gdLst/>
              <a:ahLst/>
              <a:cxnLst/>
              <a:rect l="l" t="t" r="r" b="b"/>
              <a:pathLst>
                <a:path w="812800" h="933806">
                  <a:moveTo>
                    <a:pt x="65582" y="0"/>
                  </a:moveTo>
                  <a:lnTo>
                    <a:pt x="747218" y="0"/>
                  </a:lnTo>
                  <a:cubicBezTo>
                    <a:pt x="783438" y="0"/>
                    <a:pt x="812800" y="29362"/>
                    <a:pt x="812800" y="65582"/>
                  </a:cubicBezTo>
                  <a:lnTo>
                    <a:pt x="812800" y="868224"/>
                  </a:lnTo>
                  <a:cubicBezTo>
                    <a:pt x="812800" y="885617"/>
                    <a:pt x="805890" y="902298"/>
                    <a:pt x="793591" y="914597"/>
                  </a:cubicBezTo>
                  <a:cubicBezTo>
                    <a:pt x="781292" y="926896"/>
                    <a:pt x="764611" y="933806"/>
                    <a:pt x="747218" y="933806"/>
                  </a:cubicBezTo>
                  <a:lnTo>
                    <a:pt x="65582" y="933806"/>
                  </a:lnTo>
                  <a:cubicBezTo>
                    <a:pt x="29362" y="933806"/>
                    <a:pt x="0" y="904444"/>
                    <a:pt x="0" y="868224"/>
                  </a:cubicBezTo>
                  <a:lnTo>
                    <a:pt x="0" y="65582"/>
                  </a:lnTo>
                  <a:cubicBezTo>
                    <a:pt x="0" y="29362"/>
                    <a:pt x="29362" y="0"/>
                    <a:pt x="65582" y="0"/>
                  </a:cubicBezTo>
                  <a:close/>
                </a:path>
              </a:pathLst>
            </a:custGeom>
            <a:blipFill>
              <a:blip r:embed="rId2"/>
              <a:stretch>
                <a:fillRect l="-7443" r="-7443"/>
              </a:stretch>
            </a:blipFill>
          </p:spPr>
          <p:txBody>
            <a:bodyPr/>
            <a:lstStyle/>
            <a:p>
              <a:endParaRPr lang="en-US"/>
            </a:p>
          </p:txBody>
        </p:sp>
      </p:grpSp>
      <p:grpSp>
        <p:nvGrpSpPr>
          <p:cNvPr id="7" name="Group 7"/>
          <p:cNvGrpSpPr/>
          <p:nvPr/>
        </p:nvGrpSpPr>
        <p:grpSpPr>
          <a:xfrm>
            <a:off x="2054482" y="4949018"/>
            <a:ext cx="5784422" cy="3959411"/>
            <a:chOff x="0" y="0"/>
            <a:chExt cx="1523469" cy="1042808"/>
          </a:xfrm>
        </p:grpSpPr>
        <p:sp>
          <p:nvSpPr>
            <p:cNvPr id="8" name="Freeform 8"/>
            <p:cNvSpPr/>
            <p:nvPr/>
          </p:nvSpPr>
          <p:spPr>
            <a:xfrm>
              <a:off x="0" y="0"/>
              <a:ext cx="1523469" cy="1042808"/>
            </a:xfrm>
            <a:custGeom>
              <a:avLst/>
              <a:gdLst/>
              <a:ahLst/>
              <a:cxnLst/>
              <a:rect l="l" t="t" r="r" b="b"/>
              <a:pathLst>
                <a:path w="1523469" h="1042808">
                  <a:moveTo>
                    <a:pt x="68259" y="0"/>
                  </a:moveTo>
                  <a:lnTo>
                    <a:pt x="1455210" y="0"/>
                  </a:lnTo>
                  <a:cubicBezTo>
                    <a:pt x="1473314" y="0"/>
                    <a:pt x="1490675" y="7192"/>
                    <a:pt x="1503476" y="19993"/>
                  </a:cubicBezTo>
                  <a:cubicBezTo>
                    <a:pt x="1516278" y="32794"/>
                    <a:pt x="1523469" y="50155"/>
                    <a:pt x="1523469" y="68259"/>
                  </a:cubicBezTo>
                  <a:lnTo>
                    <a:pt x="1523469" y="974549"/>
                  </a:lnTo>
                  <a:cubicBezTo>
                    <a:pt x="1523469" y="1012247"/>
                    <a:pt x="1492908" y="1042808"/>
                    <a:pt x="1455210" y="1042808"/>
                  </a:cubicBezTo>
                  <a:lnTo>
                    <a:pt x="68259" y="1042808"/>
                  </a:lnTo>
                  <a:cubicBezTo>
                    <a:pt x="50155" y="1042808"/>
                    <a:pt x="32794" y="1035616"/>
                    <a:pt x="19993" y="1022815"/>
                  </a:cubicBezTo>
                  <a:cubicBezTo>
                    <a:pt x="7192" y="1010014"/>
                    <a:pt x="0" y="992652"/>
                    <a:pt x="0" y="974549"/>
                  </a:cubicBezTo>
                  <a:lnTo>
                    <a:pt x="0" y="68259"/>
                  </a:lnTo>
                  <a:cubicBezTo>
                    <a:pt x="0" y="30561"/>
                    <a:pt x="30561" y="0"/>
                    <a:pt x="68259" y="0"/>
                  </a:cubicBezTo>
                  <a:close/>
                </a:path>
              </a:pathLst>
            </a:custGeom>
            <a:gradFill rotWithShape="1">
              <a:gsLst>
                <a:gs pos="0">
                  <a:srgbClr val="141519">
                    <a:alpha val="0"/>
                  </a:srgbClr>
                </a:gs>
                <a:gs pos="100000">
                  <a:srgbClr val="141519">
                    <a:alpha val="57000"/>
                  </a:srgbClr>
                </a:gs>
              </a:gsLst>
              <a:lin ang="5400000"/>
            </a:gradFill>
          </p:spPr>
          <p:txBody>
            <a:bodyPr/>
            <a:lstStyle/>
            <a:p>
              <a:endParaRPr lang="en-US"/>
            </a:p>
          </p:txBody>
        </p:sp>
        <p:sp>
          <p:nvSpPr>
            <p:cNvPr id="9" name="TextBox 9"/>
            <p:cNvSpPr txBox="1"/>
            <p:nvPr/>
          </p:nvSpPr>
          <p:spPr>
            <a:xfrm>
              <a:off x="0" y="19050"/>
              <a:ext cx="1523469" cy="1023758"/>
            </a:xfrm>
            <a:prstGeom prst="rect">
              <a:avLst/>
            </a:prstGeom>
          </p:spPr>
          <p:txBody>
            <a:bodyPr lIns="50800" tIns="50800" rIns="50800" bIns="50800" rtlCol="0" anchor="ctr"/>
            <a:lstStyle/>
            <a:p>
              <a:pPr algn="ctr">
                <a:lnSpc>
                  <a:spcPts val="1387"/>
                </a:lnSpc>
              </a:pPr>
              <a:endParaRPr/>
            </a:p>
          </p:txBody>
        </p:sp>
      </p:grpSp>
      <p:grpSp>
        <p:nvGrpSpPr>
          <p:cNvPr id="10" name="Group 10"/>
          <p:cNvGrpSpPr/>
          <p:nvPr/>
        </p:nvGrpSpPr>
        <p:grpSpPr>
          <a:xfrm>
            <a:off x="8932970" y="2262850"/>
            <a:ext cx="5434050" cy="1464206"/>
            <a:chOff x="0" y="0"/>
            <a:chExt cx="7245401" cy="1952274"/>
          </a:xfrm>
        </p:grpSpPr>
        <p:grpSp>
          <p:nvGrpSpPr>
            <p:cNvPr id="11" name="Group 11"/>
            <p:cNvGrpSpPr/>
            <p:nvPr/>
          </p:nvGrpSpPr>
          <p:grpSpPr>
            <a:xfrm>
              <a:off x="0" y="0"/>
              <a:ext cx="7245401" cy="1952274"/>
              <a:chOff x="0" y="0"/>
              <a:chExt cx="1417549" cy="381959"/>
            </a:xfrm>
          </p:grpSpPr>
          <p:sp>
            <p:nvSpPr>
              <p:cNvPr id="12" name="Freeform 12"/>
              <p:cNvSpPr/>
              <p:nvPr/>
            </p:nvSpPr>
            <p:spPr>
              <a:xfrm>
                <a:off x="0" y="0"/>
                <a:ext cx="1417549" cy="381959"/>
              </a:xfrm>
              <a:custGeom>
                <a:avLst/>
                <a:gdLst/>
                <a:ahLst/>
                <a:cxnLst/>
                <a:rect l="l" t="t" r="r" b="b"/>
                <a:pathLst>
                  <a:path w="1417549" h="381959">
                    <a:moveTo>
                      <a:pt x="29919" y="0"/>
                    </a:moveTo>
                    <a:lnTo>
                      <a:pt x="1387630" y="0"/>
                    </a:lnTo>
                    <a:cubicBezTo>
                      <a:pt x="1404154" y="0"/>
                      <a:pt x="1417549" y="13395"/>
                      <a:pt x="1417549" y="29919"/>
                    </a:cubicBezTo>
                    <a:lnTo>
                      <a:pt x="1417549" y="352040"/>
                    </a:lnTo>
                    <a:cubicBezTo>
                      <a:pt x="1417549" y="368564"/>
                      <a:pt x="1404154" y="381959"/>
                      <a:pt x="1387630" y="381959"/>
                    </a:cubicBezTo>
                    <a:lnTo>
                      <a:pt x="29919" y="381959"/>
                    </a:lnTo>
                    <a:cubicBezTo>
                      <a:pt x="13395" y="381959"/>
                      <a:pt x="0" y="368564"/>
                      <a:pt x="0" y="352040"/>
                    </a:cubicBezTo>
                    <a:lnTo>
                      <a:pt x="0" y="29919"/>
                    </a:lnTo>
                    <a:cubicBezTo>
                      <a:pt x="0" y="13395"/>
                      <a:pt x="13395" y="0"/>
                      <a:pt x="29919" y="0"/>
                    </a:cubicBezTo>
                    <a:close/>
                  </a:path>
                </a:pathLst>
              </a:custGeom>
              <a:solidFill>
                <a:srgbClr val="202127"/>
              </a:solidFill>
            </p:spPr>
            <p:txBody>
              <a:bodyPr/>
              <a:lstStyle/>
              <a:p>
                <a:endParaRPr lang="en-US"/>
              </a:p>
            </p:txBody>
          </p:sp>
          <p:sp>
            <p:nvSpPr>
              <p:cNvPr id="13" name="TextBox 13"/>
              <p:cNvSpPr txBox="1"/>
              <p:nvPr/>
            </p:nvSpPr>
            <p:spPr>
              <a:xfrm>
                <a:off x="0" y="19050"/>
                <a:ext cx="1417549" cy="362909"/>
              </a:xfrm>
              <a:prstGeom prst="rect">
                <a:avLst/>
              </a:prstGeom>
            </p:spPr>
            <p:txBody>
              <a:bodyPr lIns="50800" tIns="50800" rIns="50800" bIns="50800" rtlCol="0" anchor="ctr"/>
              <a:lstStyle/>
              <a:p>
                <a:pPr algn="ctr">
                  <a:lnSpc>
                    <a:spcPts val="1387"/>
                  </a:lnSpc>
                </a:pPr>
                <a:endParaRPr/>
              </a:p>
            </p:txBody>
          </p:sp>
        </p:grpSp>
        <p:sp>
          <p:nvSpPr>
            <p:cNvPr id="14" name="TextBox 14"/>
            <p:cNvSpPr txBox="1"/>
            <p:nvPr/>
          </p:nvSpPr>
          <p:spPr>
            <a:xfrm>
              <a:off x="465474" y="449299"/>
              <a:ext cx="6314453" cy="1054312"/>
            </a:xfrm>
            <a:prstGeom prst="rect">
              <a:avLst/>
            </a:prstGeom>
          </p:spPr>
          <p:txBody>
            <a:bodyPr lIns="0" tIns="0" rIns="0" bIns="0" rtlCol="0" anchor="t">
              <a:spAutoFit/>
            </a:bodyPr>
            <a:lstStyle/>
            <a:p>
              <a:pPr algn="l">
                <a:lnSpc>
                  <a:spcPts val="2799"/>
                </a:lnSpc>
              </a:pPr>
              <a:r>
                <a:rPr lang="en-US" sz="2799" b="1">
                  <a:solidFill>
                    <a:srgbClr val="27DDDF"/>
                  </a:solidFill>
                  <a:latin typeface="Akzidenz-Grotesk Bold"/>
                  <a:ea typeface="Akzidenz-Grotesk Bold"/>
                  <a:cs typeface="Akzidenz-Grotesk Bold"/>
                  <a:sym typeface="Akzidenz-Grotesk Bold"/>
                </a:rPr>
                <a:t>Iterator pattern</a:t>
              </a:r>
              <a:r>
                <a:rPr lang="en-US" sz="2799">
                  <a:solidFill>
                    <a:srgbClr val="FFFFFF"/>
                  </a:solidFill>
                  <a:latin typeface="Akzidenz-Grotesk"/>
                  <a:ea typeface="Akzidenz-Grotesk"/>
                  <a:cs typeface="Akzidenz-Grotesk"/>
                  <a:sym typeface="Akzidenz-Grotesk"/>
                </a:rPr>
                <a:t> can be used to traverse a list of user posts</a:t>
              </a:r>
            </a:p>
          </p:txBody>
        </p:sp>
      </p:grpSp>
      <p:sp>
        <p:nvSpPr>
          <p:cNvPr id="15" name="TextBox 15"/>
          <p:cNvSpPr txBox="1"/>
          <p:nvPr/>
        </p:nvSpPr>
        <p:spPr>
          <a:xfrm>
            <a:off x="2446072" y="7406286"/>
            <a:ext cx="5392832" cy="1660525"/>
          </a:xfrm>
          <a:prstGeom prst="rect">
            <a:avLst/>
          </a:prstGeom>
        </p:spPr>
        <p:txBody>
          <a:bodyPr lIns="0" tIns="0" rIns="0" bIns="0" rtlCol="0" anchor="t">
            <a:spAutoFit/>
          </a:bodyPr>
          <a:lstStyle/>
          <a:p>
            <a:pPr algn="l">
              <a:lnSpc>
                <a:spcPts val="5720"/>
              </a:lnSpc>
            </a:pPr>
            <a:r>
              <a:rPr lang="en-US" sz="6500" b="1" spc="-104">
                <a:solidFill>
                  <a:srgbClr val="27DDDF"/>
                </a:solidFill>
                <a:latin typeface="Akzidenz-Grotesk Bold"/>
                <a:ea typeface="Akzidenz-Grotesk Bold"/>
                <a:cs typeface="Akzidenz-Grotesk Bold"/>
                <a:sym typeface="Akzidenz-Grotesk Bold"/>
              </a:rPr>
              <a:t>Web </a:t>
            </a:r>
          </a:p>
          <a:p>
            <a:pPr algn="l">
              <a:lnSpc>
                <a:spcPts val="5720"/>
              </a:lnSpc>
            </a:pPr>
            <a:r>
              <a:rPr lang="en-US" sz="6500" b="1" spc="-104">
                <a:solidFill>
                  <a:srgbClr val="27DDDF"/>
                </a:solidFill>
                <a:latin typeface="Akzidenz-Grotesk Bold"/>
                <a:ea typeface="Akzidenz-Grotesk Bold"/>
                <a:cs typeface="Akzidenz-Grotesk Bold"/>
                <a:sym typeface="Akzidenz-Grotesk Bold"/>
              </a:rPr>
              <a:t>Development</a:t>
            </a:r>
          </a:p>
        </p:txBody>
      </p:sp>
      <p:grpSp>
        <p:nvGrpSpPr>
          <p:cNvPr id="16" name="Group 16"/>
          <p:cNvGrpSpPr/>
          <p:nvPr/>
        </p:nvGrpSpPr>
        <p:grpSpPr>
          <a:xfrm>
            <a:off x="8932970" y="4574334"/>
            <a:ext cx="5434050" cy="2022612"/>
            <a:chOff x="0" y="0"/>
            <a:chExt cx="7245401" cy="2696815"/>
          </a:xfrm>
        </p:grpSpPr>
        <p:grpSp>
          <p:nvGrpSpPr>
            <p:cNvPr id="17" name="Group 17"/>
            <p:cNvGrpSpPr/>
            <p:nvPr/>
          </p:nvGrpSpPr>
          <p:grpSpPr>
            <a:xfrm>
              <a:off x="0" y="0"/>
              <a:ext cx="7245401" cy="2696815"/>
              <a:chOff x="0" y="0"/>
              <a:chExt cx="1417549" cy="527627"/>
            </a:xfrm>
          </p:grpSpPr>
          <p:sp>
            <p:nvSpPr>
              <p:cNvPr id="18" name="Freeform 18"/>
              <p:cNvSpPr/>
              <p:nvPr/>
            </p:nvSpPr>
            <p:spPr>
              <a:xfrm>
                <a:off x="0" y="0"/>
                <a:ext cx="1417549" cy="527627"/>
              </a:xfrm>
              <a:custGeom>
                <a:avLst/>
                <a:gdLst/>
                <a:ahLst/>
                <a:cxnLst/>
                <a:rect l="l" t="t" r="r" b="b"/>
                <a:pathLst>
                  <a:path w="1417549" h="527627">
                    <a:moveTo>
                      <a:pt x="29919" y="0"/>
                    </a:moveTo>
                    <a:lnTo>
                      <a:pt x="1387630" y="0"/>
                    </a:lnTo>
                    <a:cubicBezTo>
                      <a:pt x="1404154" y="0"/>
                      <a:pt x="1417549" y="13395"/>
                      <a:pt x="1417549" y="29919"/>
                    </a:cubicBezTo>
                    <a:lnTo>
                      <a:pt x="1417549" y="497708"/>
                    </a:lnTo>
                    <a:cubicBezTo>
                      <a:pt x="1417549" y="514232"/>
                      <a:pt x="1404154" y="527627"/>
                      <a:pt x="1387630" y="527627"/>
                    </a:cubicBezTo>
                    <a:lnTo>
                      <a:pt x="29919" y="527627"/>
                    </a:lnTo>
                    <a:cubicBezTo>
                      <a:pt x="13395" y="527627"/>
                      <a:pt x="0" y="514232"/>
                      <a:pt x="0" y="497708"/>
                    </a:cubicBezTo>
                    <a:lnTo>
                      <a:pt x="0" y="29919"/>
                    </a:lnTo>
                    <a:cubicBezTo>
                      <a:pt x="0" y="13395"/>
                      <a:pt x="13395" y="0"/>
                      <a:pt x="29919" y="0"/>
                    </a:cubicBezTo>
                    <a:close/>
                  </a:path>
                </a:pathLst>
              </a:custGeom>
              <a:solidFill>
                <a:srgbClr val="202127"/>
              </a:solidFill>
            </p:spPr>
            <p:txBody>
              <a:bodyPr/>
              <a:lstStyle/>
              <a:p>
                <a:endParaRPr lang="en-US"/>
              </a:p>
            </p:txBody>
          </p:sp>
          <p:sp>
            <p:nvSpPr>
              <p:cNvPr id="19" name="TextBox 19"/>
              <p:cNvSpPr txBox="1"/>
              <p:nvPr/>
            </p:nvSpPr>
            <p:spPr>
              <a:xfrm>
                <a:off x="0" y="19050"/>
                <a:ext cx="1417549" cy="508577"/>
              </a:xfrm>
              <a:prstGeom prst="rect">
                <a:avLst/>
              </a:prstGeom>
            </p:spPr>
            <p:txBody>
              <a:bodyPr lIns="50800" tIns="50800" rIns="50800" bIns="50800" rtlCol="0" anchor="ctr"/>
              <a:lstStyle/>
              <a:p>
                <a:pPr algn="ctr">
                  <a:lnSpc>
                    <a:spcPts val="1387"/>
                  </a:lnSpc>
                </a:pPr>
                <a:endParaRPr/>
              </a:p>
            </p:txBody>
          </p:sp>
        </p:grpSp>
        <p:sp>
          <p:nvSpPr>
            <p:cNvPr id="20" name="TextBox 20"/>
            <p:cNvSpPr txBox="1"/>
            <p:nvPr/>
          </p:nvSpPr>
          <p:spPr>
            <a:xfrm>
              <a:off x="465474" y="346589"/>
              <a:ext cx="6314453" cy="1994112"/>
            </a:xfrm>
            <a:prstGeom prst="rect">
              <a:avLst/>
            </a:prstGeom>
          </p:spPr>
          <p:txBody>
            <a:bodyPr lIns="0" tIns="0" rIns="0" bIns="0" rtlCol="0" anchor="t">
              <a:spAutoFit/>
            </a:bodyPr>
            <a:lstStyle/>
            <a:p>
              <a:pPr algn="l">
                <a:lnSpc>
                  <a:spcPts val="2799"/>
                </a:lnSpc>
              </a:pPr>
              <a:r>
                <a:rPr lang="en-US" sz="2799">
                  <a:solidFill>
                    <a:srgbClr val="FFFFFF"/>
                  </a:solidFill>
                  <a:latin typeface="Akzidenz-Grotesk"/>
                  <a:ea typeface="Akzidenz-Grotesk"/>
                  <a:cs typeface="Akzidenz-Grotesk"/>
                  <a:sym typeface="Akzidenz-Grotesk"/>
                </a:rPr>
                <a:t>A </a:t>
              </a:r>
              <a:r>
                <a:rPr lang="en-US" sz="2799" b="1">
                  <a:solidFill>
                    <a:srgbClr val="27DDDF"/>
                  </a:solidFill>
                  <a:latin typeface="Akzidenz-Grotesk Bold"/>
                  <a:ea typeface="Akzidenz-Grotesk Bold"/>
                  <a:cs typeface="Akzidenz-Grotesk Bold"/>
                  <a:sym typeface="Akzidenz-Grotesk Bold"/>
                </a:rPr>
                <a:t>PostIterator</a:t>
              </a:r>
              <a:r>
                <a:rPr lang="en-US" sz="2799">
                  <a:solidFill>
                    <a:srgbClr val="FFFFFF"/>
                  </a:solidFill>
                  <a:latin typeface="Akzidenz-Grotesk"/>
                  <a:ea typeface="Akzidenz-Grotesk"/>
                  <a:cs typeface="Akzidenz-Grotesk"/>
                  <a:sym typeface="Akzidenz-Grotesk"/>
                </a:rPr>
                <a:t> allows the frontend to fetch and display posts one by one, regardless of the backend storage</a:t>
              </a: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grpSp>
        <p:nvGrpSpPr>
          <p:cNvPr id="2" name="Group 2"/>
          <p:cNvGrpSpPr/>
          <p:nvPr/>
        </p:nvGrpSpPr>
        <p:grpSpPr>
          <a:xfrm rot="2799664">
            <a:off x="-10144368" y="3325273"/>
            <a:ext cx="17403374" cy="18180272"/>
            <a:chOff x="0" y="0"/>
            <a:chExt cx="4583605" cy="4788220"/>
          </a:xfrm>
        </p:grpSpPr>
        <p:sp>
          <p:nvSpPr>
            <p:cNvPr id="3" name="Freeform 3"/>
            <p:cNvSpPr/>
            <p:nvPr/>
          </p:nvSpPr>
          <p:spPr>
            <a:xfrm>
              <a:off x="0" y="0"/>
              <a:ext cx="4583605" cy="4788220"/>
            </a:xfrm>
            <a:custGeom>
              <a:avLst/>
              <a:gdLst/>
              <a:ahLst/>
              <a:cxnLst/>
              <a:rect l="l" t="t" r="r" b="b"/>
              <a:pathLst>
                <a:path w="4583605" h="4788220">
                  <a:moveTo>
                    <a:pt x="0" y="0"/>
                  </a:moveTo>
                  <a:lnTo>
                    <a:pt x="4583605" y="0"/>
                  </a:lnTo>
                  <a:lnTo>
                    <a:pt x="4583605" y="4788220"/>
                  </a:lnTo>
                  <a:lnTo>
                    <a:pt x="0" y="4788220"/>
                  </a:lnTo>
                  <a:close/>
                </a:path>
              </a:pathLst>
            </a:custGeom>
            <a:gradFill rotWithShape="1">
              <a:gsLst>
                <a:gs pos="0">
                  <a:srgbClr val="27DDDF">
                    <a:alpha val="0"/>
                  </a:srgbClr>
                </a:gs>
                <a:gs pos="100000">
                  <a:srgbClr val="27DDDF">
                    <a:alpha val="100000"/>
                  </a:srgbClr>
                </a:gs>
              </a:gsLst>
              <a:lin ang="5400000"/>
            </a:gradFill>
          </p:spPr>
          <p:txBody>
            <a:bodyPr/>
            <a:lstStyle/>
            <a:p>
              <a:endParaRPr lang="en-US"/>
            </a:p>
          </p:txBody>
        </p:sp>
        <p:sp>
          <p:nvSpPr>
            <p:cNvPr id="4" name="TextBox 4"/>
            <p:cNvSpPr txBox="1"/>
            <p:nvPr/>
          </p:nvSpPr>
          <p:spPr>
            <a:xfrm>
              <a:off x="0" y="19050"/>
              <a:ext cx="4583605" cy="4769170"/>
            </a:xfrm>
            <a:prstGeom prst="rect">
              <a:avLst/>
            </a:prstGeom>
          </p:spPr>
          <p:txBody>
            <a:bodyPr lIns="50800" tIns="50800" rIns="50800" bIns="50800" rtlCol="0" anchor="ctr"/>
            <a:lstStyle/>
            <a:p>
              <a:pPr algn="ctr">
                <a:lnSpc>
                  <a:spcPts val="1387"/>
                </a:lnSpc>
              </a:pPr>
              <a:endParaRPr/>
            </a:p>
          </p:txBody>
        </p:sp>
      </p:grpSp>
      <p:grpSp>
        <p:nvGrpSpPr>
          <p:cNvPr id="5" name="Group 5"/>
          <p:cNvGrpSpPr/>
          <p:nvPr/>
        </p:nvGrpSpPr>
        <p:grpSpPr>
          <a:xfrm>
            <a:off x="4010763" y="2263140"/>
            <a:ext cx="5434050" cy="1464206"/>
            <a:chOff x="0" y="0"/>
            <a:chExt cx="7245401" cy="1952274"/>
          </a:xfrm>
        </p:grpSpPr>
        <p:grpSp>
          <p:nvGrpSpPr>
            <p:cNvPr id="6" name="Group 6"/>
            <p:cNvGrpSpPr/>
            <p:nvPr/>
          </p:nvGrpSpPr>
          <p:grpSpPr>
            <a:xfrm>
              <a:off x="0" y="0"/>
              <a:ext cx="7245401" cy="1952274"/>
              <a:chOff x="0" y="0"/>
              <a:chExt cx="1417549" cy="381959"/>
            </a:xfrm>
          </p:grpSpPr>
          <p:sp>
            <p:nvSpPr>
              <p:cNvPr id="7" name="Freeform 7"/>
              <p:cNvSpPr/>
              <p:nvPr/>
            </p:nvSpPr>
            <p:spPr>
              <a:xfrm>
                <a:off x="0" y="0"/>
                <a:ext cx="1417549" cy="381959"/>
              </a:xfrm>
              <a:custGeom>
                <a:avLst/>
                <a:gdLst/>
                <a:ahLst/>
                <a:cxnLst/>
                <a:rect l="l" t="t" r="r" b="b"/>
                <a:pathLst>
                  <a:path w="1417549" h="381959">
                    <a:moveTo>
                      <a:pt x="29919" y="0"/>
                    </a:moveTo>
                    <a:lnTo>
                      <a:pt x="1387630" y="0"/>
                    </a:lnTo>
                    <a:cubicBezTo>
                      <a:pt x="1404154" y="0"/>
                      <a:pt x="1417549" y="13395"/>
                      <a:pt x="1417549" y="29919"/>
                    </a:cubicBezTo>
                    <a:lnTo>
                      <a:pt x="1417549" y="352040"/>
                    </a:lnTo>
                    <a:cubicBezTo>
                      <a:pt x="1417549" y="368564"/>
                      <a:pt x="1404154" y="381959"/>
                      <a:pt x="1387630" y="381959"/>
                    </a:cubicBezTo>
                    <a:lnTo>
                      <a:pt x="29919" y="381959"/>
                    </a:lnTo>
                    <a:cubicBezTo>
                      <a:pt x="13395" y="381959"/>
                      <a:pt x="0" y="368564"/>
                      <a:pt x="0" y="352040"/>
                    </a:cubicBezTo>
                    <a:lnTo>
                      <a:pt x="0" y="29919"/>
                    </a:lnTo>
                    <a:cubicBezTo>
                      <a:pt x="0" y="13395"/>
                      <a:pt x="13395" y="0"/>
                      <a:pt x="29919" y="0"/>
                    </a:cubicBezTo>
                    <a:close/>
                  </a:path>
                </a:pathLst>
              </a:custGeom>
              <a:solidFill>
                <a:srgbClr val="202127"/>
              </a:solidFill>
            </p:spPr>
            <p:txBody>
              <a:bodyPr/>
              <a:lstStyle/>
              <a:p>
                <a:endParaRPr lang="en-US"/>
              </a:p>
            </p:txBody>
          </p:sp>
          <p:sp>
            <p:nvSpPr>
              <p:cNvPr id="8" name="TextBox 8"/>
              <p:cNvSpPr txBox="1"/>
              <p:nvPr/>
            </p:nvSpPr>
            <p:spPr>
              <a:xfrm>
                <a:off x="0" y="19050"/>
                <a:ext cx="1417549" cy="362909"/>
              </a:xfrm>
              <a:prstGeom prst="rect">
                <a:avLst/>
              </a:prstGeom>
            </p:spPr>
            <p:txBody>
              <a:bodyPr lIns="50800" tIns="50800" rIns="50800" bIns="50800" rtlCol="0" anchor="ctr"/>
              <a:lstStyle/>
              <a:p>
                <a:pPr algn="ctr">
                  <a:lnSpc>
                    <a:spcPts val="1387"/>
                  </a:lnSpc>
                </a:pPr>
                <a:endParaRPr/>
              </a:p>
            </p:txBody>
          </p:sp>
        </p:grpSp>
        <p:sp>
          <p:nvSpPr>
            <p:cNvPr id="9" name="TextBox 9"/>
            <p:cNvSpPr txBox="1"/>
            <p:nvPr/>
          </p:nvSpPr>
          <p:spPr>
            <a:xfrm>
              <a:off x="465474" y="444219"/>
              <a:ext cx="6314453" cy="1054312"/>
            </a:xfrm>
            <a:prstGeom prst="rect">
              <a:avLst/>
            </a:prstGeom>
          </p:spPr>
          <p:txBody>
            <a:bodyPr lIns="0" tIns="0" rIns="0" bIns="0" rtlCol="0" anchor="t">
              <a:spAutoFit/>
            </a:bodyPr>
            <a:lstStyle/>
            <a:p>
              <a:pPr algn="l">
                <a:lnSpc>
                  <a:spcPts val="2799"/>
                </a:lnSpc>
              </a:pPr>
              <a:r>
                <a:rPr lang="en-US" sz="2799" b="1">
                  <a:solidFill>
                    <a:srgbClr val="27DDDF"/>
                  </a:solidFill>
                  <a:latin typeface="Akzidenz-Grotesk Bold"/>
                  <a:ea typeface="Akzidenz-Grotesk Bold"/>
                  <a:cs typeface="Akzidenz-Grotesk Bold"/>
                  <a:sym typeface="Akzidenz-Grotesk Bold"/>
                </a:rPr>
                <a:t>Iterator pattern</a:t>
              </a:r>
              <a:r>
                <a:rPr lang="en-US" sz="2799">
                  <a:solidFill>
                    <a:srgbClr val="FFFFFF"/>
                  </a:solidFill>
                  <a:latin typeface="Akzidenz-Grotesk"/>
                  <a:ea typeface="Akzidenz-Grotesk"/>
                  <a:cs typeface="Akzidenz-Grotesk"/>
                  <a:sym typeface="Akzidenz-Grotesk"/>
                </a:rPr>
                <a:t> can be used to navigate a gallery of images</a:t>
              </a:r>
            </a:p>
          </p:txBody>
        </p:sp>
      </p:grpSp>
      <p:grpSp>
        <p:nvGrpSpPr>
          <p:cNvPr id="10" name="Group 10"/>
          <p:cNvGrpSpPr/>
          <p:nvPr/>
        </p:nvGrpSpPr>
        <p:grpSpPr>
          <a:xfrm>
            <a:off x="11140713" y="2263140"/>
            <a:ext cx="5784422" cy="6645580"/>
            <a:chOff x="0" y="0"/>
            <a:chExt cx="7712562" cy="8860773"/>
          </a:xfrm>
        </p:grpSpPr>
        <p:grpSp>
          <p:nvGrpSpPr>
            <p:cNvPr id="11" name="Group 11"/>
            <p:cNvGrpSpPr/>
            <p:nvPr/>
          </p:nvGrpSpPr>
          <p:grpSpPr>
            <a:xfrm>
              <a:off x="0" y="0"/>
              <a:ext cx="7712562" cy="8860773"/>
              <a:chOff x="0" y="0"/>
              <a:chExt cx="812800" cy="933806"/>
            </a:xfrm>
          </p:grpSpPr>
          <p:sp>
            <p:nvSpPr>
              <p:cNvPr id="12" name="Freeform 12"/>
              <p:cNvSpPr/>
              <p:nvPr/>
            </p:nvSpPr>
            <p:spPr>
              <a:xfrm>
                <a:off x="0" y="0"/>
                <a:ext cx="812800" cy="933806"/>
              </a:xfrm>
              <a:custGeom>
                <a:avLst/>
                <a:gdLst/>
                <a:ahLst/>
                <a:cxnLst/>
                <a:rect l="l" t="t" r="r" b="b"/>
                <a:pathLst>
                  <a:path w="812800" h="933806">
                    <a:moveTo>
                      <a:pt x="65582" y="0"/>
                    </a:moveTo>
                    <a:lnTo>
                      <a:pt x="747218" y="0"/>
                    </a:lnTo>
                    <a:cubicBezTo>
                      <a:pt x="783438" y="0"/>
                      <a:pt x="812800" y="29362"/>
                      <a:pt x="812800" y="65582"/>
                    </a:cubicBezTo>
                    <a:lnTo>
                      <a:pt x="812800" y="868224"/>
                    </a:lnTo>
                    <a:cubicBezTo>
                      <a:pt x="812800" y="885617"/>
                      <a:pt x="805890" y="902298"/>
                      <a:pt x="793591" y="914597"/>
                    </a:cubicBezTo>
                    <a:cubicBezTo>
                      <a:pt x="781292" y="926896"/>
                      <a:pt x="764611" y="933806"/>
                      <a:pt x="747218" y="933806"/>
                    </a:cubicBezTo>
                    <a:lnTo>
                      <a:pt x="65582" y="933806"/>
                    </a:lnTo>
                    <a:cubicBezTo>
                      <a:pt x="29362" y="933806"/>
                      <a:pt x="0" y="904444"/>
                      <a:pt x="0" y="868224"/>
                    </a:cubicBezTo>
                    <a:lnTo>
                      <a:pt x="0" y="65582"/>
                    </a:lnTo>
                    <a:cubicBezTo>
                      <a:pt x="0" y="29362"/>
                      <a:pt x="29362" y="0"/>
                      <a:pt x="65582" y="0"/>
                    </a:cubicBezTo>
                    <a:close/>
                  </a:path>
                </a:pathLst>
              </a:custGeom>
              <a:blipFill>
                <a:blip r:embed="rId2"/>
                <a:stretch>
                  <a:fillRect l="-64601" r="-64601"/>
                </a:stretch>
              </a:blipFill>
            </p:spPr>
            <p:txBody>
              <a:bodyPr/>
              <a:lstStyle/>
              <a:p>
                <a:endParaRPr lang="en-US"/>
              </a:p>
            </p:txBody>
          </p:sp>
        </p:grpSp>
        <p:grpSp>
          <p:nvGrpSpPr>
            <p:cNvPr id="13" name="Group 13"/>
            <p:cNvGrpSpPr/>
            <p:nvPr/>
          </p:nvGrpSpPr>
          <p:grpSpPr>
            <a:xfrm>
              <a:off x="0" y="3581558"/>
              <a:ext cx="7712562" cy="5279215"/>
              <a:chOff x="0" y="0"/>
              <a:chExt cx="1523469" cy="1042808"/>
            </a:xfrm>
          </p:grpSpPr>
          <p:sp>
            <p:nvSpPr>
              <p:cNvPr id="14" name="Freeform 14"/>
              <p:cNvSpPr/>
              <p:nvPr/>
            </p:nvSpPr>
            <p:spPr>
              <a:xfrm>
                <a:off x="0" y="0"/>
                <a:ext cx="1523469" cy="1042808"/>
              </a:xfrm>
              <a:custGeom>
                <a:avLst/>
                <a:gdLst/>
                <a:ahLst/>
                <a:cxnLst/>
                <a:rect l="l" t="t" r="r" b="b"/>
                <a:pathLst>
                  <a:path w="1523469" h="1042808">
                    <a:moveTo>
                      <a:pt x="68259" y="0"/>
                    </a:moveTo>
                    <a:lnTo>
                      <a:pt x="1455210" y="0"/>
                    </a:lnTo>
                    <a:cubicBezTo>
                      <a:pt x="1473314" y="0"/>
                      <a:pt x="1490675" y="7192"/>
                      <a:pt x="1503476" y="19993"/>
                    </a:cubicBezTo>
                    <a:cubicBezTo>
                      <a:pt x="1516278" y="32794"/>
                      <a:pt x="1523469" y="50155"/>
                      <a:pt x="1523469" y="68259"/>
                    </a:cubicBezTo>
                    <a:lnTo>
                      <a:pt x="1523469" y="974549"/>
                    </a:lnTo>
                    <a:cubicBezTo>
                      <a:pt x="1523469" y="1012247"/>
                      <a:pt x="1492908" y="1042808"/>
                      <a:pt x="1455210" y="1042808"/>
                    </a:cubicBezTo>
                    <a:lnTo>
                      <a:pt x="68259" y="1042808"/>
                    </a:lnTo>
                    <a:cubicBezTo>
                      <a:pt x="50155" y="1042808"/>
                      <a:pt x="32794" y="1035616"/>
                      <a:pt x="19993" y="1022815"/>
                    </a:cubicBezTo>
                    <a:cubicBezTo>
                      <a:pt x="7192" y="1010014"/>
                      <a:pt x="0" y="992652"/>
                      <a:pt x="0" y="974549"/>
                    </a:cubicBezTo>
                    <a:lnTo>
                      <a:pt x="0" y="68259"/>
                    </a:lnTo>
                    <a:cubicBezTo>
                      <a:pt x="0" y="30561"/>
                      <a:pt x="30561" y="0"/>
                      <a:pt x="68259" y="0"/>
                    </a:cubicBezTo>
                    <a:close/>
                  </a:path>
                </a:pathLst>
              </a:custGeom>
              <a:gradFill rotWithShape="1">
                <a:gsLst>
                  <a:gs pos="0">
                    <a:srgbClr val="141519">
                      <a:alpha val="0"/>
                    </a:srgbClr>
                  </a:gs>
                  <a:gs pos="100000">
                    <a:srgbClr val="141519">
                      <a:alpha val="57000"/>
                    </a:srgbClr>
                  </a:gs>
                </a:gsLst>
                <a:lin ang="5400000"/>
              </a:gradFill>
            </p:spPr>
            <p:txBody>
              <a:bodyPr/>
              <a:lstStyle/>
              <a:p>
                <a:endParaRPr lang="en-US"/>
              </a:p>
            </p:txBody>
          </p:sp>
          <p:sp>
            <p:nvSpPr>
              <p:cNvPr id="15" name="TextBox 15"/>
              <p:cNvSpPr txBox="1"/>
              <p:nvPr/>
            </p:nvSpPr>
            <p:spPr>
              <a:xfrm>
                <a:off x="0" y="19050"/>
                <a:ext cx="1523469" cy="1023758"/>
              </a:xfrm>
              <a:prstGeom prst="rect">
                <a:avLst/>
              </a:prstGeom>
            </p:spPr>
            <p:txBody>
              <a:bodyPr lIns="50800" tIns="50800" rIns="50800" bIns="50800" rtlCol="0" anchor="ctr"/>
              <a:lstStyle/>
              <a:p>
                <a:pPr algn="ctr">
                  <a:lnSpc>
                    <a:spcPts val="1387"/>
                  </a:lnSpc>
                </a:pPr>
                <a:endParaRPr/>
              </a:p>
            </p:txBody>
          </p:sp>
        </p:grpSp>
        <p:sp>
          <p:nvSpPr>
            <p:cNvPr id="16" name="TextBox 16"/>
            <p:cNvSpPr txBox="1"/>
            <p:nvPr/>
          </p:nvSpPr>
          <p:spPr>
            <a:xfrm>
              <a:off x="522120" y="6624514"/>
              <a:ext cx="7190442" cy="2236259"/>
            </a:xfrm>
            <a:prstGeom prst="rect">
              <a:avLst/>
            </a:prstGeom>
          </p:spPr>
          <p:txBody>
            <a:bodyPr lIns="0" tIns="0" rIns="0" bIns="0" rtlCol="0" anchor="t">
              <a:spAutoFit/>
            </a:bodyPr>
            <a:lstStyle/>
            <a:p>
              <a:pPr algn="l">
                <a:lnSpc>
                  <a:spcPts val="5720"/>
                </a:lnSpc>
              </a:pPr>
              <a:r>
                <a:rPr lang="en-US" sz="6500" b="1" spc="-104">
                  <a:solidFill>
                    <a:srgbClr val="27DDDF"/>
                  </a:solidFill>
                  <a:latin typeface="Akzidenz-Grotesk Bold"/>
                  <a:ea typeface="Akzidenz-Grotesk Bold"/>
                  <a:cs typeface="Akzidenz-Grotesk Bold"/>
                  <a:sym typeface="Akzidenz-Grotesk Bold"/>
                </a:rPr>
                <a:t>Mobile app </a:t>
              </a:r>
            </a:p>
            <a:p>
              <a:pPr algn="l">
                <a:lnSpc>
                  <a:spcPts val="5720"/>
                </a:lnSpc>
              </a:pPr>
              <a:r>
                <a:rPr lang="en-US" sz="6500" b="1" spc="-104">
                  <a:solidFill>
                    <a:srgbClr val="27DDDF"/>
                  </a:solidFill>
                  <a:latin typeface="Akzidenz-Grotesk Bold"/>
                  <a:ea typeface="Akzidenz-Grotesk Bold"/>
                  <a:cs typeface="Akzidenz-Grotesk Bold"/>
                  <a:sym typeface="Akzidenz-Grotesk Bold"/>
                </a:rPr>
                <a:t>Development</a:t>
              </a:r>
            </a:p>
          </p:txBody>
        </p:sp>
      </p:grpSp>
      <p:grpSp>
        <p:nvGrpSpPr>
          <p:cNvPr id="17" name="Group 17"/>
          <p:cNvGrpSpPr/>
          <p:nvPr/>
        </p:nvGrpSpPr>
        <p:grpSpPr>
          <a:xfrm>
            <a:off x="4010763" y="4573905"/>
            <a:ext cx="5434050" cy="2669453"/>
            <a:chOff x="0" y="0"/>
            <a:chExt cx="7245401" cy="3559271"/>
          </a:xfrm>
        </p:grpSpPr>
        <p:grpSp>
          <p:nvGrpSpPr>
            <p:cNvPr id="18" name="Group 18"/>
            <p:cNvGrpSpPr/>
            <p:nvPr/>
          </p:nvGrpSpPr>
          <p:grpSpPr>
            <a:xfrm>
              <a:off x="0" y="0"/>
              <a:ext cx="7245401" cy="3559271"/>
              <a:chOff x="0" y="0"/>
              <a:chExt cx="1417549" cy="696365"/>
            </a:xfrm>
          </p:grpSpPr>
          <p:sp>
            <p:nvSpPr>
              <p:cNvPr id="19" name="Freeform 19"/>
              <p:cNvSpPr/>
              <p:nvPr/>
            </p:nvSpPr>
            <p:spPr>
              <a:xfrm>
                <a:off x="0" y="0"/>
                <a:ext cx="1417549" cy="696365"/>
              </a:xfrm>
              <a:custGeom>
                <a:avLst/>
                <a:gdLst/>
                <a:ahLst/>
                <a:cxnLst/>
                <a:rect l="l" t="t" r="r" b="b"/>
                <a:pathLst>
                  <a:path w="1417549" h="696365">
                    <a:moveTo>
                      <a:pt x="29919" y="0"/>
                    </a:moveTo>
                    <a:lnTo>
                      <a:pt x="1387630" y="0"/>
                    </a:lnTo>
                    <a:cubicBezTo>
                      <a:pt x="1404154" y="0"/>
                      <a:pt x="1417549" y="13395"/>
                      <a:pt x="1417549" y="29919"/>
                    </a:cubicBezTo>
                    <a:lnTo>
                      <a:pt x="1417549" y="666446"/>
                    </a:lnTo>
                    <a:cubicBezTo>
                      <a:pt x="1417549" y="682970"/>
                      <a:pt x="1404154" y="696365"/>
                      <a:pt x="1387630" y="696365"/>
                    </a:cubicBezTo>
                    <a:lnTo>
                      <a:pt x="29919" y="696365"/>
                    </a:lnTo>
                    <a:cubicBezTo>
                      <a:pt x="13395" y="696365"/>
                      <a:pt x="0" y="682970"/>
                      <a:pt x="0" y="666446"/>
                    </a:cubicBezTo>
                    <a:lnTo>
                      <a:pt x="0" y="29919"/>
                    </a:lnTo>
                    <a:cubicBezTo>
                      <a:pt x="0" y="13395"/>
                      <a:pt x="13395" y="0"/>
                      <a:pt x="29919" y="0"/>
                    </a:cubicBezTo>
                    <a:close/>
                  </a:path>
                </a:pathLst>
              </a:custGeom>
              <a:solidFill>
                <a:srgbClr val="202127"/>
              </a:solidFill>
            </p:spPr>
            <p:txBody>
              <a:bodyPr/>
              <a:lstStyle/>
              <a:p>
                <a:endParaRPr lang="en-US"/>
              </a:p>
            </p:txBody>
          </p:sp>
          <p:sp>
            <p:nvSpPr>
              <p:cNvPr id="20" name="TextBox 20"/>
              <p:cNvSpPr txBox="1"/>
              <p:nvPr/>
            </p:nvSpPr>
            <p:spPr>
              <a:xfrm>
                <a:off x="0" y="19050"/>
                <a:ext cx="1417549" cy="677315"/>
              </a:xfrm>
              <a:prstGeom prst="rect">
                <a:avLst/>
              </a:prstGeom>
            </p:spPr>
            <p:txBody>
              <a:bodyPr lIns="50800" tIns="50800" rIns="50800" bIns="50800" rtlCol="0" anchor="ctr"/>
              <a:lstStyle/>
              <a:p>
                <a:pPr algn="ctr">
                  <a:lnSpc>
                    <a:spcPts val="1387"/>
                  </a:lnSpc>
                </a:pPr>
                <a:endParaRPr/>
              </a:p>
            </p:txBody>
          </p:sp>
        </p:grpSp>
        <p:sp>
          <p:nvSpPr>
            <p:cNvPr id="21" name="TextBox 21"/>
            <p:cNvSpPr txBox="1"/>
            <p:nvPr/>
          </p:nvSpPr>
          <p:spPr>
            <a:xfrm>
              <a:off x="465474" y="318195"/>
              <a:ext cx="6314453" cy="2933912"/>
            </a:xfrm>
            <a:prstGeom prst="rect">
              <a:avLst/>
            </a:prstGeom>
          </p:spPr>
          <p:txBody>
            <a:bodyPr lIns="0" tIns="0" rIns="0" bIns="0" rtlCol="0" anchor="t">
              <a:spAutoFit/>
            </a:bodyPr>
            <a:lstStyle/>
            <a:p>
              <a:pPr algn="l">
                <a:lnSpc>
                  <a:spcPts val="2799"/>
                </a:lnSpc>
              </a:pPr>
              <a:r>
                <a:rPr lang="en-US" sz="2799">
                  <a:solidFill>
                    <a:srgbClr val="FFFFFF"/>
                  </a:solidFill>
                  <a:latin typeface="Akzidenz-Grotesk"/>
                  <a:ea typeface="Akzidenz-Grotesk"/>
                  <a:cs typeface="Akzidenz-Grotesk"/>
                  <a:sym typeface="Akzidenz-Grotesk"/>
                </a:rPr>
                <a:t>A </a:t>
              </a:r>
              <a:r>
                <a:rPr lang="en-US" sz="2799" b="1">
                  <a:solidFill>
                    <a:srgbClr val="27DDDF"/>
                  </a:solidFill>
                  <a:latin typeface="Akzidenz-Grotesk Bold"/>
                  <a:ea typeface="Akzidenz-Grotesk Bold"/>
                  <a:cs typeface="Akzidenz-Grotesk Bold"/>
                  <a:sym typeface="Akzidenz-Grotesk Bold"/>
                </a:rPr>
                <a:t>GalleryIterator </a:t>
              </a:r>
              <a:r>
                <a:rPr lang="en-US" sz="2799">
                  <a:solidFill>
                    <a:srgbClr val="FFFFFF"/>
                  </a:solidFill>
                  <a:latin typeface="Akzidenz-Grotesk"/>
                  <a:ea typeface="Akzidenz-Grotesk"/>
                  <a:cs typeface="Akzidenz-Grotesk"/>
                  <a:sym typeface="Akzidenz-Grotesk"/>
                </a:rPr>
                <a:t>lets the app swipe through images stored in different formats, providing a seamless user experience without exposing the storage details</a:t>
              </a: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41519"/>
        </a:solidFill>
        <a:effectLst/>
      </p:bgPr>
    </p:bg>
    <p:spTree>
      <p:nvGrpSpPr>
        <p:cNvPr id="1" name=""/>
        <p:cNvGrpSpPr/>
        <p:nvPr/>
      </p:nvGrpSpPr>
      <p:grpSpPr>
        <a:xfrm>
          <a:off x="0" y="0"/>
          <a:ext cx="0" cy="0"/>
          <a:chOff x="0" y="0"/>
          <a:chExt cx="0" cy="0"/>
        </a:xfrm>
      </p:grpSpPr>
      <p:grpSp>
        <p:nvGrpSpPr>
          <p:cNvPr id="2" name="Group 2"/>
          <p:cNvGrpSpPr/>
          <p:nvPr/>
        </p:nvGrpSpPr>
        <p:grpSpPr>
          <a:xfrm rot="2799664">
            <a:off x="-10144368" y="3325273"/>
            <a:ext cx="17403374" cy="18180272"/>
            <a:chOff x="0" y="0"/>
            <a:chExt cx="4583605" cy="4788220"/>
          </a:xfrm>
        </p:grpSpPr>
        <p:sp>
          <p:nvSpPr>
            <p:cNvPr id="3" name="Freeform 3"/>
            <p:cNvSpPr/>
            <p:nvPr/>
          </p:nvSpPr>
          <p:spPr>
            <a:xfrm>
              <a:off x="0" y="0"/>
              <a:ext cx="4583605" cy="4788220"/>
            </a:xfrm>
            <a:custGeom>
              <a:avLst/>
              <a:gdLst/>
              <a:ahLst/>
              <a:cxnLst/>
              <a:rect l="l" t="t" r="r" b="b"/>
              <a:pathLst>
                <a:path w="4583605" h="4788220">
                  <a:moveTo>
                    <a:pt x="0" y="0"/>
                  </a:moveTo>
                  <a:lnTo>
                    <a:pt x="4583605" y="0"/>
                  </a:lnTo>
                  <a:lnTo>
                    <a:pt x="4583605" y="4788220"/>
                  </a:lnTo>
                  <a:lnTo>
                    <a:pt x="0" y="4788220"/>
                  </a:lnTo>
                  <a:close/>
                </a:path>
              </a:pathLst>
            </a:custGeom>
            <a:gradFill rotWithShape="1">
              <a:gsLst>
                <a:gs pos="0">
                  <a:srgbClr val="27DDDF">
                    <a:alpha val="0"/>
                  </a:srgbClr>
                </a:gs>
                <a:gs pos="100000">
                  <a:srgbClr val="27DDDF">
                    <a:alpha val="100000"/>
                  </a:srgbClr>
                </a:gs>
              </a:gsLst>
              <a:lin ang="5400000"/>
            </a:gradFill>
          </p:spPr>
          <p:txBody>
            <a:bodyPr/>
            <a:lstStyle/>
            <a:p>
              <a:endParaRPr lang="en-US"/>
            </a:p>
          </p:txBody>
        </p:sp>
        <p:sp>
          <p:nvSpPr>
            <p:cNvPr id="4" name="TextBox 4"/>
            <p:cNvSpPr txBox="1"/>
            <p:nvPr/>
          </p:nvSpPr>
          <p:spPr>
            <a:xfrm>
              <a:off x="0" y="19050"/>
              <a:ext cx="4583605" cy="4769170"/>
            </a:xfrm>
            <a:prstGeom prst="rect">
              <a:avLst/>
            </a:prstGeom>
          </p:spPr>
          <p:txBody>
            <a:bodyPr lIns="50800" tIns="50800" rIns="50800" bIns="50800" rtlCol="0" anchor="ctr"/>
            <a:lstStyle/>
            <a:p>
              <a:pPr algn="ctr">
                <a:lnSpc>
                  <a:spcPts val="1387"/>
                </a:lnSpc>
              </a:pPr>
              <a:endParaRPr/>
            </a:p>
          </p:txBody>
        </p:sp>
      </p:grpSp>
      <p:sp>
        <p:nvSpPr>
          <p:cNvPr id="5" name="TextBox 5"/>
          <p:cNvSpPr txBox="1"/>
          <p:nvPr/>
        </p:nvSpPr>
        <p:spPr>
          <a:xfrm>
            <a:off x="6274414" y="685800"/>
            <a:ext cx="5993785" cy="1547411"/>
          </a:xfrm>
          <a:prstGeom prst="rect">
            <a:avLst/>
          </a:prstGeom>
        </p:spPr>
        <p:txBody>
          <a:bodyPr wrap="square" lIns="0" tIns="0" rIns="0" bIns="0" rtlCol="0" anchor="t">
            <a:spAutoFit/>
          </a:bodyPr>
          <a:lstStyle/>
          <a:p>
            <a:pPr algn="ctr">
              <a:lnSpc>
                <a:spcPts val="12880"/>
              </a:lnSpc>
            </a:pPr>
            <a:r>
              <a:rPr lang="en-US" sz="9200" b="1" dirty="0">
                <a:solidFill>
                  <a:srgbClr val="27DDDF"/>
                </a:solidFill>
                <a:latin typeface="Akzidenz-Grotesk Bold"/>
                <a:ea typeface="Akzidenz-Grotesk Bold"/>
                <a:cs typeface="Akzidenz-Grotesk Bold"/>
                <a:sym typeface="Akzidenz-Grotesk Bold"/>
              </a:rPr>
              <a:t>Reference</a:t>
            </a:r>
          </a:p>
        </p:txBody>
      </p:sp>
      <p:sp>
        <p:nvSpPr>
          <p:cNvPr id="6" name="TextBox 6"/>
          <p:cNvSpPr txBox="1"/>
          <p:nvPr/>
        </p:nvSpPr>
        <p:spPr>
          <a:xfrm>
            <a:off x="2260905" y="8205463"/>
            <a:ext cx="14020801" cy="580390"/>
          </a:xfrm>
          <a:prstGeom prst="rect">
            <a:avLst/>
          </a:prstGeom>
        </p:spPr>
        <p:txBody>
          <a:bodyPr wrap="square" lIns="0" tIns="0" rIns="0" bIns="0" rtlCol="0" anchor="t">
            <a:spAutoFit/>
          </a:bodyPr>
          <a:lstStyle/>
          <a:p>
            <a:pPr algn="ctr">
              <a:lnSpc>
                <a:spcPts val="4759"/>
              </a:lnSpc>
            </a:pPr>
            <a:r>
              <a:rPr lang="en-US" sz="3399" u="sng" dirty="0">
                <a:solidFill>
                  <a:srgbClr val="27DDDF"/>
                </a:solidFill>
                <a:latin typeface="Canva Sans"/>
                <a:ea typeface="Canva Sans"/>
                <a:cs typeface="Canva Sans"/>
                <a:sym typeface="Canva Sans"/>
                <a:hlinkClick r:id="rId2" tooltip="https://github.com/khoiLearnsToCode/CS202-Group3-Seminar.git">
                  <a:extLst>
                    <a:ext uri="{A12FA001-AC4F-418D-AE19-62706E023703}">
                      <ahyp:hlinkClr xmlns:ahyp="http://schemas.microsoft.com/office/drawing/2018/hyperlinkcolor" val="tx"/>
                    </a:ext>
                  </a:extLst>
                </a:hlinkClick>
              </a:rPr>
              <a:t>https://github.com/khoiLearnsToCode/CS202-Group3-Seminar.git</a:t>
            </a:r>
          </a:p>
        </p:txBody>
      </p:sp>
      <p:sp>
        <p:nvSpPr>
          <p:cNvPr id="7" name="TextBox 7"/>
          <p:cNvSpPr txBox="1"/>
          <p:nvPr/>
        </p:nvSpPr>
        <p:spPr>
          <a:xfrm>
            <a:off x="2382202" y="7625073"/>
            <a:ext cx="2646998" cy="580390"/>
          </a:xfrm>
          <a:prstGeom prst="rect">
            <a:avLst/>
          </a:prstGeom>
        </p:spPr>
        <p:txBody>
          <a:bodyPr wrap="square" lIns="0" tIns="0" rIns="0" bIns="0" rtlCol="0" anchor="t">
            <a:spAutoFit/>
          </a:bodyPr>
          <a:lstStyle/>
          <a:p>
            <a:pPr algn="ctr">
              <a:lnSpc>
                <a:spcPts val="4759"/>
              </a:lnSpc>
            </a:pPr>
            <a:r>
              <a:rPr lang="en-US" sz="3399" dirty="0">
                <a:solidFill>
                  <a:srgbClr val="FFFFFF"/>
                </a:solidFill>
                <a:latin typeface="Canva Sans"/>
                <a:ea typeface="Canva Sans"/>
                <a:cs typeface="Canva Sans"/>
                <a:sym typeface="Canva Sans"/>
              </a:rPr>
              <a:t>Full code at:</a:t>
            </a:r>
          </a:p>
        </p:txBody>
      </p:sp>
      <p:sp>
        <p:nvSpPr>
          <p:cNvPr id="8" name="TextBox 8"/>
          <p:cNvSpPr txBox="1"/>
          <p:nvPr/>
        </p:nvSpPr>
        <p:spPr>
          <a:xfrm>
            <a:off x="2382202" y="3990262"/>
            <a:ext cx="10266998" cy="580390"/>
          </a:xfrm>
          <a:prstGeom prst="rect">
            <a:avLst/>
          </a:prstGeom>
        </p:spPr>
        <p:txBody>
          <a:bodyPr wrap="square" lIns="0" tIns="0" rIns="0" bIns="0" rtlCol="0" anchor="t">
            <a:spAutoFit/>
          </a:bodyPr>
          <a:lstStyle/>
          <a:p>
            <a:pPr algn="ctr">
              <a:lnSpc>
                <a:spcPts val="4759"/>
              </a:lnSpc>
            </a:pPr>
            <a:r>
              <a:rPr lang="en-US" sz="3399" u="sng" dirty="0">
                <a:solidFill>
                  <a:schemeClr val="bg1"/>
                </a:solidFill>
                <a:latin typeface="Canva Sans"/>
                <a:ea typeface="Canva Sans"/>
                <a:cs typeface="Canva Sans"/>
                <a:sym typeface="Canva Sans"/>
                <a:hlinkClick r:id="rId3" tooltip="https://refactoring.guru/design-patterns/iterator">
                  <a:extLst>
                    <a:ext uri="{A12FA001-AC4F-418D-AE19-62706E023703}">
                      <ahyp:hlinkClr xmlns:ahyp="http://schemas.microsoft.com/office/drawing/2018/hyperlinkcolor" val="tx"/>
                    </a:ext>
                  </a:extLst>
                </a:hlinkClick>
              </a:rPr>
              <a:t>https://refactoring.guru/design-patterns/iterator</a:t>
            </a:r>
          </a:p>
        </p:txBody>
      </p:sp>
      <p:sp>
        <p:nvSpPr>
          <p:cNvPr id="9" name="TextBox 9"/>
          <p:cNvSpPr txBox="1"/>
          <p:nvPr/>
        </p:nvSpPr>
        <p:spPr>
          <a:xfrm>
            <a:off x="2382202" y="4819967"/>
            <a:ext cx="13238798" cy="580390"/>
          </a:xfrm>
          <a:prstGeom prst="rect">
            <a:avLst/>
          </a:prstGeom>
        </p:spPr>
        <p:txBody>
          <a:bodyPr wrap="square" lIns="0" tIns="0" rIns="0" bIns="0" rtlCol="0" anchor="t">
            <a:spAutoFit/>
          </a:bodyPr>
          <a:lstStyle/>
          <a:p>
            <a:pPr algn="ctr">
              <a:lnSpc>
                <a:spcPts val="4759"/>
              </a:lnSpc>
            </a:pPr>
            <a:r>
              <a:rPr lang="en-US" sz="3399" u="sng" dirty="0">
                <a:solidFill>
                  <a:schemeClr val="bg1"/>
                </a:solidFill>
                <a:latin typeface="Canva Sans"/>
                <a:ea typeface="Canva Sans"/>
                <a:cs typeface="Canva Sans"/>
                <a:sym typeface="Canva Sans"/>
                <a:hlinkClick r:id="rId4" tooltip="https://refactoring.guru/design-patterns/iterator/cpp/example">
                  <a:extLst>
                    <a:ext uri="{A12FA001-AC4F-418D-AE19-62706E023703}">
                      <ahyp:hlinkClr xmlns:ahyp="http://schemas.microsoft.com/office/drawing/2018/hyperlinkcolor" val="tx"/>
                    </a:ext>
                  </a:extLst>
                </a:hlinkClick>
              </a:rPr>
              <a:t>https://refactoring.guru/design-patterns/iterator/cpp/example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TotalTime>
  <Words>889</Words>
  <Application>Microsoft Office PowerPoint</Application>
  <PresentationFormat>Custom</PresentationFormat>
  <Paragraphs>93</Paragraphs>
  <Slides>37</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37</vt:i4>
      </vt:variant>
    </vt:vector>
  </HeadingPairs>
  <TitlesOfParts>
    <vt:vector size="49" baseType="lpstr">
      <vt:lpstr>Montserrat Italics</vt:lpstr>
      <vt:lpstr>Akzidenz-Grotesk Bold</vt:lpstr>
      <vt:lpstr>Calibri</vt:lpstr>
      <vt:lpstr>Almarai Bold</vt:lpstr>
      <vt:lpstr>Arial</vt:lpstr>
      <vt:lpstr>Akzidenz-Grotesk Heavy</vt:lpstr>
      <vt:lpstr>Aileron Ultra-Bold</vt:lpstr>
      <vt:lpstr>Barlow Condensed Heavy</vt:lpstr>
      <vt:lpstr>Akzidenz-Grotesk</vt:lpstr>
      <vt:lpstr>Aileron Bold</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Simple The Future Of The Arctic Presentation</dc:title>
  <cp:lastModifiedBy>PHAN MINH KHÔI</cp:lastModifiedBy>
  <cp:revision>5</cp:revision>
  <dcterms:created xsi:type="dcterms:W3CDTF">2006-08-16T00:00:00Z</dcterms:created>
  <dcterms:modified xsi:type="dcterms:W3CDTF">2025-08-27T02:49:30Z</dcterms:modified>
  <dc:identifier>DAGpeUrcVUo</dc:identifier>
</cp:coreProperties>
</file>