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8288000" cy="10287000"/>
  <p:notesSz cx="6858000" cy="9144000"/>
  <p:embeddedFontLst>
    <p:embeddedFont>
      <p:font typeface="BP Imperial" panose="020B0604020202020204" charset="0"/>
      <p:regular r:id="rId52"/>
    </p:embeddedFont>
    <p:embeddedFont>
      <p:font typeface="Noot" charset="-79"/>
      <p:regular r:id="rId53"/>
    </p:embeddedFont>
    <p:embeddedFont>
      <p:font typeface="Poppins" panose="00000500000000000000" pitchFamily="2" charset="0"/>
      <p:regular r:id="rId54"/>
    </p:embeddedFont>
    <p:embeddedFont>
      <p:font typeface="Poppins Bold" panose="020B0604020202020204" charset="0"/>
      <p:regular r:id="rId55"/>
    </p:embeddedFont>
    <p:embeddedFont>
      <p:font typeface="Poppins Bold Italics" panose="020B0604020202020204" charset="0"/>
      <p:regular r:id="rId56"/>
    </p:embeddedFont>
    <p:embeddedFont>
      <p:font typeface="Poppins Medium" panose="00000600000000000000" pitchFamily="2" charset="0"/>
      <p:regular r:id="rId57"/>
    </p:embeddedFont>
    <p:embeddedFont>
      <p:font typeface="Sniglet" panose="020B0604020202020204" charset="0"/>
      <p:regular r:id="rId58"/>
    </p:embeddedFont>
    <p:embeddedFont>
      <p:font typeface="Space Mono" panose="020B0604020202020204" charset="-93"/>
      <p:regular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828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167" y="1548663"/>
            <a:ext cx="2338040" cy="233804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688915" y="5143500"/>
            <a:ext cx="7140770" cy="71407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20915" y="2095700"/>
            <a:ext cx="1214413" cy="12144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363761" y="2559482"/>
            <a:ext cx="5216295" cy="5506645"/>
          </a:xfrm>
          <a:custGeom>
            <a:avLst/>
            <a:gdLst/>
            <a:ahLst/>
            <a:cxnLst/>
            <a:rect l="l" t="t" r="r" b="b"/>
            <a:pathLst>
              <a:path w="5216295" h="5506645">
                <a:moveTo>
                  <a:pt x="0" y="0"/>
                </a:moveTo>
                <a:lnTo>
                  <a:pt x="5216295" y="0"/>
                </a:lnTo>
                <a:lnTo>
                  <a:pt x="5216295" y="5506645"/>
                </a:lnTo>
                <a:lnTo>
                  <a:pt x="0" y="55066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10630" y="2899910"/>
            <a:ext cx="10967435" cy="4506231"/>
            <a:chOff x="0" y="0"/>
            <a:chExt cx="14623246" cy="6008308"/>
          </a:xfrm>
        </p:grpSpPr>
        <p:sp>
          <p:nvSpPr>
            <p:cNvPr id="21" name="TextBox 21"/>
            <p:cNvSpPr txBox="1"/>
            <p:nvPr/>
          </p:nvSpPr>
          <p:spPr>
            <a:xfrm>
              <a:off x="0" y="28575"/>
              <a:ext cx="14623246" cy="4722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094"/>
                </a:lnSpc>
              </a:pPr>
              <a:r>
                <a:rPr lang="en-US" sz="13639" dirty="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VISITOR </a:t>
              </a:r>
            </a:p>
            <a:p>
              <a:pPr algn="ctr">
                <a:lnSpc>
                  <a:spcPts val="11806"/>
                </a:lnSpc>
              </a:pPr>
              <a:r>
                <a:rPr lang="en-US" sz="10005" dirty="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DESIGN PATTERN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9884" y="5124288"/>
              <a:ext cx="13903477" cy="884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87"/>
                </a:lnSpc>
              </a:pPr>
              <a:r>
                <a:rPr lang="en-US" sz="3848">
                  <a:solidFill>
                    <a:srgbClr val="F79753"/>
                  </a:solidFill>
                  <a:latin typeface="Poppins"/>
                  <a:ea typeface="Poppins"/>
                  <a:cs typeface="Poppins"/>
                  <a:sym typeface="Poppins"/>
                </a:rPr>
                <a:t>24A02 - Group 3 - 1st pattern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-505232" y="2559482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7" y="0"/>
                </a:lnTo>
                <a:lnTo>
                  <a:pt x="2397137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167" y="1548663"/>
            <a:ext cx="2338040" cy="233804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1597566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7" y="0"/>
                </a:lnTo>
                <a:lnTo>
                  <a:pt x="2397137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2" name="Group 12"/>
          <p:cNvGrpSpPr/>
          <p:nvPr/>
        </p:nvGrpSpPr>
        <p:grpSpPr>
          <a:xfrm>
            <a:off x="12381942" y="2881230"/>
            <a:ext cx="6633725" cy="6633725"/>
            <a:chOff x="0" y="0"/>
            <a:chExt cx="8844967" cy="884496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8844967" cy="884496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33333">
                    <a:srgbClr val="DBD2EA">
                      <a:alpha val="71500"/>
                    </a:srgbClr>
                  </a:gs>
                  <a:gs pos="66667">
                    <a:srgbClr val="B8DFED">
                      <a:alpha val="71500"/>
                    </a:srgbClr>
                  </a:gs>
                  <a:gs pos="100000">
                    <a:srgbClr val="9FA0DF">
                      <a:alpha val="71500"/>
                    </a:srgbClr>
                  </a:gs>
                </a:gsLst>
                <a:lin ang="270000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667442" y="1874070"/>
              <a:ext cx="5510083" cy="5096827"/>
            </a:xfrm>
            <a:custGeom>
              <a:avLst/>
              <a:gdLst/>
              <a:ahLst/>
              <a:cxnLst/>
              <a:rect l="l" t="t" r="r" b="b"/>
              <a:pathLst>
                <a:path w="5510083" h="5096827">
                  <a:moveTo>
                    <a:pt x="0" y="0"/>
                  </a:moveTo>
                  <a:lnTo>
                    <a:pt x="5510083" y="0"/>
                  </a:lnTo>
                  <a:lnTo>
                    <a:pt x="5510083" y="5096827"/>
                  </a:lnTo>
                  <a:lnTo>
                    <a:pt x="0" y="509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97137" y="2717683"/>
            <a:ext cx="9377663" cy="6960819"/>
            <a:chOff x="0" y="0"/>
            <a:chExt cx="2469837" cy="18333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69837" cy="1833302"/>
            </a:xfrm>
            <a:custGeom>
              <a:avLst/>
              <a:gdLst/>
              <a:ahLst/>
              <a:cxnLst/>
              <a:rect l="l" t="t" r="r" b="b"/>
              <a:pathLst>
                <a:path w="2469837" h="1833302">
                  <a:moveTo>
                    <a:pt x="42104" y="0"/>
                  </a:moveTo>
                  <a:lnTo>
                    <a:pt x="2427733" y="0"/>
                  </a:lnTo>
                  <a:cubicBezTo>
                    <a:pt x="2450987" y="0"/>
                    <a:pt x="2469837" y="18851"/>
                    <a:pt x="2469837" y="42104"/>
                  </a:cubicBezTo>
                  <a:lnTo>
                    <a:pt x="2469837" y="1791198"/>
                  </a:lnTo>
                  <a:cubicBezTo>
                    <a:pt x="2469837" y="1814451"/>
                    <a:pt x="2450987" y="1833302"/>
                    <a:pt x="2427733" y="1833302"/>
                  </a:cubicBezTo>
                  <a:lnTo>
                    <a:pt x="42104" y="1833302"/>
                  </a:lnTo>
                  <a:cubicBezTo>
                    <a:pt x="18851" y="1833302"/>
                    <a:pt x="0" y="1814451"/>
                    <a:pt x="0" y="1791198"/>
                  </a:cubicBezTo>
                  <a:lnTo>
                    <a:pt x="0" y="42104"/>
                  </a:lnTo>
                  <a:cubicBezTo>
                    <a:pt x="0" y="18851"/>
                    <a:pt x="18851" y="0"/>
                    <a:pt x="421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469837" cy="1890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253383" y="2733150"/>
            <a:ext cx="9300691" cy="6686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Motivation - An initial problem</a:t>
            </a:r>
          </a:p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The naïve solution</a:t>
            </a:r>
          </a:p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new approach: Visitor</a:t>
            </a:r>
          </a:p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Structure of Visitor</a:t>
            </a:r>
          </a:p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Implementation</a:t>
            </a:r>
          </a:p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Pros and Cons</a:t>
            </a:r>
          </a:p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Real-world Application</a:t>
            </a:r>
          </a:p>
          <a:p>
            <a:pPr marL="885187" lvl="1" indent="-442594" algn="just">
              <a:lnSpc>
                <a:spcPts val="6641"/>
              </a:lnSpc>
              <a:buAutoNum type="arabicPeriod"/>
            </a:pPr>
            <a:r>
              <a:rPr lang="en-US" sz="4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Quiz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12534" y="1185850"/>
            <a:ext cx="10862932" cy="129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757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VISITOR DESIGN PATTERN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1186" y="8234548"/>
            <a:ext cx="2788622" cy="2788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87575" y="8758109"/>
            <a:ext cx="2119861" cy="21198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37402" y="3037202"/>
            <a:ext cx="9205384" cy="6136922"/>
          </a:xfrm>
          <a:custGeom>
            <a:avLst/>
            <a:gdLst/>
            <a:ahLst/>
            <a:cxnLst/>
            <a:rect l="l" t="t" r="r" b="b"/>
            <a:pathLst>
              <a:path w="9205384" h="6136922">
                <a:moveTo>
                  <a:pt x="0" y="0"/>
                </a:moveTo>
                <a:lnTo>
                  <a:pt x="9205383" y="0"/>
                </a:lnTo>
                <a:lnTo>
                  <a:pt x="9205383" y="6136923"/>
                </a:lnTo>
                <a:lnTo>
                  <a:pt x="0" y="6136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TextBox 9"/>
          <p:cNvSpPr txBox="1"/>
          <p:nvPr/>
        </p:nvSpPr>
        <p:spPr>
          <a:xfrm>
            <a:off x="10064719" y="2969716"/>
            <a:ext cx="7625596" cy="6186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 Let’s assume you or your group is developing a school management application with various components such as students, teachers, classes, and equipment. The main function of the app is to: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the data </a:t>
            </a:r>
            <a:r>
              <a:rPr lang="en-US" sz="32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of this graph to XML format.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In the future, potentially add </a:t>
            </a:r>
            <a:r>
              <a:rPr lang="en-US" sz="320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to JSON, PDF, or advanced analysis.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0710" y="1488913"/>
            <a:ext cx="15666580" cy="1302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3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Motivation: School Management App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48531" y="6465319"/>
            <a:ext cx="4091328" cy="409132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14691" y="6147618"/>
            <a:ext cx="1789130" cy="178913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1169" y="3885538"/>
            <a:ext cx="8327362" cy="448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the methods: </a:t>
            </a:r>
            <a:r>
              <a:rPr lang="en-US" sz="3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exportToXML(), exportToJSON() </a:t>
            </a: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3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exportToPDF() </a:t>
            </a: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methods to each node class (such as Classes, Teacher, Student) and use recursion to traverse the graph, calling these methods on each node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04130" y="1810827"/>
            <a:ext cx="767974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Naïve Solution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001811" y="3490756"/>
            <a:ext cx="6367777" cy="5374899"/>
            <a:chOff x="0" y="0"/>
            <a:chExt cx="8490370" cy="716653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490370" cy="7166533"/>
              <a:chOff x="0" y="0"/>
              <a:chExt cx="1913890" cy="161547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3890" cy="1615472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615472">
                    <a:moveTo>
                      <a:pt x="1789430" y="1615472"/>
                    </a:moveTo>
                    <a:lnTo>
                      <a:pt x="124460" y="1615472"/>
                    </a:lnTo>
                    <a:cubicBezTo>
                      <a:pt x="55880" y="1615472"/>
                      <a:pt x="0" y="1559592"/>
                      <a:pt x="0" y="149101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491012"/>
                    </a:lnTo>
                    <a:cubicBezTo>
                      <a:pt x="1913890" y="1559592"/>
                      <a:pt x="1858010" y="1615472"/>
                      <a:pt x="1789430" y="16154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vi-VN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717135" y="2322829"/>
              <a:ext cx="7056100" cy="3594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51"/>
                </a:lnSpc>
              </a:pPr>
              <a:r>
                <a:rPr lang="en-US" sz="2311">
                  <a:solidFill>
                    <a:srgbClr val="BE5ED7"/>
                  </a:solidFill>
                  <a:latin typeface="Space Mono"/>
                  <a:ea typeface="Space Mono"/>
                  <a:cs typeface="Space Mono"/>
                  <a:sym typeface="Space Mono"/>
                </a:rPr>
                <a:t>class</a:t>
              </a: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2311">
                  <a:solidFill>
                    <a:srgbClr val="2B70E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Student</a:t>
              </a: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{</a:t>
              </a:r>
            </a:p>
            <a:p>
              <a:pPr algn="l">
                <a:lnSpc>
                  <a:spcPts val="3651"/>
                </a:lnSpc>
              </a:pPr>
              <a:r>
                <a:rPr lang="en-US" sz="2311">
                  <a:solidFill>
                    <a:srgbClr val="BE5ED7"/>
                  </a:solidFill>
                  <a:latin typeface="Space Mono"/>
                  <a:ea typeface="Space Mono"/>
                  <a:cs typeface="Space Mono"/>
                  <a:sym typeface="Space Mono"/>
                </a:rPr>
                <a:t>public:</a:t>
              </a:r>
            </a:p>
            <a:p>
              <a:pPr algn="l">
                <a:lnSpc>
                  <a:spcPts val="3651"/>
                </a:lnSpc>
              </a:pP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   </a:t>
              </a:r>
              <a:r>
                <a:rPr lang="en-US" sz="2311">
                  <a:solidFill>
                    <a:srgbClr val="BE5ED7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std::string</a:t>
              </a:r>
              <a:r>
                <a:rPr lang="en-US" sz="2311">
                  <a:solidFill>
                    <a:srgbClr val="2B70E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toXML</a:t>
              </a: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();</a:t>
              </a:r>
            </a:p>
            <a:p>
              <a:pPr algn="l">
                <a:lnSpc>
                  <a:spcPts val="3651"/>
                </a:lnSpc>
              </a:pP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   </a:t>
              </a:r>
              <a:r>
                <a:rPr lang="en-US" sz="2311">
                  <a:solidFill>
                    <a:srgbClr val="BE5ED7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std::string</a:t>
              </a: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2311">
                  <a:solidFill>
                    <a:srgbClr val="2B70E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toPDF</a:t>
              </a: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();</a:t>
              </a:r>
            </a:p>
            <a:p>
              <a:pPr algn="l">
                <a:lnSpc>
                  <a:spcPts val="3651"/>
                </a:lnSpc>
              </a:pP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  </a:t>
              </a:r>
              <a:r>
                <a:rPr lang="en-US" sz="2311">
                  <a:solidFill>
                    <a:srgbClr val="BE5ED7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std::string</a:t>
              </a: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en-US" sz="2311">
                  <a:solidFill>
                    <a:srgbClr val="2B70E4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toJSON</a:t>
              </a: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();</a:t>
              </a:r>
            </a:p>
            <a:p>
              <a:pPr algn="l">
                <a:lnSpc>
                  <a:spcPts val="3651"/>
                </a:lnSpc>
              </a:pPr>
              <a:r>
                <a:rPr lang="en-US" sz="2311">
                  <a:solidFill>
                    <a:srgbClr val="0000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}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17135" y="1506136"/>
              <a:ext cx="7056100" cy="0"/>
            </a:xfrm>
            <a:prstGeom prst="line">
              <a:avLst/>
            </a:prstGeom>
            <a:ln w="123654" cap="rnd">
              <a:solidFill>
                <a:srgbClr val="2B70E4">
                  <a:alpha val="19608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661144" y="670778"/>
              <a:ext cx="393189" cy="393189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vi-VN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123054" y="670778"/>
              <a:ext cx="393189" cy="393189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vi-VN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584964" y="670778"/>
              <a:ext cx="393189" cy="393189"/>
              <a:chOff x="0" y="0"/>
              <a:chExt cx="6350000" cy="635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vi-VN"/>
              </a:p>
            </p:txBody>
          </p:sp>
        </p:grpSp>
      </p:grpSp>
      <p:sp>
        <p:nvSpPr>
          <p:cNvPr id="21" name="Freeform 21"/>
          <p:cNvSpPr/>
          <p:nvPr/>
        </p:nvSpPr>
        <p:spPr>
          <a:xfrm flipH="1">
            <a:off x="14910537" y="2106157"/>
            <a:ext cx="3064146" cy="2334322"/>
          </a:xfrm>
          <a:custGeom>
            <a:avLst/>
            <a:gdLst/>
            <a:ahLst/>
            <a:cxnLst/>
            <a:rect l="l" t="t" r="r" b="b"/>
            <a:pathLst>
              <a:path w="3064146" h="2334322">
                <a:moveTo>
                  <a:pt x="3064146" y="0"/>
                </a:moveTo>
                <a:lnTo>
                  <a:pt x="0" y="0"/>
                </a:lnTo>
                <a:lnTo>
                  <a:pt x="0" y="2334322"/>
                </a:lnTo>
                <a:lnTo>
                  <a:pt x="3064146" y="2334322"/>
                </a:lnTo>
                <a:lnTo>
                  <a:pt x="30641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22" name="Group 22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41791" y="2047065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Issues with this Solution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10363" y="3973020"/>
            <a:ext cx="3467273" cy="5043305"/>
            <a:chOff x="0" y="0"/>
            <a:chExt cx="4623031" cy="67244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3031" cy="4227972"/>
            </a:xfrm>
            <a:custGeom>
              <a:avLst/>
              <a:gdLst/>
              <a:ahLst/>
              <a:cxnLst/>
              <a:rect l="l" t="t" r="r" b="b"/>
              <a:pathLst>
                <a:path w="4623031" h="4227972">
                  <a:moveTo>
                    <a:pt x="0" y="0"/>
                  </a:moveTo>
                  <a:lnTo>
                    <a:pt x="4623031" y="0"/>
                  </a:lnTo>
                  <a:lnTo>
                    <a:pt x="4623031" y="4227972"/>
                  </a:lnTo>
                  <a:lnTo>
                    <a:pt x="0" y="4227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4862086"/>
              <a:ext cx="4623031" cy="1862320"/>
              <a:chOff x="0" y="0"/>
              <a:chExt cx="688218" cy="27723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88218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688218" h="277238">
                    <a:moveTo>
                      <a:pt x="130054" y="0"/>
                    </a:moveTo>
                    <a:lnTo>
                      <a:pt x="558163" y="0"/>
                    </a:lnTo>
                    <a:cubicBezTo>
                      <a:pt x="629990" y="0"/>
                      <a:pt x="688218" y="58227"/>
                      <a:pt x="688218" y="130054"/>
                    </a:cubicBezTo>
                    <a:lnTo>
                      <a:pt x="688218" y="147184"/>
                    </a:lnTo>
                    <a:cubicBezTo>
                      <a:pt x="688218" y="181677"/>
                      <a:pt x="674515" y="214756"/>
                      <a:pt x="650126" y="239146"/>
                    </a:cubicBezTo>
                    <a:cubicBezTo>
                      <a:pt x="625736" y="263536"/>
                      <a:pt x="592656" y="277238"/>
                      <a:pt x="558163" y="277238"/>
                    </a:cubicBezTo>
                    <a:lnTo>
                      <a:pt x="130054" y="277238"/>
                    </a:lnTo>
                    <a:cubicBezTo>
                      <a:pt x="58227" y="277238"/>
                      <a:pt x="0" y="219011"/>
                      <a:pt x="0" y="147184"/>
                    </a:cubicBezTo>
                    <a:lnTo>
                      <a:pt x="0" y="130054"/>
                    </a:lnTo>
                    <a:cubicBezTo>
                      <a:pt x="0" y="58227"/>
                      <a:pt x="58227" y="0"/>
                      <a:pt x="13005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688218" cy="334388"/>
              </a:xfrm>
              <a:prstGeom prst="rect">
                <a:avLst/>
              </a:prstGeom>
            </p:spPr>
            <p:txBody>
              <a:bodyPr lIns="59021" tIns="59021" rIns="59021" bIns="59021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80228" y="5169932"/>
              <a:ext cx="3862575" cy="11704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29"/>
                </a:lnSpc>
                <a:spcBef>
                  <a:spcPct val="0"/>
                </a:spcBef>
              </a:pPr>
              <a:r>
                <a:rPr lang="en-US" sz="2521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of Breaking Production Code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63537" y="3973020"/>
            <a:ext cx="3855261" cy="5043305"/>
            <a:chOff x="0" y="0"/>
            <a:chExt cx="5140347" cy="67244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40347" cy="4280507"/>
            </a:xfrm>
            <a:custGeom>
              <a:avLst/>
              <a:gdLst/>
              <a:ahLst/>
              <a:cxnLst/>
              <a:rect l="l" t="t" r="r" b="b"/>
              <a:pathLst>
                <a:path w="5140347" h="4280507">
                  <a:moveTo>
                    <a:pt x="0" y="0"/>
                  </a:moveTo>
                  <a:lnTo>
                    <a:pt x="5140347" y="0"/>
                  </a:lnTo>
                  <a:lnTo>
                    <a:pt x="5140347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7057" y="4922501"/>
              <a:ext cx="4946234" cy="1801905"/>
              <a:chOff x="0" y="0"/>
              <a:chExt cx="761020" cy="2772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61020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761020" h="277238">
                    <a:moveTo>
                      <a:pt x="123067" y="0"/>
                    </a:moveTo>
                    <a:lnTo>
                      <a:pt x="637953" y="0"/>
                    </a:lnTo>
                    <a:cubicBezTo>
                      <a:pt x="670593" y="0"/>
                      <a:pt x="701895" y="12966"/>
                      <a:pt x="724974" y="36045"/>
                    </a:cubicBezTo>
                    <a:cubicBezTo>
                      <a:pt x="748054" y="59125"/>
                      <a:pt x="761020" y="90427"/>
                      <a:pt x="761020" y="123067"/>
                    </a:cubicBezTo>
                    <a:lnTo>
                      <a:pt x="761020" y="154172"/>
                    </a:lnTo>
                    <a:cubicBezTo>
                      <a:pt x="761020" y="186811"/>
                      <a:pt x="748054" y="218114"/>
                      <a:pt x="724974" y="241193"/>
                    </a:cubicBezTo>
                    <a:cubicBezTo>
                      <a:pt x="701895" y="264272"/>
                      <a:pt x="670593" y="277238"/>
                      <a:pt x="637953" y="277238"/>
                    </a:cubicBezTo>
                    <a:lnTo>
                      <a:pt x="123067" y="277238"/>
                    </a:lnTo>
                    <a:cubicBezTo>
                      <a:pt x="90427" y="277238"/>
                      <a:pt x="59125" y="264272"/>
                      <a:pt x="36045" y="241193"/>
                    </a:cubicBezTo>
                    <a:cubicBezTo>
                      <a:pt x="12966" y="218114"/>
                      <a:pt x="0" y="186811"/>
                      <a:pt x="0" y="154172"/>
                    </a:cubicBezTo>
                    <a:lnTo>
                      <a:pt x="0" y="123067"/>
                    </a:lnTo>
                    <a:cubicBezTo>
                      <a:pt x="0" y="90427"/>
                      <a:pt x="12966" y="59125"/>
                      <a:pt x="36045" y="36045"/>
                    </a:cubicBezTo>
                    <a:cubicBezTo>
                      <a:pt x="59125" y="12966"/>
                      <a:pt x="90427" y="0"/>
                      <a:pt x="12306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761020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701538" y="5217888"/>
              <a:ext cx="3737271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Inappropriate Responsibility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79970" y="3973020"/>
            <a:ext cx="4244494" cy="5043305"/>
            <a:chOff x="0" y="0"/>
            <a:chExt cx="5659325" cy="67244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59325" cy="4280507"/>
            </a:xfrm>
            <a:custGeom>
              <a:avLst/>
              <a:gdLst/>
              <a:ahLst/>
              <a:cxnLst/>
              <a:rect l="l" t="t" r="r" b="b"/>
              <a:pathLst>
                <a:path w="5659325" h="4280507">
                  <a:moveTo>
                    <a:pt x="0" y="0"/>
                  </a:moveTo>
                  <a:lnTo>
                    <a:pt x="5659325" y="0"/>
                  </a:lnTo>
                  <a:lnTo>
                    <a:pt x="5659325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27896" y="4922501"/>
              <a:ext cx="5403532" cy="1801905"/>
              <a:chOff x="0" y="0"/>
              <a:chExt cx="831379" cy="2772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31379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831379" h="277238">
                    <a:moveTo>
                      <a:pt x="112652" y="0"/>
                    </a:moveTo>
                    <a:lnTo>
                      <a:pt x="718727" y="0"/>
                    </a:lnTo>
                    <a:cubicBezTo>
                      <a:pt x="780943" y="0"/>
                      <a:pt x="831379" y="50436"/>
                      <a:pt x="831379" y="112652"/>
                    </a:cubicBezTo>
                    <a:lnTo>
                      <a:pt x="831379" y="164587"/>
                    </a:lnTo>
                    <a:cubicBezTo>
                      <a:pt x="831379" y="226803"/>
                      <a:pt x="780943" y="277238"/>
                      <a:pt x="718727" y="277238"/>
                    </a:cubicBezTo>
                    <a:lnTo>
                      <a:pt x="112652" y="277238"/>
                    </a:lnTo>
                    <a:cubicBezTo>
                      <a:pt x="50436" y="277238"/>
                      <a:pt x="0" y="226803"/>
                      <a:pt x="0" y="164587"/>
                    </a:cubicBezTo>
                    <a:lnTo>
                      <a:pt x="0" y="112652"/>
                    </a:lnTo>
                    <a:cubicBezTo>
                      <a:pt x="0" y="50436"/>
                      <a:pt x="50436" y="0"/>
                      <a:pt x="11265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831379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7896" y="5217888"/>
              <a:ext cx="5403532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Violation of the Open/Closed Principle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20869" y="5797462"/>
            <a:ext cx="11448719" cy="128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2"/>
              </a:lnSpc>
              <a:spcBef>
                <a:spcPct val="0"/>
              </a:spcBef>
            </a:pPr>
            <a:r>
              <a:rPr lang="en-US" sz="36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new requirement forces code changes, increasing the risk of errors in the product system.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59034" y="3973020"/>
            <a:ext cx="4244494" cy="5043305"/>
            <a:chOff x="0" y="0"/>
            <a:chExt cx="5659325" cy="67244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59325" cy="4280507"/>
            </a:xfrm>
            <a:custGeom>
              <a:avLst/>
              <a:gdLst/>
              <a:ahLst/>
              <a:cxnLst/>
              <a:rect l="l" t="t" r="r" b="b"/>
              <a:pathLst>
                <a:path w="5659325" h="4280507">
                  <a:moveTo>
                    <a:pt x="0" y="0"/>
                  </a:moveTo>
                  <a:lnTo>
                    <a:pt x="5659325" y="0"/>
                  </a:lnTo>
                  <a:lnTo>
                    <a:pt x="5659325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27896" y="4922501"/>
              <a:ext cx="5403532" cy="1801905"/>
              <a:chOff x="0" y="0"/>
              <a:chExt cx="831379" cy="2772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31379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831379" h="277238">
                    <a:moveTo>
                      <a:pt x="112652" y="0"/>
                    </a:moveTo>
                    <a:lnTo>
                      <a:pt x="718727" y="0"/>
                    </a:lnTo>
                    <a:cubicBezTo>
                      <a:pt x="780943" y="0"/>
                      <a:pt x="831379" y="50436"/>
                      <a:pt x="831379" y="112652"/>
                    </a:cubicBezTo>
                    <a:lnTo>
                      <a:pt x="831379" y="164587"/>
                    </a:lnTo>
                    <a:cubicBezTo>
                      <a:pt x="831379" y="226803"/>
                      <a:pt x="780943" y="277238"/>
                      <a:pt x="718727" y="277238"/>
                    </a:cubicBezTo>
                    <a:lnTo>
                      <a:pt x="112652" y="277238"/>
                    </a:lnTo>
                    <a:cubicBezTo>
                      <a:pt x="50436" y="277238"/>
                      <a:pt x="0" y="226803"/>
                      <a:pt x="0" y="164587"/>
                    </a:cubicBezTo>
                    <a:lnTo>
                      <a:pt x="0" y="112652"/>
                    </a:lnTo>
                    <a:cubicBezTo>
                      <a:pt x="0" y="50436"/>
                      <a:pt x="50436" y="0"/>
                      <a:pt x="11265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831379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27896" y="5217888"/>
              <a:ext cx="5403532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Violation of the Open/Closed Principle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841791" y="2047065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Issues with this Solution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41791" y="2047065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Issues with this Solution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10363" y="3973020"/>
            <a:ext cx="3467273" cy="5043305"/>
            <a:chOff x="0" y="0"/>
            <a:chExt cx="4623031" cy="67244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3031" cy="4227972"/>
            </a:xfrm>
            <a:custGeom>
              <a:avLst/>
              <a:gdLst/>
              <a:ahLst/>
              <a:cxnLst/>
              <a:rect l="l" t="t" r="r" b="b"/>
              <a:pathLst>
                <a:path w="4623031" h="4227972">
                  <a:moveTo>
                    <a:pt x="0" y="0"/>
                  </a:moveTo>
                  <a:lnTo>
                    <a:pt x="4623031" y="0"/>
                  </a:lnTo>
                  <a:lnTo>
                    <a:pt x="4623031" y="4227972"/>
                  </a:lnTo>
                  <a:lnTo>
                    <a:pt x="0" y="4227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4862086"/>
              <a:ext cx="4623031" cy="1862320"/>
              <a:chOff x="0" y="0"/>
              <a:chExt cx="688218" cy="27723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88218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688218" h="277238">
                    <a:moveTo>
                      <a:pt x="130054" y="0"/>
                    </a:moveTo>
                    <a:lnTo>
                      <a:pt x="558163" y="0"/>
                    </a:lnTo>
                    <a:cubicBezTo>
                      <a:pt x="629990" y="0"/>
                      <a:pt x="688218" y="58227"/>
                      <a:pt x="688218" y="130054"/>
                    </a:cubicBezTo>
                    <a:lnTo>
                      <a:pt x="688218" y="147184"/>
                    </a:lnTo>
                    <a:cubicBezTo>
                      <a:pt x="688218" y="181677"/>
                      <a:pt x="674515" y="214756"/>
                      <a:pt x="650126" y="239146"/>
                    </a:cubicBezTo>
                    <a:cubicBezTo>
                      <a:pt x="625736" y="263536"/>
                      <a:pt x="592656" y="277238"/>
                      <a:pt x="558163" y="277238"/>
                    </a:cubicBezTo>
                    <a:lnTo>
                      <a:pt x="130054" y="277238"/>
                    </a:lnTo>
                    <a:cubicBezTo>
                      <a:pt x="58227" y="277238"/>
                      <a:pt x="0" y="219011"/>
                      <a:pt x="0" y="147184"/>
                    </a:cubicBezTo>
                    <a:lnTo>
                      <a:pt x="0" y="130054"/>
                    </a:lnTo>
                    <a:cubicBezTo>
                      <a:pt x="0" y="58227"/>
                      <a:pt x="58227" y="0"/>
                      <a:pt x="13005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688218" cy="334388"/>
              </a:xfrm>
              <a:prstGeom prst="rect">
                <a:avLst/>
              </a:prstGeom>
            </p:spPr>
            <p:txBody>
              <a:bodyPr lIns="59021" tIns="59021" rIns="59021" bIns="59021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80228" y="5169932"/>
              <a:ext cx="3862575" cy="11704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29"/>
                </a:lnSpc>
                <a:spcBef>
                  <a:spcPct val="0"/>
                </a:spcBef>
              </a:pPr>
              <a:r>
                <a:rPr lang="en-US" sz="2521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of Breaking Production Code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63537" y="3973020"/>
            <a:ext cx="3855261" cy="5043305"/>
            <a:chOff x="0" y="0"/>
            <a:chExt cx="5140347" cy="67244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40347" cy="4280507"/>
            </a:xfrm>
            <a:custGeom>
              <a:avLst/>
              <a:gdLst/>
              <a:ahLst/>
              <a:cxnLst/>
              <a:rect l="l" t="t" r="r" b="b"/>
              <a:pathLst>
                <a:path w="5140347" h="4280507">
                  <a:moveTo>
                    <a:pt x="0" y="0"/>
                  </a:moveTo>
                  <a:lnTo>
                    <a:pt x="5140347" y="0"/>
                  </a:lnTo>
                  <a:lnTo>
                    <a:pt x="5140347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7057" y="4922501"/>
              <a:ext cx="4946234" cy="1801905"/>
              <a:chOff x="0" y="0"/>
              <a:chExt cx="761020" cy="2772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61020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761020" h="277238">
                    <a:moveTo>
                      <a:pt x="123067" y="0"/>
                    </a:moveTo>
                    <a:lnTo>
                      <a:pt x="637953" y="0"/>
                    </a:lnTo>
                    <a:cubicBezTo>
                      <a:pt x="670593" y="0"/>
                      <a:pt x="701895" y="12966"/>
                      <a:pt x="724974" y="36045"/>
                    </a:cubicBezTo>
                    <a:cubicBezTo>
                      <a:pt x="748054" y="59125"/>
                      <a:pt x="761020" y="90427"/>
                      <a:pt x="761020" y="123067"/>
                    </a:cubicBezTo>
                    <a:lnTo>
                      <a:pt x="761020" y="154172"/>
                    </a:lnTo>
                    <a:cubicBezTo>
                      <a:pt x="761020" y="186811"/>
                      <a:pt x="748054" y="218114"/>
                      <a:pt x="724974" y="241193"/>
                    </a:cubicBezTo>
                    <a:cubicBezTo>
                      <a:pt x="701895" y="264272"/>
                      <a:pt x="670593" y="277238"/>
                      <a:pt x="637953" y="277238"/>
                    </a:cubicBezTo>
                    <a:lnTo>
                      <a:pt x="123067" y="277238"/>
                    </a:lnTo>
                    <a:cubicBezTo>
                      <a:pt x="90427" y="277238"/>
                      <a:pt x="59125" y="264272"/>
                      <a:pt x="36045" y="241193"/>
                    </a:cubicBezTo>
                    <a:cubicBezTo>
                      <a:pt x="12966" y="218114"/>
                      <a:pt x="0" y="186811"/>
                      <a:pt x="0" y="154172"/>
                    </a:cubicBezTo>
                    <a:lnTo>
                      <a:pt x="0" y="123067"/>
                    </a:lnTo>
                    <a:cubicBezTo>
                      <a:pt x="0" y="90427"/>
                      <a:pt x="12966" y="59125"/>
                      <a:pt x="36045" y="36045"/>
                    </a:cubicBezTo>
                    <a:cubicBezTo>
                      <a:pt x="59125" y="12966"/>
                      <a:pt x="90427" y="0"/>
                      <a:pt x="12306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761020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701538" y="5217888"/>
              <a:ext cx="3737271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Inappropriate Responsibility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79970" y="3973020"/>
            <a:ext cx="4244494" cy="5043305"/>
            <a:chOff x="0" y="0"/>
            <a:chExt cx="5659325" cy="67244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59325" cy="4280507"/>
            </a:xfrm>
            <a:custGeom>
              <a:avLst/>
              <a:gdLst/>
              <a:ahLst/>
              <a:cxnLst/>
              <a:rect l="l" t="t" r="r" b="b"/>
              <a:pathLst>
                <a:path w="5659325" h="4280507">
                  <a:moveTo>
                    <a:pt x="0" y="0"/>
                  </a:moveTo>
                  <a:lnTo>
                    <a:pt x="5659325" y="0"/>
                  </a:lnTo>
                  <a:lnTo>
                    <a:pt x="5659325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27896" y="4922501"/>
              <a:ext cx="5403532" cy="1801905"/>
              <a:chOff x="0" y="0"/>
              <a:chExt cx="831379" cy="2772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31379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831379" h="277238">
                    <a:moveTo>
                      <a:pt x="112652" y="0"/>
                    </a:moveTo>
                    <a:lnTo>
                      <a:pt x="718727" y="0"/>
                    </a:lnTo>
                    <a:cubicBezTo>
                      <a:pt x="780943" y="0"/>
                      <a:pt x="831379" y="50436"/>
                      <a:pt x="831379" y="112652"/>
                    </a:cubicBezTo>
                    <a:lnTo>
                      <a:pt x="831379" y="164587"/>
                    </a:lnTo>
                    <a:cubicBezTo>
                      <a:pt x="831379" y="226803"/>
                      <a:pt x="780943" y="277238"/>
                      <a:pt x="718727" y="277238"/>
                    </a:cubicBezTo>
                    <a:lnTo>
                      <a:pt x="112652" y="277238"/>
                    </a:lnTo>
                    <a:cubicBezTo>
                      <a:pt x="50436" y="277238"/>
                      <a:pt x="0" y="226803"/>
                      <a:pt x="0" y="164587"/>
                    </a:cubicBezTo>
                    <a:lnTo>
                      <a:pt x="0" y="112652"/>
                    </a:lnTo>
                    <a:cubicBezTo>
                      <a:pt x="0" y="50436"/>
                      <a:pt x="50436" y="0"/>
                      <a:pt x="11265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831379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7896" y="5217888"/>
              <a:ext cx="5403532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Violation of the Open/Closed Principle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827731" y="5518999"/>
            <a:ext cx="11541857" cy="128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node classes are already in production and modifications could introduce potential bugs.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41791" y="2047065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Issues with this Solution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682486" y="3973020"/>
            <a:ext cx="3467273" cy="5043305"/>
            <a:chOff x="0" y="0"/>
            <a:chExt cx="4623031" cy="67244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23031" cy="4227972"/>
            </a:xfrm>
            <a:custGeom>
              <a:avLst/>
              <a:gdLst/>
              <a:ahLst/>
              <a:cxnLst/>
              <a:rect l="l" t="t" r="r" b="b"/>
              <a:pathLst>
                <a:path w="4623031" h="4227972">
                  <a:moveTo>
                    <a:pt x="0" y="0"/>
                  </a:moveTo>
                  <a:lnTo>
                    <a:pt x="4623031" y="0"/>
                  </a:lnTo>
                  <a:lnTo>
                    <a:pt x="4623031" y="4227972"/>
                  </a:lnTo>
                  <a:lnTo>
                    <a:pt x="0" y="4227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4862086"/>
              <a:ext cx="4623031" cy="1862320"/>
              <a:chOff x="0" y="0"/>
              <a:chExt cx="688218" cy="27723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88218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688218" h="277238">
                    <a:moveTo>
                      <a:pt x="130054" y="0"/>
                    </a:moveTo>
                    <a:lnTo>
                      <a:pt x="558163" y="0"/>
                    </a:lnTo>
                    <a:cubicBezTo>
                      <a:pt x="629990" y="0"/>
                      <a:pt x="688218" y="58227"/>
                      <a:pt x="688218" y="130054"/>
                    </a:cubicBezTo>
                    <a:lnTo>
                      <a:pt x="688218" y="147184"/>
                    </a:lnTo>
                    <a:cubicBezTo>
                      <a:pt x="688218" y="181677"/>
                      <a:pt x="674515" y="214756"/>
                      <a:pt x="650126" y="239146"/>
                    </a:cubicBezTo>
                    <a:cubicBezTo>
                      <a:pt x="625736" y="263536"/>
                      <a:pt x="592656" y="277238"/>
                      <a:pt x="558163" y="277238"/>
                    </a:cubicBezTo>
                    <a:lnTo>
                      <a:pt x="130054" y="277238"/>
                    </a:lnTo>
                    <a:cubicBezTo>
                      <a:pt x="58227" y="277238"/>
                      <a:pt x="0" y="219011"/>
                      <a:pt x="0" y="147184"/>
                    </a:cubicBezTo>
                    <a:lnTo>
                      <a:pt x="0" y="130054"/>
                    </a:lnTo>
                    <a:cubicBezTo>
                      <a:pt x="0" y="58227"/>
                      <a:pt x="58227" y="0"/>
                      <a:pt x="13005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688218" cy="334388"/>
              </a:xfrm>
              <a:prstGeom prst="rect">
                <a:avLst/>
              </a:prstGeom>
            </p:spPr>
            <p:txBody>
              <a:bodyPr lIns="59021" tIns="59021" rIns="59021" bIns="59021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380228" y="5169932"/>
              <a:ext cx="3862575" cy="11704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29"/>
                </a:lnSpc>
                <a:spcBef>
                  <a:spcPct val="0"/>
                </a:spcBef>
              </a:pPr>
              <a:r>
                <a:rPr lang="en-US" sz="2521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of Breaking Production Code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41791" y="2047065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Issues with this Solution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10363" y="3973020"/>
            <a:ext cx="3467273" cy="5043305"/>
            <a:chOff x="0" y="0"/>
            <a:chExt cx="4623031" cy="67244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23031" cy="4227972"/>
            </a:xfrm>
            <a:custGeom>
              <a:avLst/>
              <a:gdLst/>
              <a:ahLst/>
              <a:cxnLst/>
              <a:rect l="l" t="t" r="r" b="b"/>
              <a:pathLst>
                <a:path w="4623031" h="4227972">
                  <a:moveTo>
                    <a:pt x="0" y="0"/>
                  </a:moveTo>
                  <a:lnTo>
                    <a:pt x="4623031" y="0"/>
                  </a:lnTo>
                  <a:lnTo>
                    <a:pt x="4623031" y="4227972"/>
                  </a:lnTo>
                  <a:lnTo>
                    <a:pt x="0" y="4227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4862086"/>
              <a:ext cx="4623031" cy="1862320"/>
              <a:chOff x="0" y="0"/>
              <a:chExt cx="688218" cy="27723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88218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688218" h="277238">
                    <a:moveTo>
                      <a:pt x="130054" y="0"/>
                    </a:moveTo>
                    <a:lnTo>
                      <a:pt x="558163" y="0"/>
                    </a:lnTo>
                    <a:cubicBezTo>
                      <a:pt x="629990" y="0"/>
                      <a:pt x="688218" y="58227"/>
                      <a:pt x="688218" y="130054"/>
                    </a:cubicBezTo>
                    <a:lnTo>
                      <a:pt x="688218" y="147184"/>
                    </a:lnTo>
                    <a:cubicBezTo>
                      <a:pt x="688218" y="181677"/>
                      <a:pt x="674515" y="214756"/>
                      <a:pt x="650126" y="239146"/>
                    </a:cubicBezTo>
                    <a:cubicBezTo>
                      <a:pt x="625736" y="263536"/>
                      <a:pt x="592656" y="277238"/>
                      <a:pt x="558163" y="277238"/>
                    </a:cubicBezTo>
                    <a:lnTo>
                      <a:pt x="130054" y="277238"/>
                    </a:lnTo>
                    <a:cubicBezTo>
                      <a:pt x="58227" y="277238"/>
                      <a:pt x="0" y="219011"/>
                      <a:pt x="0" y="147184"/>
                    </a:cubicBezTo>
                    <a:lnTo>
                      <a:pt x="0" y="130054"/>
                    </a:lnTo>
                    <a:cubicBezTo>
                      <a:pt x="0" y="58227"/>
                      <a:pt x="58227" y="0"/>
                      <a:pt x="13005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688218" cy="334388"/>
              </a:xfrm>
              <a:prstGeom prst="rect">
                <a:avLst/>
              </a:prstGeom>
            </p:spPr>
            <p:txBody>
              <a:bodyPr lIns="59021" tIns="59021" rIns="59021" bIns="59021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80228" y="5169932"/>
              <a:ext cx="3862575" cy="11704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29"/>
                </a:lnSpc>
                <a:spcBef>
                  <a:spcPct val="0"/>
                </a:spcBef>
              </a:pPr>
              <a:r>
                <a:rPr lang="en-US" sz="2521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of Breaking Production Code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63537" y="3973020"/>
            <a:ext cx="3855261" cy="5043305"/>
            <a:chOff x="0" y="0"/>
            <a:chExt cx="5140347" cy="67244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40347" cy="4280507"/>
            </a:xfrm>
            <a:custGeom>
              <a:avLst/>
              <a:gdLst/>
              <a:ahLst/>
              <a:cxnLst/>
              <a:rect l="l" t="t" r="r" b="b"/>
              <a:pathLst>
                <a:path w="5140347" h="4280507">
                  <a:moveTo>
                    <a:pt x="0" y="0"/>
                  </a:moveTo>
                  <a:lnTo>
                    <a:pt x="5140347" y="0"/>
                  </a:lnTo>
                  <a:lnTo>
                    <a:pt x="5140347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7057" y="4922501"/>
              <a:ext cx="4946234" cy="1801905"/>
              <a:chOff x="0" y="0"/>
              <a:chExt cx="761020" cy="2772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61020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761020" h="277238">
                    <a:moveTo>
                      <a:pt x="123067" y="0"/>
                    </a:moveTo>
                    <a:lnTo>
                      <a:pt x="637953" y="0"/>
                    </a:lnTo>
                    <a:cubicBezTo>
                      <a:pt x="670593" y="0"/>
                      <a:pt x="701895" y="12966"/>
                      <a:pt x="724974" y="36045"/>
                    </a:cubicBezTo>
                    <a:cubicBezTo>
                      <a:pt x="748054" y="59125"/>
                      <a:pt x="761020" y="90427"/>
                      <a:pt x="761020" y="123067"/>
                    </a:cubicBezTo>
                    <a:lnTo>
                      <a:pt x="761020" y="154172"/>
                    </a:lnTo>
                    <a:cubicBezTo>
                      <a:pt x="761020" y="186811"/>
                      <a:pt x="748054" y="218114"/>
                      <a:pt x="724974" y="241193"/>
                    </a:cubicBezTo>
                    <a:cubicBezTo>
                      <a:pt x="701895" y="264272"/>
                      <a:pt x="670593" y="277238"/>
                      <a:pt x="637953" y="277238"/>
                    </a:cubicBezTo>
                    <a:lnTo>
                      <a:pt x="123067" y="277238"/>
                    </a:lnTo>
                    <a:cubicBezTo>
                      <a:pt x="90427" y="277238"/>
                      <a:pt x="59125" y="264272"/>
                      <a:pt x="36045" y="241193"/>
                    </a:cubicBezTo>
                    <a:cubicBezTo>
                      <a:pt x="12966" y="218114"/>
                      <a:pt x="0" y="186811"/>
                      <a:pt x="0" y="154172"/>
                    </a:cubicBezTo>
                    <a:lnTo>
                      <a:pt x="0" y="123067"/>
                    </a:lnTo>
                    <a:cubicBezTo>
                      <a:pt x="0" y="90427"/>
                      <a:pt x="12966" y="59125"/>
                      <a:pt x="36045" y="36045"/>
                    </a:cubicBezTo>
                    <a:cubicBezTo>
                      <a:pt x="59125" y="12966"/>
                      <a:pt x="90427" y="0"/>
                      <a:pt x="12306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761020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701538" y="5217888"/>
              <a:ext cx="3737271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Inappropriate Responsibility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79970" y="3973020"/>
            <a:ext cx="4244494" cy="5043305"/>
            <a:chOff x="0" y="0"/>
            <a:chExt cx="5659325" cy="67244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59325" cy="4280507"/>
            </a:xfrm>
            <a:custGeom>
              <a:avLst/>
              <a:gdLst/>
              <a:ahLst/>
              <a:cxnLst/>
              <a:rect l="l" t="t" r="r" b="b"/>
              <a:pathLst>
                <a:path w="5659325" h="4280507">
                  <a:moveTo>
                    <a:pt x="0" y="0"/>
                  </a:moveTo>
                  <a:lnTo>
                    <a:pt x="5659325" y="0"/>
                  </a:lnTo>
                  <a:lnTo>
                    <a:pt x="5659325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27896" y="4922501"/>
              <a:ext cx="5403532" cy="1801905"/>
              <a:chOff x="0" y="0"/>
              <a:chExt cx="831379" cy="2772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31379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831379" h="277238">
                    <a:moveTo>
                      <a:pt x="112652" y="0"/>
                    </a:moveTo>
                    <a:lnTo>
                      <a:pt x="718727" y="0"/>
                    </a:lnTo>
                    <a:cubicBezTo>
                      <a:pt x="780943" y="0"/>
                      <a:pt x="831379" y="50436"/>
                      <a:pt x="831379" y="112652"/>
                    </a:cubicBezTo>
                    <a:lnTo>
                      <a:pt x="831379" y="164587"/>
                    </a:lnTo>
                    <a:cubicBezTo>
                      <a:pt x="831379" y="226803"/>
                      <a:pt x="780943" y="277238"/>
                      <a:pt x="718727" y="277238"/>
                    </a:cubicBezTo>
                    <a:lnTo>
                      <a:pt x="112652" y="277238"/>
                    </a:lnTo>
                    <a:cubicBezTo>
                      <a:pt x="50436" y="277238"/>
                      <a:pt x="0" y="226803"/>
                      <a:pt x="0" y="164587"/>
                    </a:cubicBezTo>
                    <a:lnTo>
                      <a:pt x="0" y="112652"/>
                    </a:lnTo>
                    <a:cubicBezTo>
                      <a:pt x="0" y="50436"/>
                      <a:pt x="50436" y="0"/>
                      <a:pt x="11265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831379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7896" y="5217888"/>
              <a:ext cx="5403532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Violation of the Open/Closed Principle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214995"/>
            <a:ext cx="3855261" cy="5043305"/>
            <a:chOff x="0" y="0"/>
            <a:chExt cx="5140347" cy="67244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40347" cy="4280507"/>
            </a:xfrm>
            <a:custGeom>
              <a:avLst/>
              <a:gdLst/>
              <a:ahLst/>
              <a:cxnLst/>
              <a:rect l="l" t="t" r="r" b="b"/>
              <a:pathLst>
                <a:path w="5140347" h="4280507">
                  <a:moveTo>
                    <a:pt x="0" y="0"/>
                  </a:moveTo>
                  <a:lnTo>
                    <a:pt x="5140347" y="0"/>
                  </a:lnTo>
                  <a:lnTo>
                    <a:pt x="5140347" y="4280507"/>
                  </a:lnTo>
                  <a:lnTo>
                    <a:pt x="0" y="4280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7057" y="4922501"/>
              <a:ext cx="4946234" cy="1801905"/>
              <a:chOff x="0" y="0"/>
              <a:chExt cx="761020" cy="2772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1020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761020" h="277238">
                    <a:moveTo>
                      <a:pt x="123067" y="0"/>
                    </a:moveTo>
                    <a:lnTo>
                      <a:pt x="637953" y="0"/>
                    </a:lnTo>
                    <a:cubicBezTo>
                      <a:pt x="670593" y="0"/>
                      <a:pt x="701895" y="12966"/>
                      <a:pt x="724974" y="36045"/>
                    </a:cubicBezTo>
                    <a:cubicBezTo>
                      <a:pt x="748054" y="59125"/>
                      <a:pt x="761020" y="90427"/>
                      <a:pt x="761020" y="123067"/>
                    </a:cubicBezTo>
                    <a:lnTo>
                      <a:pt x="761020" y="154172"/>
                    </a:lnTo>
                    <a:cubicBezTo>
                      <a:pt x="761020" y="186811"/>
                      <a:pt x="748054" y="218114"/>
                      <a:pt x="724974" y="241193"/>
                    </a:cubicBezTo>
                    <a:cubicBezTo>
                      <a:pt x="701895" y="264272"/>
                      <a:pt x="670593" y="277238"/>
                      <a:pt x="637953" y="277238"/>
                    </a:cubicBezTo>
                    <a:lnTo>
                      <a:pt x="123067" y="277238"/>
                    </a:lnTo>
                    <a:cubicBezTo>
                      <a:pt x="90427" y="277238"/>
                      <a:pt x="59125" y="264272"/>
                      <a:pt x="36045" y="241193"/>
                    </a:cubicBezTo>
                    <a:cubicBezTo>
                      <a:pt x="12966" y="218114"/>
                      <a:pt x="0" y="186811"/>
                      <a:pt x="0" y="154172"/>
                    </a:cubicBezTo>
                    <a:lnTo>
                      <a:pt x="0" y="123067"/>
                    </a:lnTo>
                    <a:cubicBezTo>
                      <a:pt x="0" y="90427"/>
                      <a:pt x="12966" y="59125"/>
                      <a:pt x="36045" y="36045"/>
                    </a:cubicBezTo>
                    <a:cubicBezTo>
                      <a:pt x="59125" y="12966"/>
                      <a:pt x="90427" y="0"/>
                      <a:pt x="12306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761020" cy="334388"/>
              </a:xfrm>
              <a:prstGeom prst="rect">
                <a:avLst/>
              </a:prstGeom>
            </p:spPr>
            <p:txBody>
              <a:bodyPr lIns="56405" tIns="56405" rIns="56405" bIns="5640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01538" y="5217888"/>
              <a:ext cx="3737271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Inappropriate Responsibility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753486" y="5082155"/>
            <a:ext cx="11505814" cy="320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code becomes harder to </a:t>
            </a: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maintain</a:t>
            </a: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prone to logical errors due to a violation of the </a:t>
            </a: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Single Responsibility Principle </a:t>
            </a: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(each class should have only one responsibility; having multiple responsibilities makes maintenance difficult).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41791" y="2047065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Issues with this Solution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01095" y="5474175"/>
            <a:ext cx="3467273" cy="1396740"/>
            <a:chOff x="0" y="0"/>
            <a:chExt cx="4623031" cy="18623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623031" cy="1862320"/>
              <a:chOff x="0" y="0"/>
              <a:chExt cx="688218" cy="27723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88218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688218" h="277238">
                    <a:moveTo>
                      <a:pt x="113876" y="0"/>
                    </a:moveTo>
                    <a:lnTo>
                      <a:pt x="574342" y="0"/>
                    </a:lnTo>
                    <a:cubicBezTo>
                      <a:pt x="637234" y="0"/>
                      <a:pt x="688218" y="50984"/>
                      <a:pt x="688218" y="113876"/>
                    </a:cubicBezTo>
                    <a:lnTo>
                      <a:pt x="688218" y="163363"/>
                    </a:lnTo>
                    <a:cubicBezTo>
                      <a:pt x="688218" y="193564"/>
                      <a:pt x="676220" y="222529"/>
                      <a:pt x="654864" y="243885"/>
                    </a:cubicBezTo>
                    <a:cubicBezTo>
                      <a:pt x="633508" y="265241"/>
                      <a:pt x="604544" y="277238"/>
                      <a:pt x="574342" y="277238"/>
                    </a:cubicBezTo>
                    <a:lnTo>
                      <a:pt x="113876" y="277238"/>
                    </a:lnTo>
                    <a:cubicBezTo>
                      <a:pt x="50984" y="277238"/>
                      <a:pt x="0" y="226254"/>
                      <a:pt x="0" y="163363"/>
                    </a:cubicBezTo>
                    <a:lnTo>
                      <a:pt x="0" y="113876"/>
                    </a:lnTo>
                    <a:cubicBezTo>
                      <a:pt x="0" y="50984"/>
                      <a:pt x="50984" y="0"/>
                      <a:pt x="11387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688218" cy="334388"/>
              </a:xfrm>
              <a:prstGeom prst="rect">
                <a:avLst/>
              </a:prstGeom>
            </p:spPr>
            <p:txBody>
              <a:bodyPr lIns="67406" tIns="67406" rIns="67406" bIns="6740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0228" y="307846"/>
              <a:ext cx="3862575" cy="11704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529"/>
                </a:lnSpc>
                <a:spcBef>
                  <a:spcPct val="0"/>
                </a:spcBef>
              </a:pPr>
              <a:r>
                <a:rPr lang="en-US" sz="2521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Risk of Breaking Production Code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79894" y="7290015"/>
            <a:ext cx="3709675" cy="1351429"/>
            <a:chOff x="0" y="0"/>
            <a:chExt cx="4946234" cy="1801905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4946234" cy="1801905"/>
              <a:chOff x="0" y="0"/>
              <a:chExt cx="761020" cy="27723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61020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761020" h="277238">
                    <a:moveTo>
                      <a:pt x="106435" y="0"/>
                    </a:moveTo>
                    <a:lnTo>
                      <a:pt x="654585" y="0"/>
                    </a:lnTo>
                    <a:cubicBezTo>
                      <a:pt x="713367" y="0"/>
                      <a:pt x="761020" y="47652"/>
                      <a:pt x="761020" y="106435"/>
                    </a:cubicBezTo>
                    <a:lnTo>
                      <a:pt x="761020" y="170804"/>
                    </a:lnTo>
                    <a:cubicBezTo>
                      <a:pt x="761020" y="229586"/>
                      <a:pt x="713367" y="277238"/>
                      <a:pt x="654585" y="277238"/>
                    </a:cubicBezTo>
                    <a:lnTo>
                      <a:pt x="106435" y="277238"/>
                    </a:lnTo>
                    <a:cubicBezTo>
                      <a:pt x="47652" y="277238"/>
                      <a:pt x="0" y="229586"/>
                      <a:pt x="0" y="170804"/>
                    </a:cubicBezTo>
                    <a:lnTo>
                      <a:pt x="0" y="106435"/>
                    </a:lnTo>
                    <a:cubicBezTo>
                      <a:pt x="0" y="47652"/>
                      <a:pt x="47652" y="0"/>
                      <a:pt x="1064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761020" cy="334388"/>
              </a:xfrm>
              <a:prstGeom prst="rect">
                <a:avLst/>
              </a:prstGeom>
            </p:spPr>
            <p:txBody>
              <a:bodyPr lIns="65219" tIns="65219" rIns="65219" bIns="65219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604481" y="295388"/>
              <a:ext cx="3737271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Inappropriate Responsibility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08408" y="3703023"/>
            <a:ext cx="4052649" cy="1351429"/>
            <a:chOff x="0" y="0"/>
            <a:chExt cx="5403532" cy="1801905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403532" cy="1801905"/>
              <a:chOff x="0" y="0"/>
              <a:chExt cx="831379" cy="2772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31379" cy="277238"/>
              </a:xfrm>
              <a:custGeom>
                <a:avLst/>
                <a:gdLst/>
                <a:ahLst/>
                <a:cxnLst/>
                <a:rect l="l" t="t" r="r" b="b"/>
                <a:pathLst>
                  <a:path w="831379" h="277238">
                    <a:moveTo>
                      <a:pt x="97427" y="0"/>
                    </a:moveTo>
                    <a:lnTo>
                      <a:pt x="733952" y="0"/>
                    </a:lnTo>
                    <a:cubicBezTo>
                      <a:pt x="759791" y="0"/>
                      <a:pt x="784572" y="10265"/>
                      <a:pt x="802843" y="28536"/>
                    </a:cubicBezTo>
                    <a:cubicBezTo>
                      <a:pt x="821114" y="46807"/>
                      <a:pt x="831379" y="71588"/>
                      <a:pt x="831379" y="97427"/>
                    </a:cubicBezTo>
                    <a:lnTo>
                      <a:pt x="831379" y="179811"/>
                    </a:lnTo>
                    <a:cubicBezTo>
                      <a:pt x="831379" y="205651"/>
                      <a:pt x="821114" y="230431"/>
                      <a:pt x="802843" y="248703"/>
                    </a:cubicBezTo>
                    <a:cubicBezTo>
                      <a:pt x="784572" y="266974"/>
                      <a:pt x="759791" y="277238"/>
                      <a:pt x="733952" y="277238"/>
                    </a:cubicBezTo>
                    <a:lnTo>
                      <a:pt x="97427" y="277238"/>
                    </a:lnTo>
                    <a:cubicBezTo>
                      <a:pt x="71588" y="277238"/>
                      <a:pt x="46807" y="266974"/>
                      <a:pt x="28536" y="248703"/>
                    </a:cubicBezTo>
                    <a:cubicBezTo>
                      <a:pt x="10265" y="230431"/>
                      <a:pt x="0" y="205651"/>
                      <a:pt x="0" y="179811"/>
                    </a:cubicBezTo>
                    <a:lnTo>
                      <a:pt x="0" y="97427"/>
                    </a:lnTo>
                    <a:cubicBezTo>
                      <a:pt x="0" y="71588"/>
                      <a:pt x="10265" y="46807"/>
                      <a:pt x="28536" y="28536"/>
                    </a:cubicBezTo>
                    <a:cubicBezTo>
                      <a:pt x="46807" y="10265"/>
                      <a:pt x="71588" y="0"/>
                      <a:pt x="9742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831379" cy="334388"/>
              </a:xfrm>
              <a:prstGeom prst="rect">
                <a:avLst/>
              </a:prstGeom>
            </p:spPr>
            <p:txBody>
              <a:bodyPr lIns="65219" tIns="65219" rIns="65219" bIns="65219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295388"/>
              <a:ext cx="5403532" cy="113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2439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Violation of the Open/Closed Principle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1439412" y="1411990"/>
            <a:ext cx="6383434" cy="8554016"/>
          </a:xfrm>
          <a:custGeom>
            <a:avLst/>
            <a:gdLst/>
            <a:ahLst/>
            <a:cxnLst/>
            <a:rect l="l" t="t" r="r" b="b"/>
            <a:pathLst>
              <a:path w="6383434" h="8554016">
                <a:moveTo>
                  <a:pt x="0" y="0"/>
                </a:moveTo>
                <a:lnTo>
                  <a:pt x="6383434" y="0"/>
                </a:lnTo>
                <a:lnTo>
                  <a:pt x="6383434" y="8554016"/>
                </a:lnTo>
                <a:lnTo>
                  <a:pt x="0" y="855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0" name="TextBox 30"/>
          <p:cNvSpPr txBox="1"/>
          <p:nvPr/>
        </p:nvSpPr>
        <p:spPr>
          <a:xfrm>
            <a:off x="-437068" y="1701305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Diagram of Naïve Solution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20099" y="8169325"/>
            <a:ext cx="4878402" cy="48784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20488" y="1735612"/>
            <a:ext cx="2218248" cy="22182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794814" y="2356272"/>
            <a:ext cx="2766957" cy="2787228"/>
          </a:xfrm>
          <a:custGeom>
            <a:avLst/>
            <a:gdLst/>
            <a:ahLst/>
            <a:cxnLst/>
            <a:rect l="l" t="t" r="r" b="b"/>
            <a:pathLst>
              <a:path w="2766957" h="2787228">
                <a:moveTo>
                  <a:pt x="0" y="0"/>
                </a:moveTo>
                <a:lnTo>
                  <a:pt x="2766957" y="0"/>
                </a:lnTo>
                <a:lnTo>
                  <a:pt x="2766957" y="2787228"/>
                </a:lnTo>
                <a:lnTo>
                  <a:pt x="0" y="2787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9" name="Group 9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144000" y="4698485"/>
            <a:ext cx="8524892" cy="3871471"/>
          </a:xfrm>
          <a:custGeom>
            <a:avLst/>
            <a:gdLst/>
            <a:ahLst/>
            <a:cxnLst/>
            <a:rect l="l" t="t" r="r" b="b"/>
            <a:pathLst>
              <a:path w="8524892" h="3871471">
                <a:moveTo>
                  <a:pt x="0" y="0"/>
                </a:moveTo>
                <a:lnTo>
                  <a:pt x="8524892" y="0"/>
                </a:lnTo>
                <a:lnTo>
                  <a:pt x="8524892" y="3871471"/>
                </a:lnTo>
                <a:lnTo>
                  <a:pt x="0" y="3871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9265" r="-2565" b="-21204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6" name="TextBox 16"/>
          <p:cNvSpPr txBox="1"/>
          <p:nvPr/>
        </p:nvSpPr>
        <p:spPr>
          <a:xfrm>
            <a:off x="2005292" y="1840387"/>
            <a:ext cx="14277416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New Approach: Visitor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4163" y="4341553"/>
            <a:ext cx="7601436" cy="448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object-oriented design, the Visitor pattern is a design pattern that allows defining operations on </a:t>
            </a: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set of heterogeneous</a:t>
            </a:r>
            <a:r>
              <a:rPr lang="en-US" sz="36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(in terms of type) </a:t>
            </a: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objects</a:t>
            </a:r>
            <a:r>
              <a:rPr lang="en-US" sz="360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without modifying the definitions of their classes.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97283" y="9258300"/>
            <a:ext cx="8786882" cy="87868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20488" y="1735612"/>
            <a:ext cx="2218248" cy="221824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794814" y="2356272"/>
            <a:ext cx="2766957" cy="2787228"/>
          </a:xfrm>
          <a:custGeom>
            <a:avLst/>
            <a:gdLst/>
            <a:ahLst/>
            <a:cxnLst/>
            <a:rect l="l" t="t" r="r" b="b"/>
            <a:pathLst>
              <a:path w="2766957" h="2787228">
                <a:moveTo>
                  <a:pt x="0" y="0"/>
                </a:moveTo>
                <a:lnTo>
                  <a:pt x="2766957" y="0"/>
                </a:lnTo>
                <a:lnTo>
                  <a:pt x="2766957" y="2787228"/>
                </a:lnTo>
                <a:lnTo>
                  <a:pt x="0" y="2787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9" name="Group 9"/>
          <p:cNvGrpSpPr/>
          <p:nvPr/>
        </p:nvGrpSpPr>
        <p:grpSpPr>
          <a:xfrm>
            <a:off x="9501118" y="5613615"/>
            <a:ext cx="8786882" cy="87868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552029" y="3569673"/>
            <a:ext cx="6685061" cy="7130732"/>
          </a:xfrm>
          <a:custGeom>
            <a:avLst/>
            <a:gdLst/>
            <a:ahLst/>
            <a:cxnLst/>
            <a:rect l="l" t="t" r="r" b="b"/>
            <a:pathLst>
              <a:path w="6685061" h="7130732">
                <a:moveTo>
                  <a:pt x="0" y="0"/>
                </a:moveTo>
                <a:lnTo>
                  <a:pt x="6685061" y="0"/>
                </a:lnTo>
                <a:lnTo>
                  <a:pt x="6685061" y="7130732"/>
                </a:lnTo>
                <a:lnTo>
                  <a:pt x="0" y="7130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TextBox 13"/>
          <p:cNvSpPr txBox="1"/>
          <p:nvPr/>
        </p:nvSpPr>
        <p:spPr>
          <a:xfrm>
            <a:off x="2005292" y="2372296"/>
            <a:ext cx="14277416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New Approach: Visitor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8637" y="5048250"/>
            <a:ext cx="8755363" cy="40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35"/>
              </a:lnSpc>
            </a:pPr>
            <a:r>
              <a:rPr lang="en-US" sz="33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achieve this, the Visitor pattern defines operations in separate classes called </a:t>
            </a:r>
            <a:r>
              <a:rPr lang="en-US" sz="331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visitor classes</a:t>
            </a:r>
            <a:r>
              <a:rPr lang="en-US" sz="33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which enable the separation of operations from the objects they act upon. For each new operation added, a corresponding visitor class is created.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209223" y="28248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673867" y="5035604"/>
            <a:ext cx="6795167" cy="331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Structure of the </a:t>
            </a:r>
          </a:p>
          <a:p>
            <a:pPr algn="ctr">
              <a:lnSpc>
                <a:spcPts val="9974"/>
              </a:lnSpc>
            </a:pPr>
            <a:r>
              <a:rPr lang="en-US" sz="94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VISITOR</a:t>
            </a:r>
          </a:p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Design Pattern</a:t>
            </a:r>
          </a:p>
        </p:txBody>
      </p:sp>
      <p:sp>
        <p:nvSpPr>
          <p:cNvPr id="12" name="Freeform 12"/>
          <p:cNvSpPr/>
          <p:nvPr/>
        </p:nvSpPr>
        <p:spPr>
          <a:xfrm>
            <a:off x="8209223" y="5143500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209223" y="7436972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759206" y="3204145"/>
            <a:ext cx="795011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1B444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Visitor Classes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59206" y="5184331"/>
            <a:ext cx="7950111" cy="159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 i="1">
                <a:solidFill>
                  <a:srgbClr val="1B444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Classes of objects </a:t>
            </a:r>
          </a:p>
          <a:p>
            <a:pPr algn="ctr">
              <a:lnSpc>
                <a:spcPts val="6299"/>
              </a:lnSpc>
            </a:pPr>
            <a:r>
              <a:rPr lang="en-US" sz="4499" b="1" i="1">
                <a:solidFill>
                  <a:srgbClr val="1B444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 the object collection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59867" y="7816254"/>
            <a:ext cx="795011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i="1">
                <a:solidFill>
                  <a:srgbClr val="1B444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Client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5763" y="1630692"/>
            <a:ext cx="9050077" cy="1821328"/>
            <a:chOff x="0" y="0"/>
            <a:chExt cx="12066769" cy="24284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310" y="63319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Visitor Classes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475840" y="3861595"/>
            <a:ext cx="8464769" cy="575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just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Visitor classes handle operations that work with objects. They all follow a shared interface named “</a:t>
            </a: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VisitorInterface</a:t>
            </a: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” which includes methods like “</a:t>
            </a: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visit( ObjectType object) </a:t>
            </a: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</a:p>
          <a:p>
            <a:pPr marL="777240" lvl="1" indent="-388620" algn="just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each object type, there's a corresponding “</a:t>
            </a:r>
            <a:r>
              <a:rPr lang="en-US" sz="3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visit</a:t>
            </a: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” method to process that specific type.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61369" y="4023520"/>
            <a:ext cx="8578866" cy="5725379"/>
          </a:xfrm>
          <a:custGeom>
            <a:avLst/>
            <a:gdLst/>
            <a:ahLst/>
            <a:cxnLst/>
            <a:rect l="l" t="t" r="r" b="b"/>
            <a:pathLst>
              <a:path w="8578866" h="5725379">
                <a:moveTo>
                  <a:pt x="0" y="0"/>
                </a:moveTo>
                <a:lnTo>
                  <a:pt x="8578866" y="0"/>
                </a:lnTo>
                <a:lnTo>
                  <a:pt x="8578866" y="5725379"/>
                </a:lnTo>
                <a:lnTo>
                  <a:pt x="0" y="5725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69"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3" name="Group 13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5763" y="3723583"/>
            <a:ext cx="8614118" cy="6077031"/>
            <a:chOff x="0" y="0"/>
            <a:chExt cx="1886142" cy="13306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86143" cy="1330623"/>
            </a:xfrm>
            <a:custGeom>
              <a:avLst/>
              <a:gdLst/>
              <a:ahLst/>
              <a:cxnLst/>
              <a:rect l="l" t="t" r="r" b="b"/>
              <a:pathLst>
                <a:path w="1886143" h="1330623">
                  <a:moveTo>
                    <a:pt x="1761682" y="1330623"/>
                  </a:moveTo>
                  <a:lnTo>
                    <a:pt x="124460" y="1330623"/>
                  </a:lnTo>
                  <a:cubicBezTo>
                    <a:pt x="55880" y="1330623"/>
                    <a:pt x="0" y="1274743"/>
                    <a:pt x="0" y="120616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61683" y="0"/>
                  </a:lnTo>
                  <a:cubicBezTo>
                    <a:pt x="1830263" y="0"/>
                    <a:pt x="1886143" y="55880"/>
                    <a:pt x="1886143" y="124460"/>
                  </a:cubicBezTo>
                  <a:lnTo>
                    <a:pt x="1886143" y="1206163"/>
                  </a:lnTo>
                  <a:cubicBezTo>
                    <a:pt x="1886143" y="1274743"/>
                    <a:pt x="1830263" y="1330623"/>
                    <a:pt x="1761683" y="133062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164054" y="5274151"/>
            <a:ext cx="7264261" cy="0"/>
          </a:xfrm>
          <a:prstGeom prst="line">
            <a:avLst/>
          </a:prstGeom>
          <a:ln w="66675" cap="rnd">
            <a:solidFill>
              <a:srgbClr val="2B70E4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11" name="Group 11"/>
          <p:cNvGrpSpPr/>
          <p:nvPr/>
        </p:nvGrpSpPr>
        <p:grpSpPr>
          <a:xfrm>
            <a:off x="1164054" y="4378049"/>
            <a:ext cx="404788" cy="404788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39591" y="4378049"/>
            <a:ext cx="404788" cy="404788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15128" y="4378049"/>
            <a:ext cx="404788" cy="404788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64054" y="5688489"/>
            <a:ext cx="8040690" cy="3593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class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Visitor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{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public: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virtual void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visitClass(Class* c)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0;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virtual void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visitStudent(Student* s)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0;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virtual void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visitTeacher(Teacher* t)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0;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virtual void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visitEquipment(Equipment* e)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0;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virtual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~Visitor()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= default</a:t>
            </a: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};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25763" y="1630692"/>
            <a:ext cx="9050077" cy="1821328"/>
            <a:chOff x="0" y="0"/>
            <a:chExt cx="12066769" cy="242843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3310" y="63319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Visitor Classes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989176" y="4280406"/>
            <a:ext cx="439044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ExampleVisitorClass.h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0" y="3723583"/>
            <a:ext cx="8874452" cy="6077031"/>
            <a:chOff x="0" y="0"/>
            <a:chExt cx="1943145" cy="133062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43145" cy="1330623"/>
            </a:xfrm>
            <a:custGeom>
              <a:avLst/>
              <a:gdLst/>
              <a:ahLst/>
              <a:cxnLst/>
              <a:rect l="l" t="t" r="r" b="b"/>
              <a:pathLst>
                <a:path w="1943145" h="1330623">
                  <a:moveTo>
                    <a:pt x="1818685" y="1330623"/>
                  </a:moveTo>
                  <a:lnTo>
                    <a:pt x="124460" y="1330623"/>
                  </a:lnTo>
                  <a:cubicBezTo>
                    <a:pt x="55880" y="1330623"/>
                    <a:pt x="0" y="1274743"/>
                    <a:pt x="0" y="120616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818685" y="0"/>
                  </a:lnTo>
                  <a:cubicBezTo>
                    <a:pt x="1887265" y="0"/>
                    <a:pt x="1943145" y="55880"/>
                    <a:pt x="1943145" y="124460"/>
                  </a:cubicBezTo>
                  <a:lnTo>
                    <a:pt x="1943145" y="1206163"/>
                  </a:lnTo>
                  <a:cubicBezTo>
                    <a:pt x="1943145" y="1274743"/>
                    <a:pt x="1887265" y="1330623"/>
                    <a:pt x="1818685" y="133062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32" name="AutoShape 32"/>
          <p:cNvSpPr/>
          <p:nvPr/>
        </p:nvSpPr>
        <p:spPr>
          <a:xfrm>
            <a:off x="9866695" y="5274151"/>
            <a:ext cx="7110806" cy="0"/>
          </a:xfrm>
          <a:prstGeom prst="line">
            <a:avLst/>
          </a:prstGeom>
          <a:ln w="66675" cap="rnd">
            <a:solidFill>
              <a:srgbClr val="2B70E4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33" name="Group 33"/>
          <p:cNvGrpSpPr/>
          <p:nvPr/>
        </p:nvGrpSpPr>
        <p:grpSpPr>
          <a:xfrm>
            <a:off x="9866695" y="4378049"/>
            <a:ext cx="396237" cy="404788"/>
            <a:chOff x="0" y="0"/>
            <a:chExt cx="6215859" cy="635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32186" y="4378049"/>
            <a:ext cx="396237" cy="404788"/>
            <a:chOff x="0" y="0"/>
            <a:chExt cx="6215859" cy="6350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797677" y="4378049"/>
            <a:ext cx="396237" cy="404788"/>
            <a:chOff x="0" y="0"/>
            <a:chExt cx="6215859" cy="6350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866695" y="5688489"/>
            <a:ext cx="7870833" cy="314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class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XMLExportVisitor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: public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Visitor 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public: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void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visitClass(Class* c)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override;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void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visitStudent(Student* s)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override;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void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visitTeacher(Teacher* t)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override;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void </a:t>
            </a:r>
            <a:r>
              <a:rPr lang="en-US" sz="252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visitEquipment(Equipment* e)</a:t>
            </a: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override;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653262" y="4280406"/>
            <a:ext cx="429769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ExampleVisitorClass.h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673867" y="5035604"/>
            <a:ext cx="6795167" cy="331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Structure of the </a:t>
            </a:r>
          </a:p>
          <a:p>
            <a:pPr algn="ctr">
              <a:lnSpc>
                <a:spcPts val="9974"/>
              </a:lnSpc>
            </a:pPr>
            <a:r>
              <a:rPr lang="en-US" sz="94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VISITOR</a:t>
            </a:r>
          </a:p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Design Pattern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209223" y="2824863"/>
            <a:ext cx="9050077" cy="1821328"/>
            <a:chOff x="0" y="0"/>
            <a:chExt cx="12066769" cy="24284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3310" y="54698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Visitor Classes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09223" y="5143500"/>
            <a:ext cx="9050077" cy="1821328"/>
            <a:chOff x="0" y="0"/>
            <a:chExt cx="12066769" cy="24284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3310" y="95717"/>
              <a:ext cx="10600149" cy="207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Classes of objects </a:t>
              </a:r>
            </a:p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in the object collection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09223" y="7436972"/>
            <a:ext cx="9050077" cy="1821328"/>
            <a:chOff x="0" y="0"/>
            <a:chExt cx="12066769" cy="24284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4192" y="54698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Client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48351" y="3468318"/>
            <a:ext cx="9799409" cy="661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the operations defined in the visitor classes to be executed, the classes of the objects in the collection must implement the </a:t>
            </a:r>
            <a:r>
              <a:rPr lang="en-US" sz="3399" b="1" spc="2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“Visitable”</a:t>
            </a: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interface, which includes a method: “</a:t>
            </a:r>
            <a:r>
              <a:rPr lang="en-US" sz="3399" b="1" spc="2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accept(VisitorInterface visitor)”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the implementation of this method, the visitor's </a:t>
            </a:r>
            <a:r>
              <a:rPr lang="en-US" sz="3399" b="1" spc="20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“visit</a:t>
            </a:r>
            <a:r>
              <a:rPr lang="en-US" sz="3399" spc="2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” method is called with the calling object itself passed as the parameter.</a:t>
            </a:r>
          </a:p>
        </p:txBody>
      </p:sp>
      <p:sp>
        <p:nvSpPr>
          <p:cNvPr id="9" name="Freeform 9"/>
          <p:cNvSpPr/>
          <p:nvPr/>
        </p:nvSpPr>
        <p:spPr>
          <a:xfrm>
            <a:off x="2026970" y="3764797"/>
            <a:ext cx="5255823" cy="6131058"/>
          </a:xfrm>
          <a:custGeom>
            <a:avLst/>
            <a:gdLst/>
            <a:ahLst/>
            <a:cxnLst/>
            <a:rect l="l" t="t" r="r" b="b"/>
            <a:pathLst>
              <a:path w="5255823" h="6131058">
                <a:moveTo>
                  <a:pt x="0" y="0"/>
                </a:moveTo>
                <a:lnTo>
                  <a:pt x="5255822" y="0"/>
                </a:lnTo>
                <a:lnTo>
                  <a:pt x="5255822" y="6131057"/>
                </a:lnTo>
                <a:lnTo>
                  <a:pt x="0" y="6131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924" b="-15742"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33545" y="1629562"/>
            <a:ext cx="9050077" cy="1821328"/>
            <a:chOff x="0" y="0"/>
            <a:chExt cx="12066769" cy="24284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3310" y="95717"/>
              <a:ext cx="10600149" cy="207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Classes of objects </a:t>
              </a:r>
            </a:p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in the object collection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223035" y="2120449"/>
            <a:ext cx="3023051" cy="302305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235328" y="579333"/>
            <a:ext cx="4244548" cy="591985"/>
            <a:chOff x="0" y="0"/>
            <a:chExt cx="5659398" cy="789314"/>
          </a:xfrm>
        </p:grpSpPr>
        <p:grpSp>
          <p:nvGrpSpPr>
            <p:cNvPr id="16" name="Group 16"/>
            <p:cNvGrpSpPr/>
            <p:nvPr/>
          </p:nvGrpSpPr>
          <p:grpSpPr>
            <a:xfrm>
              <a:off x="147051" y="0"/>
              <a:ext cx="5365296" cy="789314"/>
              <a:chOff x="0" y="0"/>
              <a:chExt cx="1059812" cy="15591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59812" cy="155914"/>
              </a:xfrm>
              <a:custGeom>
                <a:avLst/>
                <a:gdLst/>
                <a:ahLst/>
                <a:cxnLst/>
                <a:rect l="l" t="t" r="r" b="b"/>
                <a:pathLst>
                  <a:path w="1059812" h="155914">
                    <a:moveTo>
                      <a:pt x="77957" y="0"/>
                    </a:moveTo>
                    <a:lnTo>
                      <a:pt x="981855" y="0"/>
                    </a:lnTo>
                    <a:cubicBezTo>
                      <a:pt x="1002530" y="0"/>
                      <a:pt x="1022359" y="8213"/>
                      <a:pt x="1036979" y="22833"/>
                    </a:cubicBezTo>
                    <a:cubicBezTo>
                      <a:pt x="1051598" y="37453"/>
                      <a:pt x="1059812" y="57281"/>
                      <a:pt x="1059812" y="77957"/>
                    </a:cubicBezTo>
                    <a:lnTo>
                      <a:pt x="1059812" y="77957"/>
                    </a:lnTo>
                    <a:cubicBezTo>
                      <a:pt x="1059812" y="98632"/>
                      <a:pt x="1051598" y="118461"/>
                      <a:pt x="1036979" y="133081"/>
                    </a:cubicBezTo>
                    <a:cubicBezTo>
                      <a:pt x="1022359" y="147701"/>
                      <a:pt x="1002530" y="155914"/>
                      <a:pt x="981855" y="155914"/>
                    </a:cubicBezTo>
                    <a:lnTo>
                      <a:pt x="77957" y="155914"/>
                    </a:lnTo>
                    <a:cubicBezTo>
                      <a:pt x="57281" y="155914"/>
                      <a:pt x="37453" y="147701"/>
                      <a:pt x="22833" y="133081"/>
                    </a:cubicBezTo>
                    <a:cubicBezTo>
                      <a:pt x="8213" y="118461"/>
                      <a:pt x="0" y="98632"/>
                      <a:pt x="0" y="77957"/>
                    </a:cubicBezTo>
                    <a:lnTo>
                      <a:pt x="0" y="77957"/>
                    </a:lnTo>
                    <a:cubicBezTo>
                      <a:pt x="0" y="57281"/>
                      <a:pt x="8213" y="37453"/>
                      <a:pt x="22833" y="22833"/>
                    </a:cubicBezTo>
                    <a:cubicBezTo>
                      <a:pt x="37453" y="8213"/>
                      <a:pt x="57281" y="0"/>
                      <a:pt x="7795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1059812" cy="2130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126899"/>
              <a:ext cx="5659398" cy="468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Object-Oriented Programming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8394" y="1209785"/>
            <a:ext cx="9050077" cy="1821328"/>
            <a:chOff x="0" y="0"/>
            <a:chExt cx="12066769" cy="24284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3310" y="95717"/>
              <a:ext cx="10600149" cy="207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Classes of objects </a:t>
              </a:r>
            </a:p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in the object collection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40669" y="3279455"/>
            <a:ext cx="9266347" cy="6803471"/>
            <a:chOff x="0" y="0"/>
            <a:chExt cx="1812313" cy="133062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12313" cy="1330623"/>
            </a:xfrm>
            <a:custGeom>
              <a:avLst/>
              <a:gdLst/>
              <a:ahLst/>
              <a:cxnLst/>
              <a:rect l="l" t="t" r="r" b="b"/>
              <a:pathLst>
                <a:path w="1812313" h="1330623">
                  <a:moveTo>
                    <a:pt x="1687853" y="1330623"/>
                  </a:moveTo>
                  <a:lnTo>
                    <a:pt x="124460" y="1330623"/>
                  </a:lnTo>
                  <a:cubicBezTo>
                    <a:pt x="55880" y="1330623"/>
                    <a:pt x="0" y="1274743"/>
                    <a:pt x="0" y="120616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87853" y="0"/>
                  </a:lnTo>
                  <a:cubicBezTo>
                    <a:pt x="1756433" y="0"/>
                    <a:pt x="1812313" y="55880"/>
                    <a:pt x="1812313" y="124460"/>
                  </a:cubicBezTo>
                  <a:lnTo>
                    <a:pt x="1812313" y="1206163"/>
                  </a:lnTo>
                  <a:cubicBezTo>
                    <a:pt x="1812313" y="1274743"/>
                    <a:pt x="1756433" y="1330623"/>
                    <a:pt x="1687853" y="133062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5" name="AutoShape 25"/>
          <p:cNvSpPr/>
          <p:nvPr/>
        </p:nvSpPr>
        <p:spPr>
          <a:xfrm>
            <a:off x="4772148" y="4830023"/>
            <a:ext cx="7110806" cy="0"/>
          </a:xfrm>
          <a:prstGeom prst="line">
            <a:avLst/>
          </a:prstGeom>
          <a:ln w="66675" cap="rnd">
            <a:solidFill>
              <a:srgbClr val="2B70E4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26" name="Group 26"/>
          <p:cNvGrpSpPr/>
          <p:nvPr/>
        </p:nvGrpSpPr>
        <p:grpSpPr>
          <a:xfrm>
            <a:off x="4772148" y="3933921"/>
            <a:ext cx="396237" cy="404788"/>
            <a:chOff x="0" y="0"/>
            <a:chExt cx="6215859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7639" y="3933921"/>
            <a:ext cx="396237" cy="404788"/>
            <a:chOff x="0" y="0"/>
            <a:chExt cx="6215859" cy="635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03130" y="3933921"/>
            <a:ext cx="396237" cy="404788"/>
            <a:chOff x="0" y="0"/>
            <a:chExt cx="6215859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753440" y="5086350"/>
            <a:ext cx="7466478" cy="4912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void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Student::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accept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(Visitor* v)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{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v-&gt;visitStudent(this);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void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Teacher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::accept(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Visitor* v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 {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 v-&gt;visitTeacher(this);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void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Equipment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::accept(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Visitor* v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 {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 v-&gt;visitEquipment(this);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void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Class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::accept(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Visitor* v</a:t>
            </a: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 {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28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v-&gt;visitClass(this);</a:t>
            </a:r>
          </a:p>
          <a:p>
            <a:pPr algn="l">
              <a:lnSpc>
                <a:spcPts val="3260"/>
              </a:lnSpc>
              <a:spcBef>
                <a:spcPct val="0"/>
              </a:spcBef>
            </a:pPr>
            <a:r>
              <a:rPr lang="en-US" sz="2328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58715" y="3836277"/>
            <a:ext cx="511847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ExampleObjectClass.cpp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673867" y="5035604"/>
            <a:ext cx="6795167" cy="331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Structure of the </a:t>
            </a:r>
          </a:p>
          <a:p>
            <a:pPr algn="ctr">
              <a:lnSpc>
                <a:spcPts val="9974"/>
              </a:lnSpc>
            </a:pPr>
            <a:r>
              <a:rPr lang="en-US" sz="94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VISITOR</a:t>
            </a:r>
          </a:p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Design Pattern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209223" y="2824863"/>
            <a:ext cx="9050077" cy="1821328"/>
            <a:chOff x="0" y="0"/>
            <a:chExt cx="12066769" cy="24284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3310" y="54698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Visitor Classes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09223" y="5143500"/>
            <a:ext cx="9050077" cy="1821328"/>
            <a:chOff x="0" y="0"/>
            <a:chExt cx="12066769" cy="24284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3310" y="95717"/>
              <a:ext cx="10600149" cy="207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Classes of objects </a:t>
              </a:r>
            </a:p>
            <a:p>
              <a:pPr algn="ctr">
                <a:lnSpc>
                  <a:spcPts val="6299"/>
                </a:lnSpc>
              </a:pPr>
              <a:r>
                <a:rPr lang="en-US" sz="4499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in the object collection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09223" y="7436972"/>
            <a:ext cx="9050077" cy="1821328"/>
            <a:chOff x="0" y="0"/>
            <a:chExt cx="12066769" cy="24284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4192" y="54698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Client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86679" y="3410706"/>
            <a:ext cx="9370941" cy="5756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29" lvl="1" indent="-388614" algn="l">
              <a:lnSpc>
                <a:spcPts val="5039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Client  is the component responsible for organizing and coordinating</a:t>
            </a: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use of the Visitor to perform operations on the Objects . </a:t>
            </a:r>
          </a:p>
          <a:p>
            <a:pPr marL="777229" lvl="1" indent="-388614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Client acts as the "user" of the design pattern, </a:t>
            </a:r>
            <a:r>
              <a:rPr lang="en-US" sz="3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ensuring that the Objects and the Visitor are properly connected</a:t>
            </a: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execute the desired functionalities.</a:t>
            </a:r>
          </a:p>
        </p:txBody>
      </p:sp>
      <p:sp>
        <p:nvSpPr>
          <p:cNvPr id="9" name="Freeform 9"/>
          <p:cNvSpPr/>
          <p:nvPr/>
        </p:nvSpPr>
        <p:spPr>
          <a:xfrm>
            <a:off x="2131342" y="3685318"/>
            <a:ext cx="5498728" cy="5950637"/>
          </a:xfrm>
          <a:custGeom>
            <a:avLst/>
            <a:gdLst/>
            <a:ahLst/>
            <a:cxnLst/>
            <a:rect l="l" t="t" r="r" b="b"/>
            <a:pathLst>
              <a:path w="5498728" h="5950637">
                <a:moveTo>
                  <a:pt x="0" y="0"/>
                </a:moveTo>
                <a:lnTo>
                  <a:pt x="5498728" y="0"/>
                </a:lnTo>
                <a:lnTo>
                  <a:pt x="5498728" y="5950637"/>
                </a:lnTo>
                <a:lnTo>
                  <a:pt x="0" y="595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834" b="-21860"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65193" y="1630692"/>
            <a:ext cx="9050077" cy="1821328"/>
            <a:chOff x="0" y="0"/>
            <a:chExt cx="12066769" cy="24284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192" y="54698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Client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1224" y="2296668"/>
            <a:ext cx="8642776" cy="7662020"/>
            <a:chOff x="0" y="0"/>
            <a:chExt cx="1741457" cy="15438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1457" cy="1543842"/>
            </a:xfrm>
            <a:custGeom>
              <a:avLst/>
              <a:gdLst/>
              <a:ahLst/>
              <a:cxnLst/>
              <a:rect l="l" t="t" r="r" b="b"/>
              <a:pathLst>
                <a:path w="1741457" h="1543842">
                  <a:moveTo>
                    <a:pt x="1616997" y="1543841"/>
                  </a:moveTo>
                  <a:lnTo>
                    <a:pt x="124460" y="1543841"/>
                  </a:lnTo>
                  <a:cubicBezTo>
                    <a:pt x="55880" y="1543841"/>
                    <a:pt x="0" y="1487961"/>
                    <a:pt x="0" y="14193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16997" y="0"/>
                  </a:lnTo>
                  <a:cubicBezTo>
                    <a:pt x="1685577" y="0"/>
                    <a:pt x="1741457" y="55880"/>
                    <a:pt x="1741457" y="124460"/>
                  </a:cubicBezTo>
                  <a:lnTo>
                    <a:pt x="1741457" y="1419381"/>
                  </a:lnTo>
                  <a:cubicBezTo>
                    <a:pt x="1741457" y="1487961"/>
                    <a:pt x="1685577" y="1543842"/>
                    <a:pt x="1616997" y="154384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012426" y="3929399"/>
            <a:ext cx="7442129" cy="0"/>
          </a:xfrm>
          <a:prstGeom prst="line">
            <a:avLst/>
          </a:prstGeom>
          <a:ln w="66675" cap="rnd">
            <a:solidFill>
              <a:srgbClr val="2B70E4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942146" y="4189361"/>
            <a:ext cx="7270087" cy="461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class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Application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private: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std::vector&lt;SchoolEntity*&gt;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entities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public: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...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void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addEntity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(SchoolEntity*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entity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void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exportToXML()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BE5ED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BE5ED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618962" y="338015"/>
            <a:ext cx="9050077" cy="1821328"/>
            <a:chOff x="0" y="0"/>
            <a:chExt cx="12066769" cy="24284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66769" cy="2428437"/>
            </a:xfrm>
            <a:custGeom>
              <a:avLst/>
              <a:gdLst/>
              <a:ahLst/>
              <a:cxnLst/>
              <a:rect l="l" t="t" r="r" b="b"/>
              <a:pathLst>
                <a:path w="12066769" h="2428437">
                  <a:moveTo>
                    <a:pt x="0" y="0"/>
                  </a:moveTo>
                  <a:lnTo>
                    <a:pt x="12066769" y="0"/>
                  </a:lnTo>
                  <a:lnTo>
                    <a:pt x="12066769" y="2428437"/>
                  </a:lnTo>
                  <a:lnTo>
                    <a:pt x="0" y="2428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4192" y="546984"/>
              <a:ext cx="10600149" cy="1038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1" i="1">
                  <a:solidFill>
                    <a:srgbClr val="1B444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The Client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194455" y="3105486"/>
            <a:ext cx="466002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ExampleTheClient.cpp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39250" y="2296668"/>
            <a:ext cx="8642776" cy="7662020"/>
            <a:chOff x="0" y="0"/>
            <a:chExt cx="1741457" cy="15438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41457" cy="1543842"/>
            </a:xfrm>
            <a:custGeom>
              <a:avLst/>
              <a:gdLst/>
              <a:ahLst/>
              <a:cxnLst/>
              <a:rect l="l" t="t" r="r" b="b"/>
              <a:pathLst>
                <a:path w="1741457" h="1543842">
                  <a:moveTo>
                    <a:pt x="1616997" y="1543841"/>
                  </a:moveTo>
                  <a:lnTo>
                    <a:pt x="124460" y="1543841"/>
                  </a:lnTo>
                  <a:cubicBezTo>
                    <a:pt x="55880" y="1543841"/>
                    <a:pt x="0" y="1487961"/>
                    <a:pt x="0" y="14193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16997" y="0"/>
                  </a:lnTo>
                  <a:cubicBezTo>
                    <a:pt x="1685577" y="0"/>
                    <a:pt x="1741457" y="55880"/>
                    <a:pt x="1741457" y="124460"/>
                  </a:cubicBezTo>
                  <a:lnTo>
                    <a:pt x="1741457" y="1419381"/>
                  </a:lnTo>
                  <a:cubicBezTo>
                    <a:pt x="1741457" y="1487961"/>
                    <a:pt x="1685577" y="1543842"/>
                    <a:pt x="1616997" y="154384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9750452" y="3929399"/>
            <a:ext cx="7442129" cy="0"/>
          </a:xfrm>
          <a:prstGeom prst="line">
            <a:avLst/>
          </a:prstGeom>
          <a:ln w="66675" cap="rnd">
            <a:solidFill>
              <a:srgbClr val="2B70E4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TextBox 23"/>
          <p:cNvSpPr txBox="1"/>
          <p:nvPr/>
        </p:nvSpPr>
        <p:spPr>
          <a:xfrm>
            <a:off x="11932481" y="3105486"/>
            <a:ext cx="50387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ExampleMain.cpp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10503" y="4017219"/>
            <a:ext cx="8371523" cy="587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int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main()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{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   Application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schoolApp;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Class*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 scienceClass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new Class("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Science 101"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 Student*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student1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new Student("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S1001", "Alice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");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Teacher*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 teacher1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new Teacher("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T2001", "Physics"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Equipment*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microscope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 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new Equipment(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"E3001", "HPMicro"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scienceClass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-&gt;addMember(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student1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scienceClass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-&gt;addMember(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teacher1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  scienceClass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-&gt;addMember(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microscope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schoolApp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addEntity(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scienceClass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399">
                <a:solidFill>
                  <a:srgbClr val="2B70E4"/>
                </a:solidFill>
                <a:latin typeface="Poppins"/>
                <a:ea typeface="Poppins"/>
                <a:cs typeface="Poppins"/>
                <a:sym typeface="Poppins"/>
              </a:rPr>
              <a:t> schoolApp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exportToXML();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....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E5ED7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90960" y="3224573"/>
            <a:ext cx="396237" cy="404788"/>
            <a:chOff x="0" y="0"/>
            <a:chExt cx="6215859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56451" y="3224573"/>
            <a:ext cx="396237" cy="404788"/>
            <a:chOff x="0" y="0"/>
            <a:chExt cx="6215859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21942" y="3224573"/>
            <a:ext cx="396237" cy="404788"/>
            <a:chOff x="0" y="0"/>
            <a:chExt cx="6215859" cy="635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874631" y="3224573"/>
            <a:ext cx="396237" cy="404788"/>
            <a:chOff x="0" y="0"/>
            <a:chExt cx="6215859" cy="6350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340122" y="3224573"/>
            <a:ext cx="396237" cy="404788"/>
            <a:chOff x="0" y="0"/>
            <a:chExt cx="6215859" cy="635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805613" y="3224573"/>
            <a:ext cx="396237" cy="404788"/>
            <a:chOff x="0" y="0"/>
            <a:chExt cx="6215859" cy="6350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15859" cy="6350000"/>
            </a:xfrm>
            <a:custGeom>
              <a:avLst/>
              <a:gdLst/>
              <a:ahLst/>
              <a:cxnLst/>
              <a:rect l="l" t="t" r="r" b="b"/>
              <a:pathLst>
                <a:path w="6215859" h="6350000">
                  <a:moveTo>
                    <a:pt x="3107929" y="0"/>
                  </a:moveTo>
                  <a:cubicBezTo>
                    <a:pt x="1391467" y="0"/>
                    <a:pt x="0" y="1421496"/>
                    <a:pt x="0" y="3175000"/>
                  </a:cubicBezTo>
                  <a:cubicBezTo>
                    <a:pt x="0" y="4928504"/>
                    <a:pt x="1391467" y="6350000"/>
                    <a:pt x="3107929" y="6350000"/>
                  </a:cubicBezTo>
                  <a:cubicBezTo>
                    <a:pt x="4824391" y="6350000"/>
                    <a:pt x="6215859" y="4928504"/>
                    <a:pt x="6215859" y="3175000"/>
                  </a:cubicBezTo>
                  <a:cubicBezTo>
                    <a:pt x="6215859" y="1421496"/>
                    <a:pt x="4824391" y="0"/>
                    <a:pt x="310792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vi-VN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1722" y="-652517"/>
            <a:ext cx="2789157" cy="27891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803441" y="3651828"/>
            <a:ext cx="6362972" cy="636297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73446">
            <a:off x="-1199208" y="6665144"/>
            <a:ext cx="4024128" cy="3877796"/>
          </a:xfrm>
          <a:custGeom>
            <a:avLst/>
            <a:gdLst/>
            <a:ahLst/>
            <a:cxnLst/>
            <a:rect l="l" t="t" r="r" b="b"/>
            <a:pathLst>
              <a:path w="4024128" h="3877796">
                <a:moveTo>
                  <a:pt x="0" y="0"/>
                </a:moveTo>
                <a:lnTo>
                  <a:pt x="4024129" y="0"/>
                </a:lnTo>
                <a:lnTo>
                  <a:pt x="4024129" y="3877797"/>
                </a:lnTo>
                <a:lnTo>
                  <a:pt x="0" y="3877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7375427" y="2136640"/>
            <a:ext cx="10856028" cy="6225349"/>
          </a:xfrm>
          <a:custGeom>
            <a:avLst/>
            <a:gdLst/>
            <a:ahLst/>
            <a:cxnLst/>
            <a:rect l="l" t="t" r="r" b="b"/>
            <a:pathLst>
              <a:path w="10856028" h="6225349">
                <a:moveTo>
                  <a:pt x="0" y="0"/>
                </a:moveTo>
                <a:lnTo>
                  <a:pt x="10856028" y="0"/>
                </a:lnTo>
                <a:lnTo>
                  <a:pt x="10856028" y="6225349"/>
                </a:lnTo>
                <a:lnTo>
                  <a:pt x="0" y="62253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243350" y="4166235"/>
            <a:ext cx="6181178" cy="205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 General Class Diagram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1722" y="-652517"/>
            <a:ext cx="2789157" cy="27891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803441" y="3651828"/>
            <a:ext cx="6362972" cy="636297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73446">
            <a:off x="-1199208" y="6665144"/>
            <a:ext cx="4024128" cy="3877796"/>
          </a:xfrm>
          <a:custGeom>
            <a:avLst/>
            <a:gdLst/>
            <a:ahLst/>
            <a:cxnLst/>
            <a:rect l="l" t="t" r="r" b="b"/>
            <a:pathLst>
              <a:path w="4024128" h="3877796">
                <a:moveTo>
                  <a:pt x="0" y="0"/>
                </a:moveTo>
                <a:lnTo>
                  <a:pt x="4024129" y="0"/>
                </a:lnTo>
                <a:lnTo>
                  <a:pt x="4024129" y="3877797"/>
                </a:lnTo>
                <a:lnTo>
                  <a:pt x="0" y="3877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6667877" y="1028700"/>
            <a:ext cx="11321301" cy="8229600"/>
          </a:xfrm>
          <a:custGeom>
            <a:avLst/>
            <a:gdLst/>
            <a:ahLst/>
            <a:cxnLst/>
            <a:rect l="l" t="t" r="r" b="b"/>
            <a:pathLst>
              <a:path w="11321301" h="8229600">
                <a:moveTo>
                  <a:pt x="0" y="0"/>
                </a:moveTo>
                <a:lnTo>
                  <a:pt x="11321301" y="0"/>
                </a:lnTo>
                <a:lnTo>
                  <a:pt x="113213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0" y="4166235"/>
            <a:ext cx="6667877" cy="205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Diagram for the  problem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90639" y="4162612"/>
            <a:ext cx="8446721" cy="844672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375756" y="1192045"/>
            <a:ext cx="3951455" cy="395145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82745" y="3688264"/>
            <a:ext cx="471973" cy="554100"/>
            <a:chOff x="0" y="0"/>
            <a:chExt cx="629297" cy="738801"/>
          </a:xfrm>
        </p:grpSpPr>
        <p:grpSp>
          <p:nvGrpSpPr>
            <p:cNvPr id="9" name="Group 9"/>
            <p:cNvGrpSpPr/>
            <p:nvPr/>
          </p:nvGrpSpPr>
          <p:grpSpPr>
            <a:xfrm>
              <a:off x="4629" y="53169"/>
              <a:ext cx="620040" cy="632463"/>
              <a:chOff x="0" y="0"/>
              <a:chExt cx="104912" cy="10701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104912" cy="1736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-114300"/>
              <a:ext cx="629297" cy="85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9"/>
                </a:lnSpc>
              </a:pPr>
              <a:r>
                <a:rPr lang="en-US" sz="3685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004051" y="6153811"/>
            <a:ext cx="12298949" cy="2864857"/>
          </a:xfrm>
          <a:custGeom>
            <a:avLst/>
            <a:gdLst/>
            <a:ahLst/>
            <a:cxnLst/>
            <a:rect l="l" t="t" r="r" b="b"/>
            <a:pathLst>
              <a:path w="12298949" h="2864857">
                <a:moveTo>
                  <a:pt x="0" y="0"/>
                </a:moveTo>
                <a:lnTo>
                  <a:pt x="12298948" y="0"/>
                </a:lnTo>
                <a:lnTo>
                  <a:pt x="12298948" y="2864857"/>
                </a:lnTo>
                <a:lnTo>
                  <a:pt x="0" y="2864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0" name="TextBox 20"/>
          <p:cNvSpPr txBox="1"/>
          <p:nvPr/>
        </p:nvSpPr>
        <p:spPr>
          <a:xfrm>
            <a:off x="1876107" y="1963972"/>
            <a:ext cx="78128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Im</a:t>
            </a: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plementation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63482" y="3583489"/>
            <a:ext cx="14995818" cy="128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Declare the visitor interface</a:t>
            </a:r>
            <a:r>
              <a:rPr lang="en-US" sz="360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with a set of “visiting” methods, one per each concreate element class that exists in the program.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90639" y="4162612"/>
            <a:ext cx="8446721" cy="844672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375756" y="1192045"/>
            <a:ext cx="3951455" cy="395145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46496" y="3813726"/>
            <a:ext cx="471973" cy="554100"/>
            <a:chOff x="0" y="0"/>
            <a:chExt cx="629297" cy="738801"/>
          </a:xfrm>
        </p:grpSpPr>
        <p:grpSp>
          <p:nvGrpSpPr>
            <p:cNvPr id="15" name="Group 15"/>
            <p:cNvGrpSpPr/>
            <p:nvPr/>
          </p:nvGrpSpPr>
          <p:grpSpPr>
            <a:xfrm>
              <a:off x="4629" y="53169"/>
              <a:ext cx="620040" cy="632463"/>
              <a:chOff x="0" y="0"/>
              <a:chExt cx="104912" cy="1070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66675"/>
                <a:ext cx="104912" cy="1736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-114300"/>
              <a:ext cx="629297" cy="85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9"/>
                </a:lnSpc>
              </a:pPr>
              <a:r>
                <a:rPr lang="en-US" sz="3685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994526" y="6246411"/>
            <a:ext cx="12298949" cy="2864857"/>
          </a:xfrm>
          <a:custGeom>
            <a:avLst/>
            <a:gdLst/>
            <a:ahLst/>
            <a:cxnLst/>
            <a:rect l="l" t="t" r="r" b="b"/>
            <a:pathLst>
              <a:path w="12298949" h="2864857">
                <a:moveTo>
                  <a:pt x="0" y="0"/>
                </a:moveTo>
                <a:lnTo>
                  <a:pt x="12298948" y="0"/>
                </a:lnTo>
                <a:lnTo>
                  <a:pt x="12298948" y="2864858"/>
                </a:lnTo>
                <a:lnTo>
                  <a:pt x="0" y="2864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0" name="TextBox 20"/>
          <p:cNvSpPr txBox="1"/>
          <p:nvPr/>
        </p:nvSpPr>
        <p:spPr>
          <a:xfrm>
            <a:off x="1876107" y="1963972"/>
            <a:ext cx="78128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Im</a:t>
            </a: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plementation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69857" y="3708951"/>
            <a:ext cx="14044142" cy="192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Declare the element interface.</a:t>
            </a:r>
            <a:r>
              <a:rPr lang="en-US" sz="36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If you’re working with an existing element class hierarchy, add the abstract “accept” method to the base class of the hierarchy.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38471" y="1192045"/>
            <a:ext cx="3951455" cy="395145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72859" y="6031456"/>
            <a:ext cx="8446721" cy="84467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59940" y="3547891"/>
            <a:ext cx="471973" cy="554100"/>
            <a:chOff x="0" y="0"/>
            <a:chExt cx="629297" cy="738801"/>
          </a:xfrm>
        </p:grpSpPr>
        <p:grpSp>
          <p:nvGrpSpPr>
            <p:cNvPr id="15" name="Group 15"/>
            <p:cNvGrpSpPr/>
            <p:nvPr/>
          </p:nvGrpSpPr>
          <p:grpSpPr>
            <a:xfrm>
              <a:off x="4629" y="53169"/>
              <a:ext cx="620040" cy="632463"/>
              <a:chOff x="0" y="0"/>
              <a:chExt cx="104912" cy="1070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66675"/>
                <a:ext cx="104912" cy="1736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-114300"/>
              <a:ext cx="629297" cy="85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9"/>
                </a:lnSpc>
              </a:pPr>
              <a:r>
                <a:rPr lang="en-US" sz="3685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9797264" y="3078111"/>
            <a:ext cx="8290090" cy="5906689"/>
          </a:xfrm>
          <a:custGeom>
            <a:avLst/>
            <a:gdLst/>
            <a:ahLst/>
            <a:cxnLst/>
            <a:rect l="l" t="t" r="r" b="b"/>
            <a:pathLst>
              <a:path w="8290090" h="5906689">
                <a:moveTo>
                  <a:pt x="0" y="0"/>
                </a:moveTo>
                <a:lnTo>
                  <a:pt x="8290090" y="0"/>
                </a:lnTo>
                <a:lnTo>
                  <a:pt x="8290090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0" name="TextBox 20"/>
          <p:cNvSpPr txBox="1"/>
          <p:nvPr/>
        </p:nvSpPr>
        <p:spPr>
          <a:xfrm>
            <a:off x="1859940" y="1888636"/>
            <a:ext cx="78128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Im</a:t>
            </a: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plementation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30926" y="3443116"/>
            <a:ext cx="7018688" cy="511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 the accept methods in all concrete element classes</a:t>
            </a:r>
            <a:r>
              <a:rPr lang="en-US" sz="3599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These methods must simply redirect the call to a visiting method on the incoming visitor object which matches the class of the current element.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38471" y="1192045"/>
            <a:ext cx="3951455" cy="395145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72859" y="6031456"/>
            <a:ext cx="8446721" cy="84467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59940" y="3471691"/>
            <a:ext cx="471973" cy="554100"/>
            <a:chOff x="0" y="0"/>
            <a:chExt cx="629297" cy="738801"/>
          </a:xfrm>
        </p:grpSpPr>
        <p:grpSp>
          <p:nvGrpSpPr>
            <p:cNvPr id="15" name="Group 15"/>
            <p:cNvGrpSpPr/>
            <p:nvPr/>
          </p:nvGrpSpPr>
          <p:grpSpPr>
            <a:xfrm>
              <a:off x="4629" y="53169"/>
              <a:ext cx="620040" cy="632463"/>
              <a:chOff x="0" y="0"/>
              <a:chExt cx="104912" cy="10701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66675"/>
                <a:ext cx="104912" cy="1736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-114300"/>
              <a:ext cx="629297" cy="85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9"/>
                </a:lnSpc>
              </a:pPr>
              <a:r>
                <a:rPr lang="en-US" sz="3685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9872776" y="2938291"/>
            <a:ext cx="8290426" cy="5906689"/>
          </a:xfrm>
          <a:custGeom>
            <a:avLst/>
            <a:gdLst/>
            <a:ahLst/>
            <a:cxnLst/>
            <a:rect l="l" t="t" r="r" b="b"/>
            <a:pathLst>
              <a:path w="8290426" h="5906689">
                <a:moveTo>
                  <a:pt x="0" y="0"/>
                </a:moveTo>
                <a:lnTo>
                  <a:pt x="8290426" y="0"/>
                </a:lnTo>
                <a:lnTo>
                  <a:pt x="8290426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0" name="TextBox 20"/>
          <p:cNvSpPr txBox="1"/>
          <p:nvPr/>
        </p:nvSpPr>
        <p:spPr>
          <a:xfrm>
            <a:off x="1859940" y="1888636"/>
            <a:ext cx="78128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Im</a:t>
            </a: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plementation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30926" y="3366916"/>
            <a:ext cx="7141825" cy="448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The element classes should only work with visitors via the visitor interface</a:t>
            </a:r>
            <a:r>
              <a:rPr lang="en-US" sz="3599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Visitors, however, must be aware of all concrete element classes, referenced as parameter types of the visiting method.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94382" y="6600987"/>
            <a:ext cx="5968980" cy="59689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338471" y="1192045"/>
            <a:ext cx="3951455" cy="395145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516235" y="7617151"/>
            <a:ext cx="3771765" cy="2965550"/>
          </a:xfrm>
          <a:custGeom>
            <a:avLst/>
            <a:gdLst/>
            <a:ahLst/>
            <a:cxnLst/>
            <a:rect l="l" t="t" r="r" b="b"/>
            <a:pathLst>
              <a:path w="3771765" h="2965550">
                <a:moveTo>
                  <a:pt x="0" y="0"/>
                </a:moveTo>
                <a:lnTo>
                  <a:pt x="3771765" y="0"/>
                </a:lnTo>
                <a:lnTo>
                  <a:pt x="3771765" y="2965549"/>
                </a:lnTo>
                <a:lnTo>
                  <a:pt x="0" y="296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TextBox 9"/>
          <p:cNvSpPr txBox="1"/>
          <p:nvPr/>
        </p:nvSpPr>
        <p:spPr>
          <a:xfrm>
            <a:off x="1876107" y="1963972"/>
            <a:ext cx="78128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Im</a:t>
            </a: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plementation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51440" y="3518451"/>
            <a:ext cx="11684563" cy="256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For each behavior that </a:t>
            </a: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can’t be implemented</a:t>
            </a: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inside the </a:t>
            </a: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element</a:t>
            </a: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hierarchy, </a:t>
            </a: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a new concrete visitor class</a:t>
            </a: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and implement all of the visiting methods.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9218" y="6694088"/>
            <a:ext cx="11676785" cy="128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The client must </a:t>
            </a: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visitor objects</a:t>
            </a: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pass</a:t>
            </a:r>
            <a:r>
              <a:rPr lang="en-US" sz="3599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them into elements via</a:t>
            </a:r>
            <a:r>
              <a:rPr lang="en-US" sz="3599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99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“accept” methods.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764998"/>
            <a:ext cx="3626181" cy="375376"/>
            <a:chOff x="0" y="0"/>
            <a:chExt cx="4834908" cy="50050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834908" cy="500502"/>
              <a:chOff x="0" y="0"/>
              <a:chExt cx="955044" cy="9886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55044" cy="98865"/>
              </a:xfrm>
              <a:custGeom>
                <a:avLst/>
                <a:gdLst/>
                <a:ahLst/>
                <a:cxnLst/>
                <a:rect l="l" t="t" r="r" b="b"/>
                <a:pathLst>
                  <a:path w="955044" h="98865">
                    <a:moveTo>
                      <a:pt x="49432" y="0"/>
                    </a:moveTo>
                    <a:lnTo>
                      <a:pt x="905611" y="0"/>
                    </a:lnTo>
                    <a:cubicBezTo>
                      <a:pt x="918722" y="0"/>
                      <a:pt x="931295" y="5208"/>
                      <a:pt x="940565" y="14478"/>
                    </a:cubicBezTo>
                    <a:cubicBezTo>
                      <a:pt x="949836" y="23749"/>
                      <a:pt x="955044" y="36322"/>
                      <a:pt x="955044" y="49432"/>
                    </a:cubicBezTo>
                    <a:lnTo>
                      <a:pt x="955044" y="49432"/>
                    </a:lnTo>
                    <a:cubicBezTo>
                      <a:pt x="955044" y="62543"/>
                      <a:pt x="949836" y="75116"/>
                      <a:pt x="940565" y="84386"/>
                    </a:cubicBezTo>
                    <a:cubicBezTo>
                      <a:pt x="931295" y="93656"/>
                      <a:pt x="918722" y="98865"/>
                      <a:pt x="905611" y="98865"/>
                    </a:cubicBezTo>
                    <a:lnTo>
                      <a:pt x="49432" y="98865"/>
                    </a:lnTo>
                    <a:cubicBezTo>
                      <a:pt x="36322" y="98865"/>
                      <a:pt x="23749" y="93656"/>
                      <a:pt x="14478" y="84386"/>
                    </a:cubicBezTo>
                    <a:cubicBezTo>
                      <a:pt x="5208" y="75116"/>
                      <a:pt x="0" y="62543"/>
                      <a:pt x="0" y="49432"/>
                    </a:cubicBezTo>
                    <a:lnTo>
                      <a:pt x="0" y="49432"/>
                    </a:lnTo>
                    <a:cubicBezTo>
                      <a:pt x="0" y="36322"/>
                      <a:pt x="5208" y="23749"/>
                      <a:pt x="14478" y="14478"/>
                    </a:cubicBezTo>
                    <a:cubicBezTo>
                      <a:pt x="23749" y="5208"/>
                      <a:pt x="36322" y="0"/>
                      <a:pt x="4943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955044" cy="1560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871714" y="-18989"/>
              <a:ext cx="3091480" cy="481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CS202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014752" y="656694"/>
            <a:ext cx="4244548" cy="591985"/>
            <a:chOff x="0" y="0"/>
            <a:chExt cx="5659398" cy="789314"/>
          </a:xfrm>
        </p:grpSpPr>
        <p:grpSp>
          <p:nvGrpSpPr>
            <p:cNvPr id="18" name="Group 18"/>
            <p:cNvGrpSpPr/>
            <p:nvPr/>
          </p:nvGrpSpPr>
          <p:grpSpPr>
            <a:xfrm>
              <a:off x="147051" y="0"/>
              <a:ext cx="5365296" cy="789314"/>
              <a:chOff x="0" y="0"/>
              <a:chExt cx="1059812" cy="15591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59812" cy="155914"/>
              </a:xfrm>
              <a:custGeom>
                <a:avLst/>
                <a:gdLst/>
                <a:ahLst/>
                <a:cxnLst/>
                <a:rect l="l" t="t" r="r" b="b"/>
                <a:pathLst>
                  <a:path w="1059812" h="155914">
                    <a:moveTo>
                      <a:pt x="77957" y="0"/>
                    </a:moveTo>
                    <a:lnTo>
                      <a:pt x="981855" y="0"/>
                    </a:lnTo>
                    <a:cubicBezTo>
                      <a:pt x="1002530" y="0"/>
                      <a:pt x="1022359" y="8213"/>
                      <a:pt x="1036979" y="22833"/>
                    </a:cubicBezTo>
                    <a:cubicBezTo>
                      <a:pt x="1051598" y="37453"/>
                      <a:pt x="1059812" y="57281"/>
                      <a:pt x="1059812" y="77957"/>
                    </a:cubicBezTo>
                    <a:lnTo>
                      <a:pt x="1059812" y="77957"/>
                    </a:lnTo>
                    <a:cubicBezTo>
                      <a:pt x="1059812" y="98632"/>
                      <a:pt x="1051598" y="118461"/>
                      <a:pt x="1036979" y="133081"/>
                    </a:cubicBezTo>
                    <a:cubicBezTo>
                      <a:pt x="1022359" y="147701"/>
                      <a:pt x="1002530" y="155914"/>
                      <a:pt x="981855" y="155914"/>
                    </a:cubicBezTo>
                    <a:lnTo>
                      <a:pt x="77957" y="155914"/>
                    </a:lnTo>
                    <a:cubicBezTo>
                      <a:pt x="57281" y="155914"/>
                      <a:pt x="37453" y="147701"/>
                      <a:pt x="22833" y="133081"/>
                    </a:cubicBezTo>
                    <a:cubicBezTo>
                      <a:pt x="8213" y="118461"/>
                      <a:pt x="0" y="98632"/>
                      <a:pt x="0" y="77957"/>
                    </a:cubicBezTo>
                    <a:lnTo>
                      <a:pt x="0" y="77957"/>
                    </a:lnTo>
                    <a:cubicBezTo>
                      <a:pt x="0" y="57281"/>
                      <a:pt x="8213" y="37453"/>
                      <a:pt x="22833" y="22833"/>
                    </a:cubicBezTo>
                    <a:cubicBezTo>
                      <a:pt x="37453" y="8213"/>
                      <a:pt x="57281" y="0"/>
                      <a:pt x="7795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1059812" cy="2130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126899"/>
              <a:ext cx="5659398" cy="468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Object-Oriented Programming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79080" y="3623226"/>
            <a:ext cx="471973" cy="554100"/>
            <a:chOff x="0" y="0"/>
            <a:chExt cx="629297" cy="738801"/>
          </a:xfrm>
        </p:grpSpPr>
        <p:grpSp>
          <p:nvGrpSpPr>
            <p:cNvPr id="23" name="Group 23"/>
            <p:cNvGrpSpPr/>
            <p:nvPr/>
          </p:nvGrpSpPr>
          <p:grpSpPr>
            <a:xfrm>
              <a:off x="4629" y="53169"/>
              <a:ext cx="620040" cy="632463"/>
              <a:chOff x="0" y="0"/>
              <a:chExt cx="104912" cy="10701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66675"/>
                <a:ext cx="104912" cy="1736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0" y="-114300"/>
              <a:ext cx="629297" cy="85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9"/>
                </a:lnSpc>
              </a:pPr>
              <a:r>
                <a:rPr lang="en-US" sz="3685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76107" y="6853401"/>
            <a:ext cx="471973" cy="554100"/>
            <a:chOff x="0" y="0"/>
            <a:chExt cx="629297" cy="738801"/>
          </a:xfrm>
        </p:grpSpPr>
        <p:grpSp>
          <p:nvGrpSpPr>
            <p:cNvPr id="28" name="Group 28"/>
            <p:cNvGrpSpPr/>
            <p:nvPr/>
          </p:nvGrpSpPr>
          <p:grpSpPr>
            <a:xfrm>
              <a:off x="4629" y="53169"/>
              <a:ext cx="620040" cy="632463"/>
              <a:chOff x="0" y="0"/>
              <a:chExt cx="104912" cy="10701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66675"/>
                <a:ext cx="104912" cy="1736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-114300"/>
              <a:ext cx="629297" cy="85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59"/>
                </a:lnSpc>
              </a:pPr>
              <a:r>
                <a:rPr lang="en-US" sz="3685" b="1">
                  <a:solidFill>
                    <a:srgbClr val="1B44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7900" y="3328261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TextBox 3"/>
          <p:cNvSpPr txBox="1"/>
          <p:nvPr/>
        </p:nvSpPr>
        <p:spPr>
          <a:xfrm>
            <a:off x="3386170" y="1876052"/>
            <a:ext cx="4671944" cy="191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93"/>
              </a:lnSpc>
              <a:spcBef>
                <a:spcPct val="0"/>
              </a:spcBef>
            </a:pPr>
            <a:r>
              <a:rPr lang="en-US" sz="14493">
                <a:solidFill>
                  <a:srgbClr val="FFE865"/>
                </a:solidFill>
                <a:latin typeface="Noot"/>
                <a:ea typeface="Noot"/>
                <a:cs typeface="Noot"/>
                <a:sym typeface="Noot"/>
              </a:rPr>
              <a:t>PROS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69652" y="1828427"/>
            <a:ext cx="4870349" cy="1978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99"/>
              </a:lnSpc>
              <a:spcBef>
                <a:spcPct val="0"/>
              </a:spcBef>
            </a:pPr>
            <a:r>
              <a:rPr lang="en-US" sz="14499" spc="724">
                <a:solidFill>
                  <a:srgbClr val="79FFA0"/>
                </a:solidFill>
                <a:latin typeface="BP Imperial"/>
                <a:ea typeface="BP Imperial"/>
                <a:cs typeface="BP Imperial"/>
                <a:sym typeface="BP Imperial"/>
              </a:rPr>
              <a:t>Cons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12077" y="559458"/>
            <a:ext cx="10315707" cy="9168084"/>
            <a:chOff x="0" y="0"/>
            <a:chExt cx="13754276" cy="122241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54276" cy="12224113"/>
            </a:xfrm>
            <a:custGeom>
              <a:avLst/>
              <a:gdLst/>
              <a:ahLst/>
              <a:cxnLst/>
              <a:rect l="l" t="t" r="r" b="b"/>
              <a:pathLst>
                <a:path w="13754276" h="12224113">
                  <a:moveTo>
                    <a:pt x="0" y="0"/>
                  </a:moveTo>
                  <a:lnTo>
                    <a:pt x="13754276" y="0"/>
                  </a:lnTo>
                  <a:lnTo>
                    <a:pt x="13754276" y="12224113"/>
                  </a:lnTo>
                  <a:lnTo>
                    <a:pt x="0" y="12224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622211" y="549456"/>
              <a:ext cx="10087797" cy="2524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Open/Closed Principle:</a:t>
              </a: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You can introduce a new behavior that can work with objects of different classes without changing these classes.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622211" y="5092670"/>
              <a:ext cx="10087797" cy="1889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Single Responsibility Principle</a:t>
              </a: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You can move multiple versions of the same behavior into the same class.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22211" y="9001729"/>
              <a:ext cx="9808594" cy="2524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visitor object can </a:t>
              </a:r>
              <a:r>
                <a:rPr lang="en-US" sz="27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accumulate some useful information</a:t>
              </a: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while working with various objects =&gt; handy when you want to traverse some complex object structure.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014533" y="1200080"/>
            <a:ext cx="1044902" cy="1506165"/>
          </a:xfrm>
          <a:custGeom>
            <a:avLst/>
            <a:gdLst/>
            <a:ahLst/>
            <a:cxnLst/>
            <a:rect l="l" t="t" r="r" b="b"/>
            <a:pathLst>
              <a:path w="1044902" h="1506165">
                <a:moveTo>
                  <a:pt x="0" y="0"/>
                </a:moveTo>
                <a:lnTo>
                  <a:pt x="1044903" y="0"/>
                </a:lnTo>
                <a:lnTo>
                  <a:pt x="1044903" y="1506165"/>
                </a:lnTo>
                <a:lnTo>
                  <a:pt x="0" y="1506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/>
          <p:cNvSpPr/>
          <p:nvPr/>
        </p:nvSpPr>
        <p:spPr>
          <a:xfrm>
            <a:off x="6960343" y="4390417"/>
            <a:ext cx="1346135" cy="1506165"/>
          </a:xfrm>
          <a:custGeom>
            <a:avLst/>
            <a:gdLst/>
            <a:ahLst/>
            <a:cxnLst/>
            <a:rect l="l" t="t" r="r" b="b"/>
            <a:pathLst>
              <a:path w="1346135" h="1506165">
                <a:moveTo>
                  <a:pt x="0" y="0"/>
                </a:moveTo>
                <a:lnTo>
                  <a:pt x="1346135" y="0"/>
                </a:lnTo>
                <a:lnTo>
                  <a:pt x="1346135" y="1506166"/>
                </a:lnTo>
                <a:lnTo>
                  <a:pt x="0" y="1506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Freeform 12"/>
          <p:cNvSpPr/>
          <p:nvPr/>
        </p:nvSpPr>
        <p:spPr>
          <a:xfrm>
            <a:off x="6960343" y="7582508"/>
            <a:ext cx="1310364" cy="1506165"/>
          </a:xfrm>
          <a:custGeom>
            <a:avLst/>
            <a:gdLst/>
            <a:ahLst/>
            <a:cxnLst/>
            <a:rect l="l" t="t" r="r" b="b"/>
            <a:pathLst>
              <a:path w="1310364" h="1506165">
                <a:moveTo>
                  <a:pt x="0" y="0"/>
                </a:moveTo>
                <a:lnTo>
                  <a:pt x="1310363" y="0"/>
                </a:lnTo>
                <a:lnTo>
                  <a:pt x="1310363" y="1506165"/>
                </a:lnTo>
                <a:lnTo>
                  <a:pt x="0" y="150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TextBox 13"/>
          <p:cNvSpPr txBox="1"/>
          <p:nvPr/>
        </p:nvSpPr>
        <p:spPr>
          <a:xfrm>
            <a:off x="1028700" y="4323033"/>
            <a:ext cx="4671944" cy="191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93"/>
              </a:lnSpc>
              <a:spcBef>
                <a:spcPct val="0"/>
              </a:spcBef>
            </a:pPr>
            <a:r>
              <a:rPr lang="en-US" sz="14493">
                <a:solidFill>
                  <a:srgbClr val="FFE865"/>
                </a:solidFill>
                <a:latin typeface="Noot"/>
                <a:ea typeface="Noot"/>
                <a:cs typeface="Noot"/>
                <a:sym typeface="Noot"/>
              </a:rPr>
              <a:t>PROS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57900" y="3328261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TextBox 3"/>
          <p:cNvSpPr txBox="1"/>
          <p:nvPr/>
        </p:nvSpPr>
        <p:spPr>
          <a:xfrm>
            <a:off x="3386170" y="1876052"/>
            <a:ext cx="4671944" cy="191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93"/>
              </a:lnSpc>
              <a:spcBef>
                <a:spcPct val="0"/>
              </a:spcBef>
            </a:pPr>
            <a:r>
              <a:rPr lang="en-US" sz="14493">
                <a:solidFill>
                  <a:srgbClr val="FFE865"/>
                </a:solidFill>
                <a:latin typeface="Noot"/>
                <a:ea typeface="Noot"/>
                <a:cs typeface="Noot"/>
                <a:sym typeface="Noot"/>
              </a:rPr>
              <a:t>PROS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69652" y="1828427"/>
            <a:ext cx="4870349" cy="1978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99"/>
              </a:lnSpc>
              <a:spcBef>
                <a:spcPct val="0"/>
              </a:spcBef>
            </a:pPr>
            <a:r>
              <a:rPr lang="en-US" sz="14499" spc="724">
                <a:solidFill>
                  <a:srgbClr val="79FFA0"/>
                </a:solidFill>
                <a:latin typeface="BP Imperial"/>
                <a:ea typeface="BP Imperial"/>
                <a:cs typeface="BP Imperial"/>
                <a:sym typeface="BP Imperial"/>
              </a:rPr>
              <a:t>CONS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8920" y="2920589"/>
            <a:ext cx="10581414" cy="4880678"/>
          </a:xfrm>
          <a:custGeom>
            <a:avLst/>
            <a:gdLst/>
            <a:ahLst/>
            <a:cxnLst/>
            <a:rect l="l" t="t" r="r" b="b"/>
            <a:pathLst>
              <a:path w="10581414" h="4880678">
                <a:moveTo>
                  <a:pt x="0" y="0"/>
                </a:moveTo>
                <a:lnTo>
                  <a:pt x="10581414" y="0"/>
                </a:lnTo>
                <a:lnTo>
                  <a:pt x="10581414" y="4880678"/>
                </a:lnTo>
                <a:lnTo>
                  <a:pt x="0" y="4880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242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TextBox 3"/>
          <p:cNvSpPr txBox="1"/>
          <p:nvPr/>
        </p:nvSpPr>
        <p:spPr>
          <a:xfrm>
            <a:off x="12550334" y="4377320"/>
            <a:ext cx="5477188" cy="222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06"/>
              </a:lnSpc>
              <a:spcBef>
                <a:spcPct val="0"/>
              </a:spcBef>
            </a:pPr>
            <a:r>
              <a:rPr lang="en-US" sz="16306" spc="815">
                <a:solidFill>
                  <a:srgbClr val="79FFA0"/>
                </a:solidFill>
                <a:latin typeface="BP Imperial"/>
                <a:ea typeface="BP Imperial"/>
                <a:cs typeface="BP Imperial"/>
                <a:sym typeface="BP Imperial"/>
              </a:rPr>
              <a:t>CONS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45527" y="3070813"/>
            <a:ext cx="9351623" cy="1754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33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 need to </a:t>
            </a:r>
            <a:r>
              <a:rPr lang="en-US" sz="3317" b="1">
                <a:solidFill>
                  <a:srgbClr val="664DFF"/>
                </a:solidFill>
                <a:latin typeface="Poppins Bold"/>
                <a:ea typeface="Poppins Bold"/>
                <a:cs typeface="Poppins Bold"/>
                <a:sym typeface="Poppins Bold"/>
              </a:rPr>
              <a:t>update all visitors</a:t>
            </a:r>
            <a:r>
              <a:rPr lang="en-US" sz="33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each time a class gets added to or removed from the element hierarchy.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45527" y="5728866"/>
            <a:ext cx="9351623" cy="175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32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Visitors might</a:t>
            </a:r>
            <a:r>
              <a:rPr lang="en-US" sz="3293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93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lack the necessary</a:t>
            </a:r>
            <a:r>
              <a:rPr lang="en-US" sz="32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access to the private fields and methods of the elements that they’re supposed to work with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51848" y="1662597"/>
            <a:ext cx="7159374" cy="71593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85385" y="3733937"/>
            <a:ext cx="5401289" cy="4114800"/>
          </a:xfrm>
          <a:custGeom>
            <a:avLst/>
            <a:gdLst/>
            <a:ahLst/>
            <a:cxnLst/>
            <a:rect l="l" t="t" r="r" b="b"/>
            <a:pathLst>
              <a:path w="5401289" h="4114800">
                <a:moveTo>
                  <a:pt x="0" y="0"/>
                </a:moveTo>
                <a:lnTo>
                  <a:pt x="5401289" y="0"/>
                </a:lnTo>
                <a:lnTo>
                  <a:pt x="5401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6" name="Group 6"/>
          <p:cNvGrpSpPr/>
          <p:nvPr/>
        </p:nvGrpSpPr>
        <p:grpSpPr>
          <a:xfrm>
            <a:off x="16709978" y="8831030"/>
            <a:ext cx="2209811" cy="220981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886606" flipH="1">
            <a:off x="16120046" y="2092141"/>
            <a:ext cx="2499084" cy="3027524"/>
          </a:xfrm>
          <a:custGeom>
            <a:avLst/>
            <a:gdLst/>
            <a:ahLst/>
            <a:cxnLst/>
            <a:rect l="l" t="t" r="r" b="b"/>
            <a:pathLst>
              <a:path w="2499084" h="3027524">
                <a:moveTo>
                  <a:pt x="2499084" y="0"/>
                </a:moveTo>
                <a:lnTo>
                  <a:pt x="0" y="0"/>
                </a:lnTo>
                <a:lnTo>
                  <a:pt x="0" y="3027524"/>
                </a:lnTo>
                <a:lnTo>
                  <a:pt x="2499084" y="3027524"/>
                </a:lnTo>
                <a:lnTo>
                  <a:pt x="24990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7378995" y="4243811"/>
            <a:ext cx="8910652" cy="326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651"/>
              </a:lnSpc>
              <a:spcBef>
                <a:spcPct val="0"/>
              </a:spcBef>
            </a:pPr>
            <a:r>
              <a:rPr lang="en-US" sz="1204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Real-World Applications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39908" y="2931688"/>
            <a:ext cx="3294915" cy="32949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5178" y="5350371"/>
            <a:ext cx="4495664" cy="44956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4029" y="4345136"/>
            <a:ext cx="7988541" cy="5594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582" lvl="1" indent="-294791" algn="just">
              <a:lnSpc>
                <a:spcPts val="3823"/>
              </a:lnSpc>
              <a:buFont typeface="Arial"/>
              <a:buChar char="•"/>
            </a:pPr>
            <a:r>
              <a:rPr lang="en-US" sz="2730" b="1">
                <a:solidFill>
                  <a:srgbClr val="2B70E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Problem:</a:t>
            </a:r>
            <a:r>
              <a:rPr lang="en-US" sz="27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You have various types of forms on a website . Each form contains different data fields. You need to perform different operations on the data submitted through these forms, such as:</a:t>
            </a:r>
          </a:p>
          <a:p>
            <a:pPr marL="1135985" lvl="2" indent="-378662" algn="just">
              <a:lnSpc>
                <a:spcPts val="3683"/>
              </a:lnSpc>
              <a:buFont typeface="Arial"/>
              <a:buChar char="⚬"/>
            </a:pPr>
            <a:r>
              <a:rPr lang="en-US" sz="26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  <a:r>
              <a:rPr lang="en-US" sz="263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26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Checking if the entered data meets specific criteria.</a:t>
            </a:r>
          </a:p>
          <a:p>
            <a:pPr marL="1135985" lvl="2" indent="-378662" algn="just">
              <a:lnSpc>
                <a:spcPts val="3683"/>
              </a:lnSpc>
              <a:buFont typeface="Arial"/>
              <a:buChar char="⚬"/>
            </a:pPr>
            <a:r>
              <a:rPr lang="en-US" sz="26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  <a:r>
              <a:rPr lang="en-US" sz="26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: Extracting all the submitted values to send to the server.</a:t>
            </a:r>
          </a:p>
          <a:p>
            <a:pPr marL="1135985" lvl="2" indent="-378662" algn="just">
              <a:lnSpc>
                <a:spcPts val="3683"/>
              </a:lnSpc>
              <a:buFont typeface="Arial"/>
              <a:buChar char="⚬"/>
            </a:pPr>
            <a:r>
              <a:rPr lang="en-US" sz="26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Data Transformation</a:t>
            </a:r>
            <a:r>
              <a:rPr lang="en-US" sz="26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: Converting data formats (e.g., date conversions).</a:t>
            </a:r>
          </a:p>
          <a:p>
            <a:pPr algn="just">
              <a:lnSpc>
                <a:spcPts val="3123"/>
              </a:lnSpc>
            </a:pPr>
            <a:endParaRPr lang="en-US" sz="263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Freeform 9"/>
          <p:cNvSpPr/>
          <p:nvPr/>
        </p:nvSpPr>
        <p:spPr>
          <a:xfrm rot="1873264">
            <a:off x="-717105" y="2604143"/>
            <a:ext cx="1942268" cy="2789157"/>
          </a:xfrm>
          <a:custGeom>
            <a:avLst/>
            <a:gdLst/>
            <a:ahLst/>
            <a:cxnLst/>
            <a:rect l="l" t="t" r="r" b="b"/>
            <a:pathLst>
              <a:path w="1942268" h="2789157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1501702" y="1353454"/>
            <a:ext cx="15284596" cy="205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Web Devel</a:t>
            </a: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opment:</a:t>
            </a:r>
          </a:p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Form Data Analysis and Processing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8434790" y="3731617"/>
            <a:ext cx="9853210" cy="6564701"/>
          </a:xfrm>
          <a:custGeom>
            <a:avLst/>
            <a:gdLst/>
            <a:ahLst/>
            <a:cxnLst/>
            <a:rect l="l" t="t" r="r" b="b"/>
            <a:pathLst>
              <a:path w="9853210" h="6564701">
                <a:moveTo>
                  <a:pt x="0" y="0"/>
                </a:moveTo>
                <a:lnTo>
                  <a:pt x="9853210" y="0"/>
                </a:lnTo>
                <a:lnTo>
                  <a:pt x="9853210" y="6564700"/>
                </a:lnTo>
                <a:lnTo>
                  <a:pt x="0" y="6564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687638"/>
            <a:ext cx="3626181" cy="375376"/>
            <a:chOff x="0" y="0"/>
            <a:chExt cx="4834908" cy="50050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834908" cy="500502"/>
              <a:chOff x="0" y="0"/>
              <a:chExt cx="955044" cy="9886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55044" cy="98865"/>
              </a:xfrm>
              <a:custGeom>
                <a:avLst/>
                <a:gdLst/>
                <a:ahLst/>
                <a:cxnLst/>
                <a:rect l="l" t="t" r="r" b="b"/>
                <a:pathLst>
                  <a:path w="955044" h="98865">
                    <a:moveTo>
                      <a:pt x="49432" y="0"/>
                    </a:moveTo>
                    <a:lnTo>
                      <a:pt x="905611" y="0"/>
                    </a:lnTo>
                    <a:cubicBezTo>
                      <a:pt x="918722" y="0"/>
                      <a:pt x="931295" y="5208"/>
                      <a:pt x="940565" y="14478"/>
                    </a:cubicBezTo>
                    <a:cubicBezTo>
                      <a:pt x="949836" y="23749"/>
                      <a:pt x="955044" y="36322"/>
                      <a:pt x="955044" y="49432"/>
                    </a:cubicBezTo>
                    <a:lnTo>
                      <a:pt x="955044" y="49432"/>
                    </a:lnTo>
                    <a:cubicBezTo>
                      <a:pt x="955044" y="62543"/>
                      <a:pt x="949836" y="75116"/>
                      <a:pt x="940565" y="84386"/>
                    </a:cubicBezTo>
                    <a:cubicBezTo>
                      <a:pt x="931295" y="93656"/>
                      <a:pt x="918722" y="98865"/>
                      <a:pt x="905611" y="98865"/>
                    </a:cubicBezTo>
                    <a:lnTo>
                      <a:pt x="49432" y="98865"/>
                    </a:lnTo>
                    <a:cubicBezTo>
                      <a:pt x="36322" y="98865"/>
                      <a:pt x="23749" y="93656"/>
                      <a:pt x="14478" y="84386"/>
                    </a:cubicBezTo>
                    <a:cubicBezTo>
                      <a:pt x="5208" y="75116"/>
                      <a:pt x="0" y="62543"/>
                      <a:pt x="0" y="49432"/>
                    </a:cubicBezTo>
                    <a:lnTo>
                      <a:pt x="0" y="49432"/>
                    </a:lnTo>
                    <a:cubicBezTo>
                      <a:pt x="0" y="36322"/>
                      <a:pt x="5208" y="23749"/>
                      <a:pt x="14478" y="14478"/>
                    </a:cubicBezTo>
                    <a:cubicBezTo>
                      <a:pt x="23749" y="5208"/>
                      <a:pt x="36322" y="0"/>
                      <a:pt x="4943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955044" cy="1560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871714" y="-18989"/>
              <a:ext cx="3091480" cy="481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CS202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5040" y="656694"/>
            <a:ext cx="4244548" cy="591985"/>
            <a:chOff x="0" y="0"/>
            <a:chExt cx="5659398" cy="789314"/>
          </a:xfrm>
        </p:grpSpPr>
        <p:grpSp>
          <p:nvGrpSpPr>
            <p:cNvPr id="18" name="Group 18"/>
            <p:cNvGrpSpPr/>
            <p:nvPr/>
          </p:nvGrpSpPr>
          <p:grpSpPr>
            <a:xfrm>
              <a:off x="147051" y="0"/>
              <a:ext cx="5365296" cy="789314"/>
              <a:chOff x="0" y="0"/>
              <a:chExt cx="1059812" cy="15591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59812" cy="155914"/>
              </a:xfrm>
              <a:custGeom>
                <a:avLst/>
                <a:gdLst/>
                <a:ahLst/>
                <a:cxnLst/>
                <a:rect l="l" t="t" r="r" b="b"/>
                <a:pathLst>
                  <a:path w="1059812" h="155914">
                    <a:moveTo>
                      <a:pt x="77957" y="0"/>
                    </a:moveTo>
                    <a:lnTo>
                      <a:pt x="981855" y="0"/>
                    </a:lnTo>
                    <a:cubicBezTo>
                      <a:pt x="1002530" y="0"/>
                      <a:pt x="1022359" y="8213"/>
                      <a:pt x="1036979" y="22833"/>
                    </a:cubicBezTo>
                    <a:cubicBezTo>
                      <a:pt x="1051598" y="37453"/>
                      <a:pt x="1059812" y="57281"/>
                      <a:pt x="1059812" y="77957"/>
                    </a:cubicBezTo>
                    <a:lnTo>
                      <a:pt x="1059812" y="77957"/>
                    </a:lnTo>
                    <a:cubicBezTo>
                      <a:pt x="1059812" y="98632"/>
                      <a:pt x="1051598" y="118461"/>
                      <a:pt x="1036979" y="133081"/>
                    </a:cubicBezTo>
                    <a:cubicBezTo>
                      <a:pt x="1022359" y="147701"/>
                      <a:pt x="1002530" y="155914"/>
                      <a:pt x="981855" y="155914"/>
                    </a:cubicBezTo>
                    <a:lnTo>
                      <a:pt x="77957" y="155914"/>
                    </a:lnTo>
                    <a:cubicBezTo>
                      <a:pt x="57281" y="155914"/>
                      <a:pt x="37453" y="147701"/>
                      <a:pt x="22833" y="133081"/>
                    </a:cubicBezTo>
                    <a:cubicBezTo>
                      <a:pt x="8213" y="118461"/>
                      <a:pt x="0" y="98632"/>
                      <a:pt x="0" y="77957"/>
                    </a:cubicBezTo>
                    <a:lnTo>
                      <a:pt x="0" y="77957"/>
                    </a:lnTo>
                    <a:cubicBezTo>
                      <a:pt x="0" y="57281"/>
                      <a:pt x="8213" y="37453"/>
                      <a:pt x="22833" y="22833"/>
                    </a:cubicBezTo>
                    <a:cubicBezTo>
                      <a:pt x="37453" y="8213"/>
                      <a:pt x="57281" y="0"/>
                      <a:pt x="7795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1059812" cy="2130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126899"/>
              <a:ext cx="5659398" cy="468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Object-Oriented Programming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39908" y="2931688"/>
            <a:ext cx="3294915" cy="32949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5178" y="5350371"/>
            <a:ext cx="4495664" cy="44956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86170" y="4483896"/>
            <a:ext cx="11701361" cy="525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83"/>
              </a:lnSpc>
            </a:pPr>
            <a:r>
              <a:rPr lang="en-US" sz="3130" b="1">
                <a:solidFill>
                  <a:srgbClr val="2B70E4"/>
                </a:solidFill>
                <a:latin typeface="Poppins Bold"/>
                <a:ea typeface="Poppins Bold"/>
                <a:cs typeface="Poppins Bold"/>
                <a:sym typeface="Poppins Bold"/>
              </a:rPr>
              <a:t>How Visitor is Applied:</a:t>
            </a:r>
          </a:p>
          <a:p>
            <a:pPr marL="589582" lvl="1" indent="-294791" algn="l">
              <a:lnSpc>
                <a:spcPts val="3823"/>
              </a:lnSpc>
              <a:buFont typeface="Arial"/>
              <a:buChar char="•"/>
            </a:pPr>
            <a:r>
              <a:rPr lang="en-US" sz="27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The form elements</a:t>
            </a:r>
            <a:r>
              <a:rPr lang="en-US" sz="27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(input text fields, select boxes, checkboxes, etc.) can be considered the</a:t>
            </a:r>
            <a:r>
              <a:rPr lang="en-US" sz="273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"Elements".</a:t>
            </a:r>
          </a:p>
          <a:p>
            <a:pPr marL="589582" lvl="1" indent="-294791" algn="l">
              <a:lnSpc>
                <a:spcPts val="3823"/>
              </a:lnSpc>
              <a:buFont typeface="Arial"/>
              <a:buChar char="•"/>
            </a:pPr>
            <a:r>
              <a:rPr lang="en-US" sz="27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Each operation</a:t>
            </a:r>
            <a:r>
              <a:rPr lang="en-US" sz="27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(validation, collection, transformation) becomes a</a:t>
            </a:r>
            <a:r>
              <a:rPr lang="en-US" sz="273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"Visitor"</a:t>
            </a:r>
            <a:r>
              <a:rPr lang="en-US" sz="273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  <a:r>
              <a:rPr lang="en-US" sz="27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Each visitor knows how to "visit" and perform its specific task on each type of form element.</a:t>
            </a:r>
          </a:p>
          <a:p>
            <a:pPr marL="589582" lvl="1" indent="-294791" algn="l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When you want to validate a form, you would </a:t>
            </a:r>
            <a:r>
              <a:rPr lang="en-US" sz="27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traverse the form's elements</a:t>
            </a:r>
            <a:r>
              <a:rPr lang="en-US" sz="273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 and </a:t>
            </a:r>
            <a:r>
              <a:rPr lang="en-US" sz="27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have each element "accept" the validation visitor</a:t>
            </a:r>
            <a:r>
              <a:rPr lang="en-US" sz="27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. The visitor then applies the relevant validation rules for that type of field. </a:t>
            </a:r>
          </a:p>
          <a:p>
            <a:pPr algn="just">
              <a:lnSpc>
                <a:spcPts val="3123"/>
              </a:lnSpc>
            </a:pPr>
            <a:endParaRPr lang="en-US" sz="273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Freeform 9"/>
          <p:cNvSpPr/>
          <p:nvPr/>
        </p:nvSpPr>
        <p:spPr>
          <a:xfrm rot="1873264">
            <a:off x="-717105" y="2604143"/>
            <a:ext cx="1942268" cy="2789157"/>
          </a:xfrm>
          <a:custGeom>
            <a:avLst/>
            <a:gdLst/>
            <a:ahLst/>
            <a:cxnLst/>
            <a:rect l="l" t="t" r="r" b="b"/>
            <a:pathLst>
              <a:path w="1942268" h="2789157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1501702" y="1353454"/>
            <a:ext cx="15284596" cy="205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Web Devel</a:t>
            </a: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opment:</a:t>
            </a:r>
          </a:p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Form Data Analysis and Processing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87638"/>
            <a:ext cx="3626181" cy="375376"/>
            <a:chOff x="0" y="0"/>
            <a:chExt cx="4834908" cy="50050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4834908" cy="500502"/>
              <a:chOff x="0" y="0"/>
              <a:chExt cx="955044" cy="9886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55044" cy="98865"/>
              </a:xfrm>
              <a:custGeom>
                <a:avLst/>
                <a:gdLst/>
                <a:ahLst/>
                <a:cxnLst/>
                <a:rect l="l" t="t" r="r" b="b"/>
                <a:pathLst>
                  <a:path w="955044" h="98865">
                    <a:moveTo>
                      <a:pt x="49432" y="0"/>
                    </a:moveTo>
                    <a:lnTo>
                      <a:pt x="905611" y="0"/>
                    </a:lnTo>
                    <a:cubicBezTo>
                      <a:pt x="918722" y="0"/>
                      <a:pt x="931295" y="5208"/>
                      <a:pt x="940565" y="14478"/>
                    </a:cubicBezTo>
                    <a:cubicBezTo>
                      <a:pt x="949836" y="23749"/>
                      <a:pt x="955044" y="36322"/>
                      <a:pt x="955044" y="49432"/>
                    </a:cubicBezTo>
                    <a:lnTo>
                      <a:pt x="955044" y="49432"/>
                    </a:lnTo>
                    <a:cubicBezTo>
                      <a:pt x="955044" y="62543"/>
                      <a:pt x="949836" y="75116"/>
                      <a:pt x="940565" y="84386"/>
                    </a:cubicBezTo>
                    <a:cubicBezTo>
                      <a:pt x="931295" y="93656"/>
                      <a:pt x="918722" y="98865"/>
                      <a:pt x="905611" y="98865"/>
                    </a:cubicBezTo>
                    <a:lnTo>
                      <a:pt x="49432" y="98865"/>
                    </a:lnTo>
                    <a:cubicBezTo>
                      <a:pt x="36322" y="98865"/>
                      <a:pt x="23749" y="93656"/>
                      <a:pt x="14478" y="84386"/>
                    </a:cubicBezTo>
                    <a:cubicBezTo>
                      <a:pt x="5208" y="75116"/>
                      <a:pt x="0" y="62543"/>
                      <a:pt x="0" y="49432"/>
                    </a:cubicBezTo>
                    <a:lnTo>
                      <a:pt x="0" y="49432"/>
                    </a:lnTo>
                    <a:cubicBezTo>
                      <a:pt x="0" y="36322"/>
                      <a:pt x="5208" y="23749"/>
                      <a:pt x="14478" y="14478"/>
                    </a:cubicBezTo>
                    <a:cubicBezTo>
                      <a:pt x="23749" y="5208"/>
                      <a:pt x="36322" y="0"/>
                      <a:pt x="4943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955044" cy="1560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71714" y="-18989"/>
              <a:ext cx="3091480" cy="481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CS202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25040" y="656694"/>
            <a:ext cx="4244548" cy="591985"/>
            <a:chOff x="0" y="0"/>
            <a:chExt cx="5659398" cy="789314"/>
          </a:xfrm>
        </p:grpSpPr>
        <p:grpSp>
          <p:nvGrpSpPr>
            <p:cNvPr id="17" name="Group 17"/>
            <p:cNvGrpSpPr/>
            <p:nvPr/>
          </p:nvGrpSpPr>
          <p:grpSpPr>
            <a:xfrm>
              <a:off x="147051" y="0"/>
              <a:ext cx="5365296" cy="789314"/>
              <a:chOff x="0" y="0"/>
              <a:chExt cx="1059812" cy="15591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59812" cy="155914"/>
              </a:xfrm>
              <a:custGeom>
                <a:avLst/>
                <a:gdLst/>
                <a:ahLst/>
                <a:cxnLst/>
                <a:rect l="l" t="t" r="r" b="b"/>
                <a:pathLst>
                  <a:path w="1059812" h="155914">
                    <a:moveTo>
                      <a:pt x="77957" y="0"/>
                    </a:moveTo>
                    <a:lnTo>
                      <a:pt x="981855" y="0"/>
                    </a:lnTo>
                    <a:cubicBezTo>
                      <a:pt x="1002530" y="0"/>
                      <a:pt x="1022359" y="8213"/>
                      <a:pt x="1036979" y="22833"/>
                    </a:cubicBezTo>
                    <a:cubicBezTo>
                      <a:pt x="1051598" y="37453"/>
                      <a:pt x="1059812" y="57281"/>
                      <a:pt x="1059812" y="77957"/>
                    </a:cubicBezTo>
                    <a:lnTo>
                      <a:pt x="1059812" y="77957"/>
                    </a:lnTo>
                    <a:cubicBezTo>
                      <a:pt x="1059812" y="98632"/>
                      <a:pt x="1051598" y="118461"/>
                      <a:pt x="1036979" y="133081"/>
                    </a:cubicBezTo>
                    <a:cubicBezTo>
                      <a:pt x="1022359" y="147701"/>
                      <a:pt x="1002530" y="155914"/>
                      <a:pt x="981855" y="155914"/>
                    </a:cubicBezTo>
                    <a:lnTo>
                      <a:pt x="77957" y="155914"/>
                    </a:lnTo>
                    <a:cubicBezTo>
                      <a:pt x="57281" y="155914"/>
                      <a:pt x="37453" y="147701"/>
                      <a:pt x="22833" y="133081"/>
                    </a:cubicBezTo>
                    <a:cubicBezTo>
                      <a:pt x="8213" y="118461"/>
                      <a:pt x="0" y="98632"/>
                      <a:pt x="0" y="77957"/>
                    </a:cubicBezTo>
                    <a:lnTo>
                      <a:pt x="0" y="77957"/>
                    </a:lnTo>
                    <a:cubicBezTo>
                      <a:pt x="0" y="57281"/>
                      <a:pt x="8213" y="37453"/>
                      <a:pt x="22833" y="22833"/>
                    </a:cubicBezTo>
                    <a:cubicBezTo>
                      <a:pt x="37453" y="8213"/>
                      <a:pt x="57281" y="0"/>
                      <a:pt x="7795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1059812" cy="2130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126899"/>
              <a:ext cx="5659398" cy="468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Object-Oriented Programming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39908" y="2931688"/>
            <a:ext cx="3294915" cy="32949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5178" y="5109550"/>
            <a:ext cx="4495664" cy="44956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4029" y="5023825"/>
            <a:ext cx="9935338" cy="514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03"/>
              </a:lnSpc>
            </a:pPr>
            <a:r>
              <a:rPr lang="en-US" sz="2930" b="1">
                <a:solidFill>
                  <a:srgbClr val="664D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  <a:r>
              <a:rPr lang="en-US" sz="2930" b="1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9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In mobile apps, you have a hierarchy of different UI elements. You might need to perform different actions on these elements, such as:</a:t>
            </a:r>
          </a:p>
          <a:p>
            <a:pPr marL="546403" lvl="1" indent="-273201" algn="just">
              <a:lnSpc>
                <a:spcPts val="3543"/>
              </a:lnSpc>
              <a:buFont typeface="Arial"/>
              <a:buChar char="•"/>
            </a:pP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Logging View Information</a:t>
            </a:r>
            <a:r>
              <a:rPr lang="en-US" sz="253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5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Printing details about each view (type, content, position).</a:t>
            </a:r>
          </a:p>
          <a:p>
            <a:pPr marL="546403" lvl="1" indent="-273201" algn="just">
              <a:lnSpc>
                <a:spcPts val="3543"/>
              </a:lnSpc>
              <a:buFont typeface="Arial"/>
              <a:buChar char="•"/>
            </a:pP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Change</a:t>
            </a:r>
            <a:r>
              <a:rPr lang="en-US" sz="253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theme</a:t>
            </a:r>
            <a:r>
              <a:rPr lang="en-US" sz="253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5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Consistently changing colors, fonts, and sizes across relevant UI elements.</a:t>
            </a:r>
          </a:p>
          <a:p>
            <a:pPr marL="546403" lvl="1" indent="-273201" algn="just">
              <a:lnSpc>
                <a:spcPts val="3543"/>
              </a:lnSpc>
              <a:buFont typeface="Arial"/>
              <a:buChar char="•"/>
            </a:pP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User Interactions</a:t>
            </a:r>
            <a:r>
              <a:rPr lang="en-US" sz="2530" b="1">
                <a:solidFill>
                  <a:srgbClr val="1B444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53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Setting up actions that occur when a user interacts with an element (e.g., tapping a button).</a:t>
            </a:r>
          </a:p>
          <a:p>
            <a:pPr algn="just">
              <a:lnSpc>
                <a:spcPts val="3543"/>
              </a:lnSpc>
            </a:pPr>
            <a:endParaRPr lang="en-US" sz="253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Freeform 9"/>
          <p:cNvSpPr/>
          <p:nvPr/>
        </p:nvSpPr>
        <p:spPr>
          <a:xfrm rot="1873264">
            <a:off x="-717105" y="1812114"/>
            <a:ext cx="1942268" cy="2789157"/>
          </a:xfrm>
          <a:custGeom>
            <a:avLst/>
            <a:gdLst/>
            <a:ahLst/>
            <a:cxnLst/>
            <a:rect l="l" t="t" r="r" b="b"/>
            <a:pathLst>
              <a:path w="1942268" h="2789157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430398" y="4902679"/>
            <a:ext cx="7857602" cy="5235127"/>
          </a:xfrm>
          <a:custGeom>
            <a:avLst/>
            <a:gdLst/>
            <a:ahLst/>
            <a:cxnLst/>
            <a:rect l="l" t="t" r="r" b="b"/>
            <a:pathLst>
              <a:path w="7857602" h="5235127">
                <a:moveTo>
                  <a:pt x="0" y="0"/>
                </a:moveTo>
                <a:lnTo>
                  <a:pt x="7857602" y="0"/>
                </a:lnTo>
                <a:lnTo>
                  <a:pt x="7857602" y="5235127"/>
                </a:lnTo>
                <a:lnTo>
                  <a:pt x="0" y="5235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7" name="TextBox 17"/>
          <p:cNvSpPr txBox="1"/>
          <p:nvPr/>
        </p:nvSpPr>
        <p:spPr>
          <a:xfrm>
            <a:off x="2436097" y="1209802"/>
            <a:ext cx="10656914" cy="278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44"/>
              </a:lnSpc>
              <a:spcBef>
                <a:spcPct val="0"/>
              </a:spcBef>
            </a:pPr>
            <a:r>
              <a:rPr lang="en-US" sz="68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Mobile Devel</a:t>
            </a:r>
            <a:r>
              <a:rPr lang="en-US" sz="68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opment: Rendering and Interacting with Diverse UI Elements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39908" y="2931688"/>
            <a:ext cx="3294915" cy="32949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45178" y="5350371"/>
            <a:ext cx="4495664" cy="449566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83381" y="4493421"/>
            <a:ext cx="10151947" cy="495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761" lvl="1" indent="-316380" algn="just">
              <a:lnSpc>
                <a:spcPts val="4103"/>
              </a:lnSpc>
              <a:buFont typeface="Arial"/>
              <a:buChar char="•"/>
            </a:pPr>
            <a:r>
              <a:rPr lang="en-US" sz="2930" b="1">
                <a:solidFill>
                  <a:srgbClr val="2B70E4"/>
                </a:solidFill>
                <a:latin typeface="Poppins Bold"/>
                <a:ea typeface="Poppins Bold"/>
                <a:cs typeface="Poppins Bold"/>
                <a:sym typeface="Poppins Bold"/>
              </a:rPr>
              <a:t>How Visitor is Applied:</a:t>
            </a:r>
          </a:p>
          <a:p>
            <a:pPr marL="1092806" lvl="2" indent="-364269" algn="just">
              <a:lnSpc>
                <a:spcPts val="3543"/>
              </a:lnSpc>
              <a:buFont typeface="Arial"/>
              <a:buChar char="⚬"/>
            </a:pP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The UI views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(buttons, labels, image views, text fields, etc.) are the</a:t>
            </a:r>
            <a:r>
              <a:rPr lang="en-US" sz="253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"Elements"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092806" lvl="2" indent="-364269" algn="just">
              <a:lnSpc>
                <a:spcPts val="3543"/>
              </a:lnSpc>
              <a:buFont typeface="Arial"/>
              <a:buChar char="⚬"/>
            </a:pP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Each action</a:t>
            </a:r>
            <a:r>
              <a:rPr lang="en-US" sz="253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(logging, theming, event handling setup) is a </a:t>
            </a: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"Visitor"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Each visitor defines how it "visits" and acts upon each type of view.</a:t>
            </a:r>
          </a:p>
          <a:p>
            <a:pPr marL="1092806" lvl="2" indent="-364269" algn="just">
              <a:lnSpc>
                <a:spcPts val="3543"/>
              </a:lnSpc>
              <a:buFont typeface="Arial"/>
              <a:buChar char="⚬"/>
            </a:pP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log the entire UI hierarchy, you would</a:t>
            </a:r>
            <a:r>
              <a:rPr lang="en-US" sz="253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traverse the view tree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each view would </a:t>
            </a:r>
            <a:r>
              <a:rPr lang="en-US" sz="2530" b="1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"accept" the logging visitor</a:t>
            </a:r>
            <a:r>
              <a:rPr lang="en-US" sz="253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5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This visitor would then print the appropriate information based on the view's type.</a:t>
            </a:r>
          </a:p>
          <a:p>
            <a:pPr algn="just">
              <a:lnSpc>
                <a:spcPts val="3123"/>
              </a:lnSpc>
            </a:pPr>
            <a:endParaRPr lang="en-US" sz="253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Freeform 9"/>
          <p:cNvSpPr/>
          <p:nvPr/>
        </p:nvSpPr>
        <p:spPr>
          <a:xfrm rot="1873264">
            <a:off x="-717105" y="2604143"/>
            <a:ext cx="1942268" cy="2789157"/>
          </a:xfrm>
          <a:custGeom>
            <a:avLst/>
            <a:gdLst/>
            <a:ahLst/>
            <a:cxnLst/>
            <a:rect l="l" t="t" r="r" b="b"/>
            <a:pathLst>
              <a:path w="1942268" h="2789157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2841791" y="1580091"/>
            <a:ext cx="10656914" cy="278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44"/>
              </a:lnSpc>
              <a:spcBef>
                <a:spcPct val="0"/>
              </a:spcBef>
            </a:pPr>
            <a:r>
              <a:rPr lang="en-US" sz="68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Mobile Devel</a:t>
            </a:r>
            <a:r>
              <a:rPr lang="en-US" sz="68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opment: Rendering and Interacting with Diverse UI Elements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31324" y="559116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026" y="8046766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5" y="0"/>
                </a:lnTo>
                <a:lnTo>
                  <a:pt x="2768765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15938680" y="8046766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7" y="0"/>
                </a:lnTo>
                <a:lnTo>
                  <a:pt x="2397137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5504654" y="3283129"/>
            <a:ext cx="7623784" cy="415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92"/>
              </a:lnSpc>
              <a:spcBef>
                <a:spcPct val="0"/>
              </a:spcBef>
            </a:pPr>
            <a:r>
              <a:rPr lang="en-US" sz="3037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Quiz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673867" y="5054654"/>
            <a:ext cx="7137928" cy="433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80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</a:t>
            </a:r>
            <a:r>
              <a:rPr lang="en-US" sz="80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hen is the Visitor Pattern typically used?</a:t>
            </a:r>
          </a:p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endParaRPr lang="en-US" sz="8095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30520" y="4564202"/>
            <a:ext cx="795011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b) When you want to add new operations without modifying the object classes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30520" y="6547455"/>
            <a:ext cx="795011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When you need to manage system resources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30520" y="8533184"/>
            <a:ext cx="795011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When you want to hide the implementation details of a class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157941" y="2643285"/>
            <a:ext cx="749526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When you need to create objects with complex structures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673867" y="5054654"/>
            <a:ext cx="7137928" cy="433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80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</a:t>
            </a:r>
            <a:r>
              <a:rPr lang="en-US" sz="80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hen is the Visitor Pattern typically used?</a:t>
            </a:r>
          </a:p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endParaRPr lang="en-US" sz="8095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30520" y="4573727"/>
            <a:ext cx="7950111" cy="103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60BB49"/>
                </a:solidFill>
                <a:latin typeface="Poppins Bold"/>
                <a:ea typeface="Poppins Bold"/>
                <a:cs typeface="Poppins Bold"/>
                <a:sym typeface="Poppins Bold"/>
              </a:rPr>
              <a:t>b) When you want to add new operations without modifying the object classes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30520" y="6547455"/>
            <a:ext cx="795011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When you need to manage system resources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30520" y="8533184"/>
            <a:ext cx="795011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When you want to hide the implementation details of a class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157941" y="2643285"/>
            <a:ext cx="749526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When you need to create objects with complex structures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673867" y="5054654"/>
            <a:ext cx="7137928" cy="5412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80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</a:t>
            </a:r>
            <a:r>
              <a:rPr lang="en-US" sz="80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hat is the main purpose of the Visitor Pattern?</a:t>
            </a:r>
          </a:p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endParaRPr lang="en-US" sz="8095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528642"/>
            <a:ext cx="7950111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b) To separate algorithms from the object structure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511895"/>
            <a:ext cx="7950111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To combine classes with similar structures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497624"/>
            <a:ext cx="7950111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To manage the lifecycle of an object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096916" y="2880458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To create new objects flexibly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673867" y="5054654"/>
            <a:ext cx="7137928" cy="5412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80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</a:t>
            </a:r>
            <a:r>
              <a:rPr lang="en-US" sz="80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hat is the main purpose of the Visitor Pattern?</a:t>
            </a:r>
          </a:p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endParaRPr lang="en-US" sz="8095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528642"/>
            <a:ext cx="7950111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60BB49"/>
                </a:solidFill>
                <a:latin typeface="Poppins Bold"/>
                <a:ea typeface="Poppins Bold"/>
                <a:cs typeface="Poppins Bold"/>
                <a:sym typeface="Poppins Bold"/>
              </a:rPr>
              <a:t>b) To separate algorithms from the object structure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511895"/>
            <a:ext cx="7950111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To combine classes with similar structures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497624"/>
            <a:ext cx="7950111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To manage the lifecycle of an object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096916" y="2880458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To create new objects flexibly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619149" y="4553778"/>
            <a:ext cx="7137928" cy="505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14"/>
              </a:lnSpc>
              <a:spcBef>
                <a:spcPct val="0"/>
              </a:spcBef>
            </a:pPr>
            <a:r>
              <a:rPr lang="en-US" sz="62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</a:t>
            </a:r>
            <a:r>
              <a:rPr lang="en-US" sz="62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hich method in the Visitor Pattern is typically called by Element classes to accept a Visitor?</a:t>
            </a:r>
          </a:p>
          <a:p>
            <a:pPr marL="0" lvl="0" indent="0" algn="l">
              <a:lnSpc>
                <a:spcPts val="6614"/>
              </a:lnSpc>
              <a:spcBef>
                <a:spcPct val="0"/>
              </a:spcBef>
            </a:pPr>
            <a:endParaRPr lang="en-US" sz="6299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821377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b) accept(visitor)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804630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execute(visitor)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790359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perform(visitor)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8991546" y="2900460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visit(visitor)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619149" y="4553778"/>
            <a:ext cx="7137928" cy="505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14"/>
              </a:lnSpc>
              <a:spcBef>
                <a:spcPct val="0"/>
              </a:spcBef>
            </a:pPr>
            <a:r>
              <a:rPr lang="en-US" sz="62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</a:t>
            </a:r>
            <a:r>
              <a:rPr lang="en-US" sz="6299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hich method in the Visitor Pattern is typically called by Element classes to accept a Visitor?</a:t>
            </a:r>
          </a:p>
          <a:p>
            <a:pPr marL="0" lvl="0" indent="0" algn="l">
              <a:lnSpc>
                <a:spcPts val="6614"/>
              </a:lnSpc>
              <a:spcBef>
                <a:spcPct val="0"/>
              </a:spcBef>
            </a:pPr>
            <a:endParaRPr lang="en-US" sz="6299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821377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b="1">
                <a:solidFill>
                  <a:srgbClr val="60BB49"/>
                </a:solidFill>
                <a:latin typeface="Poppins Bold"/>
                <a:ea typeface="Poppins Bold"/>
                <a:cs typeface="Poppins Bold"/>
                <a:sym typeface="Poppins Bold"/>
              </a:rPr>
              <a:t>b) accept(visitor)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804630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execute(visitor)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790359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perform(visitor)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8991546" y="2900460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visit(visitor)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83728" y="1426489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552492" y="1829167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7" y="0"/>
                </a:lnTo>
                <a:lnTo>
                  <a:pt x="2397137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432131" y="4356676"/>
            <a:ext cx="7520959" cy="453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0"/>
              </a:lnSpc>
              <a:spcBef>
                <a:spcPct val="0"/>
              </a:spcBef>
            </a:pPr>
            <a:r>
              <a:rPr lang="en-US" sz="56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</a:t>
            </a:r>
            <a:r>
              <a:rPr lang="en-US" sz="56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 the Visitor Pattern, which component is responsible for defining the interface for operations performed on elements?</a:t>
            </a: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821377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b) Visitor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804630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ConcreteElement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790359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ObjectStructure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096916" y="2900460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Element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83728" y="1426489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552492" y="1829167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7" y="0"/>
                </a:lnTo>
                <a:lnTo>
                  <a:pt x="2397137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432131" y="4356676"/>
            <a:ext cx="7520959" cy="453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0"/>
              </a:lnSpc>
              <a:spcBef>
                <a:spcPct val="0"/>
              </a:spcBef>
            </a:pPr>
            <a:r>
              <a:rPr lang="en-US" sz="56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</a:t>
            </a:r>
            <a:r>
              <a:rPr lang="en-US" sz="56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 the Visitor Pattern, which component is responsible for defining the interface for operations performed on elements?</a:t>
            </a: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821377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b="1">
                <a:solidFill>
                  <a:srgbClr val="60BB49"/>
                </a:solidFill>
                <a:latin typeface="Poppins Bold"/>
                <a:ea typeface="Poppins Bold"/>
                <a:cs typeface="Poppins Bold"/>
                <a:sym typeface="Poppins Bold"/>
              </a:rPr>
              <a:t>b) Visitor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804630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ConcreteElement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790359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ObjectStructure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096916" y="2900460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Element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432131" y="4553778"/>
            <a:ext cx="7137928" cy="517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20"/>
              </a:lnSpc>
              <a:spcBef>
                <a:spcPct val="0"/>
              </a:spcBef>
            </a:pPr>
            <a:r>
              <a:rPr lang="en-US" sz="64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In C++, whic</a:t>
            </a:r>
            <a:r>
              <a:rPr lang="en-US" sz="64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 OOP feature is commonly used to implement the Visitor Pattern?</a:t>
            </a:r>
          </a:p>
          <a:p>
            <a:pPr marL="0" lvl="0" indent="0" algn="l">
              <a:lnSpc>
                <a:spcPts val="6820"/>
              </a:lnSpc>
              <a:spcBef>
                <a:spcPct val="0"/>
              </a:spcBef>
            </a:pPr>
            <a:endParaRPr lang="en-US" sz="6495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821377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b) Encapsulation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804630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Abstraction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790359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Composition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096916" y="2900460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a) Inheritance and Polymorphism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61192" y="1063014"/>
            <a:ext cx="10247870" cy="10509913"/>
            <a:chOff x="0" y="0"/>
            <a:chExt cx="812800" cy="833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33584"/>
            </a:xfrm>
            <a:custGeom>
              <a:avLst/>
              <a:gdLst/>
              <a:ahLst/>
              <a:cxnLst/>
              <a:rect l="l" t="t" r="r" b="b"/>
              <a:pathLst>
                <a:path w="812800" h="833584">
                  <a:moveTo>
                    <a:pt x="406400" y="0"/>
                  </a:moveTo>
                  <a:cubicBezTo>
                    <a:pt x="181951" y="0"/>
                    <a:pt x="0" y="186604"/>
                    <a:pt x="0" y="416792"/>
                  </a:cubicBezTo>
                  <a:cubicBezTo>
                    <a:pt x="0" y="646980"/>
                    <a:pt x="181951" y="833584"/>
                    <a:pt x="406400" y="833584"/>
                  </a:cubicBezTo>
                  <a:cubicBezTo>
                    <a:pt x="630849" y="833584"/>
                    <a:pt x="812800" y="646980"/>
                    <a:pt x="812800" y="416792"/>
                  </a:cubicBezTo>
                  <a:cubicBezTo>
                    <a:pt x="812800" y="186604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0998"/>
              <a:ext cx="660400" cy="734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8441563" y="4234563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TextBox 11"/>
          <p:cNvSpPr txBox="1"/>
          <p:nvPr/>
        </p:nvSpPr>
        <p:spPr>
          <a:xfrm>
            <a:off x="432131" y="4553778"/>
            <a:ext cx="7137928" cy="517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20"/>
              </a:lnSpc>
              <a:spcBef>
                <a:spcPct val="0"/>
              </a:spcBef>
            </a:pPr>
            <a:r>
              <a:rPr lang="en-US" sz="64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In C++, whic</a:t>
            </a:r>
            <a:r>
              <a:rPr lang="en-US" sz="649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 OOP feature is commonly used to implement the Visitor Pattern?</a:t>
            </a:r>
          </a:p>
          <a:p>
            <a:pPr marL="0" lvl="0" indent="0" algn="l">
              <a:lnSpc>
                <a:spcPts val="6820"/>
              </a:lnSpc>
              <a:spcBef>
                <a:spcPct val="0"/>
              </a:spcBef>
            </a:pPr>
            <a:endParaRPr lang="en-US" sz="6495" u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8319511" y="621781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8319511" y="8203545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TextBox 14"/>
          <p:cNvSpPr txBox="1"/>
          <p:nvPr/>
        </p:nvSpPr>
        <p:spPr>
          <a:xfrm>
            <a:off x="8991546" y="4821377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b) Encapsulation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69494" y="6804630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c) Abstraction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69494" y="8790359"/>
            <a:ext cx="7950111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d) Composition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319511" y="2313646"/>
            <a:ext cx="9050077" cy="1821328"/>
          </a:xfrm>
          <a:custGeom>
            <a:avLst/>
            <a:gdLst/>
            <a:ahLst/>
            <a:cxnLst/>
            <a:rect l="l" t="t" r="r" b="b"/>
            <a:pathLst>
              <a:path w="9050077" h="1821328">
                <a:moveTo>
                  <a:pt x="0" y="0"/>
                </a:moveTo>
                <a:lnTo>
                  <a:pt x="9050077" y="0"/>
                </a:lnTo>
                <a:lnTo>
                  <a:pt x="9050077" y="1821328"/>
                </a:lnTo>
                <a:lnTo>
                  <a:pt x="0" y="182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6" name="TextBox 26"/>
          <p:cNvSpPr txBox="1"/>
          <p:nvPr/>
        </p:nvSpPr>
        <p:spPr>
          <a:xfrm>
            <a:off x="9096916" y="2900460"/>
            <a:ext cx="7495268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60BB49"/>
                </a:solidFill>
                <a:latin typeface="Poppins Bold"/>
                <a:ea typeface="Poppins Bold"/>
                <a:cs typeface="Poppins Bold"/>
                <a:sym typeface="Poppins Bold"/>
              </a:rPr>
              <a:t>a) Inheritance and Polymorphism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0735" y="1801266"/>
            <a:ext cx="13358194" cy="217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595"/>
              </a:lnSpc>
              <a:spcBef>
                <a:spcPct val="0"/>
              </a:spcBef>
            </a:pPr>
            <a:r>
              <a:rPr lang="en-US" sz="15805" u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3159649" y="3973447"/>
            <a:ext cx="11968702" cy="6403256"/>
          </a:xfrm>
          <a:custGeom>
            <a:avLst/>
            <a:gdLst/>
            <a:ahLst/>
            <a:cxnLst/>
            <a:rect l="l" t="t" r="r" b="b"/>
            <a:pathLst>
              <a:path w="11968702" h="6403256">
                <a:moveTo>
                  <a:pt x="0" y="0"/>
                </a:moveTo>
                <a:lnTo>
                  <a:pt x="11968702" y="0"/>
                </a:lnTo>
                <a:lnTo>
                  <a:pt x="11968702" y="6403256"/>
                </a:lnTo>
                <a:lnTo>
                  <a:pt x="0" y="6403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0" y="1297164"/>
            <a:ext cx="4247535" cy="4114800"/>
          </a:xfrm>
          <a:custGeom>
            <a:avLst/>
            <a:gdLst/>
            <a:ahLst/>
            <a:cxnLst/>
            <a:rect l="l" t="t" r="r" b="b"/>
            <a:pathLst>
              <a:path w="4247535" h="4114800">
                <a:moveTo>
                  <a:pt x="0" y="0"/>
                </a:moveTo>
                <a:lnTo>
                  <a:pt x="4247535" y="0"/>
                </a:lnTo>
                <a:lnTo>
                  <a:pt x="42475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14713267" y="4261978"/>
            <a:ext cx="3574733" cy="4114800"/>
          </a:xfrm>
          <a:custGeom>
            <a:avLst/>
            <a:gdLst/>
            <a:ahLst/>
            <a:cxnLst/>
            <a:rect l="l" t="t" r="r" b="b"/>
            <a:pathLst>
              <a:path w="3574733" h="4114800">
                <a:moveTo>
                  <a:pt x="0" y="0"/>
                </a:moveTo>
                <a:lnTo>
                  <a:pt x="3574733" y="0"/>
                </a:lnTo>
                <a:lnTo>
                  <a:pt x="35747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6" name="Group 6"/>
          <p:cNvGrpSpPr/>
          <p:nvPr/>
        </p:nvGrpSpPr>
        <p:grpSpPr>
          <a:xfrm>
            <a:off x="1028700" y="687638"/>
            <a:ext cx="3626181" cy="375376"/>
            <a:chOff x="0" y="0"/>
            <a:chExt cx="955044" cy="988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5044" cy="98865"/>
            </a:xfrm>
            <a:custGeom>
              <a:avLst/>
              <a:gdLst/>
              <a:ahLst/>
              <a:cxnLst/>
              <a:rect l="l" t="t" r="r" b="b"/>
              <a:pathLst>
                <a:path w="955044" h="98865">
                  <a:moveTo>
                    <a:pt x="49432" y="0"/>
                  </a:moveTo>
                  <a:lnTo>
                    <a:pt x="905611" y="0"/>
                  </a:lnTo>
                  <a:cubicBezTo>
                    <a:pt x="918722" y="0"/>
                    <a:pt x="931295" y="5208"/>
                    <a:pt x="940565" y="14478"/>
                  </a:cubicBezTo>
                  <a:cubicBezTo>
                    <a:pt x="949836" y="23749"/>
                    <a:pt x="955044" y="36322"/>
                    <a:pt x="955044" y="49432"/>
                  </a:cubicBezTo>
                  <a:lnTo>
                    <a:pt x="955044" y="49432"/>
                  </a:lnTo>
                  <a:cubicBezTo>
                    <a:pt x="955044" y="62543"/>
                    <a:pt x="949836" y="75116"/>
                    <a:pt x="940565" y="84386"/>
                  </a:cubicBezTo>
                  <a:cubicBezTo>
                    <a:pt x="931295" y="93656"/>
                    <a:pt x="918722" y="98865"/>
                    <a:pt x="905611" y="98865"/>
                  </a:cubicBezTo>
                  <a:lnTo>
                    <a:pt x="49432" y="98865"/>
                  </a:lnTo>
                  <a:cubicBezTo>
                    <a:pt x="36322" y="98865"/>
                    <a:pt x="23749" y="93656"/>
                    <a:pt x="14478" y="84386"/>
                  </a:cubicBezTo>
                  <a:cubicBezTo>
                    <a:pt x="5208" y="75116"/>
                    <a:pt x="0" y="62543"/>
                    <a:pt x="0" y="49432"/>
                  </a:cubicBezTo>
                  <a:lnTo>
                    <a:pt x="0" y="49432"/>
                  </a:lnTo>
                  <a:cubicBezTo>
                    <a:pt x="0" y="36322"/>
                    <a:pt x="5208" y="23749"/>
                    <a:pt x="14478" y="14478"/>
                  </a:cubicBezTo>
                  <a:cubicBezTo>
                    <a:pt x="23749" y="5208"/>
                    <a:pt x="36322" y="0"/>
                    <a:pt x="494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55044" cy="15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35328" y="656694"/>
            <a:ext cx="4023972" cy="591985"/>
            <a:chOff x="0" y="0"/>
            <a:chExt cx="1059812" cy="1559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9812" cy="155914"/>
            </a:xfrm>
            <a:custGeom>
              <a:avLst/>
              <a:gdLst/>
              <a:ahLst/>
              <a:cxnLst/>
              <a:rect l="l" t="t" r="r" b="b"/>
              <a:pathLst>
                <a:path w="1059812" h="155914">
                  <a:moveTo>
                    <a:pt x="77957" y="0"/>
                  </a:moveTo>
                  <a:lnTo>
                    <a:pt x="981855" y="0"/>
                  </a:lnTo>
                  <a:cubicBezTo>
                    <a:pt x="1002530" y="0"/>
                    <a:pt x="1022359" y="8213"/>
                    <a:pt x="1036979" y="22833"/>
                  </a:cubicBezTo>
                  <a:cubicBezTo>
                    <a:pt x="1051598" y="37453"/>
                    <a:pt x="1059812" y="57281"/>
                    <a:pt x="1059812" y="77957"/>
                  </a:cubicBezTo>
                  <a:lnTo>
                    <a:pt x="1059812" y="77957"/>
                  </a:lnTo>
                  <a:cubicBezTo>
                    <a:pt x="1059812" y="98632"/>
                    <a:pt x="1051598" y="118461"/>
                    <a:pt x="1036979" y="133081"/>
                  </a:cubicBezTo>
                  <a:cubicBezTo>
                    <a:pt x="1022359" y="147701"/>
                    <a:pt x="1002530" y="155914"/>
                    <a:pt x="981855" y="155914"/>
                  </a:cubicBezTo>
                  <a:lnTo>
                    <a:pt x="77957" y="155914"/>
                  </a:lnTo>
                  <a:cubicBezTo>
                    <a:pt x="57281" y="155914"/>
                    <a:pt x="37453" y="147701"/>
                    <a:pt x="22833" y="133081"/>
                  </a:cubicBezTo>
                  <a:cubicBezTo>
                    <a:pt x="8213" y="118461"/>
                    <a:pt x="0" y="98632"/>
                    <a:pt x="0" y="77957"/>
                  </a:cubicBezTo>
                  <a:lnTo>
                    <a:pt x="0" y="77957"/>
                  </a:lnTo>
                  <a:cubicBezTo>
                    <a:pt x="0" y="57281"/>
                    <a:pt x="8213" y="37453"/>
                    <a:pt x="22833" y="22833"/>
                  </a:cubicBezTo>
                  <a:cubicBezTo>
                    <a:pt x="37453" y="8213"/>
                    <a:pt x="57281" y="0"/>
                    <a:pt x="779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59812" cy="213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82486" y="687729"/>
            <a:ext cx="231861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CS202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25040" y="743399"/>
            <a:ext cx="424454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Object-Oriented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2224</Words>
  <Application>Microsoft Office PowerPoint</Application>
  <PresentationFormat>Tùy chỉnh</PresentationFormat>
  <Paragraphs>341</Paragraphs>
  <Slides>50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10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50</vt:i4>
      </vt:variant>
    </vt:vector>
  </HeadingPairs>
  <TitlesOfParts>
    <vt:vector size="61" baseType="lpstr">
      <vt:lpstr>Sniglet</vt:lpstr>
      <vt:lpstr>Poppins Bold Italics</vt:lpstr>
      <vt:lpstr>Poppins Medium</vt:lpstr>
      <vt:lpstr>Poppins</vt:lpstr>
      <vt:lpstr>Poppins Bold</vt:lpstr>
      <vt:lpstr>Noot</vt:lpstr>
      <vt:lpstr>BP Imperial</vt:lpstr>
      <vt:lpstr>Calibri</vt:lpstr>
      <vt:lpstr>Arial</vt:lpstr>
      <vt:lpstr>Space Mono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Visitor Pattern</dc:title>
  <cp:lastModifiedBy>LÊ MINH THUẬN</cp:lastModifiedBy>
  <cp:revision>2</cp:revision>
  <dcterms:created xsi:type="dcterms:W3CDTF">2006-08-16T00:00:00Z</dcterms:created>
  <dcterms:modified xsi:type="dcterms:W3CDTF">2025-08-26T12:05:36Z</dcterms:modified>
  <dc:identifier>DAGqNwNU-eg</dc:identifier>
</cp:coreProperties>
</file>